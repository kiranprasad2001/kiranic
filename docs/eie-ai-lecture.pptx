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Typical latency</c:v>
                </c:pt>
              </c:strCache>
            </c:strRef>
          </c:tx>
          <c:spPr>
            <a:solidFill>
              <a:srgbClr val="E8A33D"/>
            </a:solidFill>
            <a:effectLst/>
          </c:spPr>
          <c:invertIfNegative val="0"/>
          <c:dLbls>
            <c:numFmt formatCode="0.00&quot; ms&quot;" sourceLinked="0"/>
            <c:txPr>
              <a:bodyPr/>
              <a:lstStyle/>
              <a:p>
                <a:pPr>
                  <a:defRPr b="0" i="0" strike="noStrike" sz="1100" u="none">
                    <a:solidFill>
                      <a:srgbClr val="1E2127"/>
                    </a:solidFill>
                    <a:latin typeface="Courier New"/>
                  </a:defRPr>
                </a:pPr>
              </a:p>
            </c:txPr>
            <c:showLegendKey val="0"/>
            <c:showVal val="1"/>
            <c:showCatName val="0"/>
            <c:showSerName val="0"/>
            <c:showPercent val="0"/>
            <c:showBubbleSize val="0"/>
            <c:showLeaderLines val="0"/>
          </c:dLbls>
          <c:cat>
            <c:multiLvlStrRef>
              <c:f>Sheet1!$A$2:$A$6</c:f>
              <c:multiLvlStrCache>
                <c:ptCount val="5"/>
                <c:lvl>
                  <c:pt idx="0">
                    <c:v>Hardwired trip</c:v>
                  </c:pt>
                  <c:pt idx="1">
                    <c:v>Edge inference</c:v>
                  </c:pt>
                  <c:pt idx="2">
                    <c:v>PLC scan cycle</c:v>
                  </c:pt>
                  <c:pt idx="3">
                    <c:v>Actuator response</c:v>
                  </c:pt>
                  <c:pt idx="4">
                    <c:v>Cloud round trip</c:v>
                  </c:pt>
                </c:lvl>
              </c:multiLvlStrCache>
            </c:multiLvlStrRef>
          </c:cat>
          <c:val>
            <c:numRef>
              <c:f>Sheet1!$B$2:$B$6</c:f>
              <c:numCache>
                <c:formatCode>General</c:formatCode>
                <c:ptCount val="5"/>
                <c:pt idx="0">
                  <c:v>0.01</c:v>
                </c:pt>
                <c:pt idx="1">
                  <c:v>25</c:v>
                </c:pt>
                <c:pt idx="2">
                  <c:v>50</c:v>
                </c:pt>
                <c:pt idx="3">
                  <c:v>40</c:v>
                </c:pt>
                <c:pt idx="4">
                  <c:v>500</c:v>
                </c:pt>
              </c:numCache>
            </c:numRef>
          </c:val>
        </c:ser>
        <c:dLbls>
          <c:numFmt formatCode="0.00&quot; ms&quot;" sourceLinked="0"/>
          <c:txPr>
            <a:bodyPr/>
            <a:lstStyle/>
            <a:p>
              <a:pPr>
                <a:defRPr b="0" i="0" strike="noStrike" sz="1100" u="none">
                  <a:solidFill>
                    <a:srgbClr val="1E2127"/>
                  </a:solidFill>
                  <a:latin typeface="Courier New"/>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127"/>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7E9EC"/>
              </a:solidFill>
              <a:prstDash val="solid"/>
              <a:round/>
            </a:ln>
          </c:spPr>
        </c:majorGridlines>
        <c:title>
          <c:tx>
            <c:rich>
              <a:bodyPr/>
              <a:lstStyle/>
              <a:p>
                <a:pPr>
                  <a:defRPr sz="1000" b="0" i="0" u="none" strike="noStrike">
                    <a:solidFill>
                      <a:srgbClr val="6E757F"/>
                    </a:solidFill>
                    <a:latin typeface="Courier New"/>
                  </a:defRPr>
                </a:pPr>
                <a:r>
                  <a:rPr sz="1000" b="0" i="0" u="none" strike="noStrike">
                    <a:solidFill>
                      <a:srgbClr val="6E757F"/>
                    </a:solidFill>
                    <a:latin typeface="Courier New"/>
                  </a:rPr>
                  <a:t>milliseconds</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E757F"/>
                </a:solidFill>
                <a:latin typeface="Courier New"/>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introduce yourself yet. Ask the thermocouple question first: hands up if you had a lab where the reading drifted. Then, keep your hand up if the hard part was the physics of the sensor. Almost all hands drop. That is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slowly. Everything in the lecture refers back to this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disclaimer plainly, do not soften it. Then pivot: your professors teach instrumentation better than you can; what nobody here can tell them is what the path from that chair to this one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seconds. They can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you read VR20 first — it buys credibility a CV cannot. Ask for a show of hands on the elective column. TIMING RISK: DSP is Semester VI; if this is a third-year room, add five minutes on the FFT.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blunt that marketing implies the old stack is obsolete. It is not. It is the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VR20: Industrial Automation (core) already covers PLC/DCS/SCADA, so levels 1 and 2 are revision. Spend the time on level 3 and above, which is elective-only. The word Purdue appears nowhere in their syllabus.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VR20: HART and PROFIBUS only appear in an ELECTIVE. Modbus, OPC UA and MQTT appear nowhere — zero hits for OPC. Ask who took Industrial Communication Networks; treat the last two as genuinely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Imprecision on latency is how people get hurt.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it sit for a beat. The SIL slide later pays this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that this is the heart of the talk and you are slowing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 out loud. The rolling constraint is the whole trick.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arithmetic aloud. Pause after the boxed line — this is the point of the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say they already know AM — VR20 has no communications course and zero mentions of modulation. Set up the next slide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VR20 has no communications course, Signals and Systems was removed, DSP is 2 credits. This is new to everyone in the room. The sin/cos line is what makes it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it: envelope analysis / high-frequency resonance technique. Forty years older than the ML, and doing most of the work. Anchor step 1 to their DSP filter design — they have already designed this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that Framing B is the real-world answer. Students always assume A. Ground kurtosis in the statistical treatment topic from Sensors and Transducers — VR20 has no statistics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real time here. This is what they will not get from a textbook or a vendor.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numbers on the board. Make them watch 1% become 15 hours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you have watched this exact argument in bank fraud detection. Same maths, same organizational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VR20 anchor: Computer Control of Processes (Sem VII, core) has a full unit on MPC — Dynamic Matrix Control included. Say 'MPC is coming in your Sem VII course; that is the thing that actually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completely. The SIS is separate, simple, deterministic, independently verified, and has final authority. If the AI is wrong, the SIS still trips. VR20 anchor: the Safety Instrumentation Systems elective (OE2, Sem VI) covers IEC 61508 and ISA SP84 — ask who took it before presenting this as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MOMENT: on Early defect, ask the room to find the fault in the RAW spectrum and let them fail before you show the envelope — this was on the slide and is now yours alone, so do not forget it. Sequence: Healthy → Early defect (ask them to find it in the raw spectrum, let them fail) → drag RPM to show the peak tracking shaft speed → Advanced → Noisy plant. Alert threshold in the tool is 1.8, fault is 4.0. Noisy plant reads 1.3–1.9, so it creeps over the alert line only about one measurement in eight — that is the missed detection. Keep the local file open as a WiFi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The term is abused harder than almost anything in industrial software, so be precise about the two conditions. The Part 2 callback matters — it tells the room they have already done level one without being told the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Tell them explicitly to write this down — it is the single most portable thing in the talk and it works on any vendor in any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and slow. Ask the room what is in five years of plant data and WAIT for an answer. The validation-set kicker is the part that surprises people — deliver it separately, after a pause. This is the thing that will still be true in ten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it AS A TWIN from the first sentence — this is the worked example for Part 4, not a second condition-monitoring demo. Open it before the lecture and leave it running from Part 1; it needs ~40 simulated days of trend. Then apply your own vendor test to it out loud, point at the projection box, and let it be wrong. Finish with the threshold slider: a prediction is only worth what you do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delivered as yourself. This is the most credible half-minute in the talk because it is the only place you have done the thing rather than described it. Do NOT end on the problem — the turn to modelling normal is the point, and it closes the loop back to anomaly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explicitly to photograph it. The statistics point matters most — say it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Most students pick electives by timetable convenience — this is concrete advice they can act on at registration.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the last line seriously and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as yourself, not as a lecturer. It is the part they will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do not know an answer, say so — in a room of engineers that raises your credibility rather than lowering it. Prepared answers are in the script: will AI replace instrumentation engineers; why not deep learning on raw signal; is the curriculum outdated; how much maths; LLMs in industry; and the 'you have never worked in a plant' question — take that one head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1C"/>
        </a:solidFill>
      </p:bgPr>
    </p:bg>
    <p:spTree>
      <p:nvGrpSpPr>
        <p:cNvPr id="1" name=""/>
        <p:cNvGrpSpPr/>
        <p:nvPr/>
      </p:nvGrpSpPr>
      <p:grpSpPr>
        <a:xfrm>
          <a:off x="0" y="0"/>
          <a:ext cx="0" cy="0"/>
          <a:chOff x="0" y="0"/>
          <a:chExt cx="0" cy="0"/>
        </a:xfrm>
      </p:grpSpPr>
      <p:sp>
        <p:nvSpPr>
          <p:cNvPr id="2" name="Text 0"/>
          <p:cNvSpPr/>
          <p:nvPr/>
        </p:nvSpPr>
        <p:spPr>
          <a:xfrm>
            <a:off x="566928" y="1417320"/>
            <a:ext cx="10058400" cy="201168"/>
          </a:xfrm>
          <a:prstGeom prst="rect">
            <a:avLst/>
          </a:prstGeom>
          <a:noFill/>
          <a:ln/>
        </p:spPr>
        <p:txBody>
          <a:bodyPr wrap="square" lIns="0" tIns="0" rIns="0" bIns="0" rtlCol="0" anchor="ctr"/>
          <a:lstStyle/>
          <a:p>
            <a:pPr indent="0" marL="0">
              <a:buNone/>
            </a:pPr>
            <a:r>
              <a:rPr lang="en-US" sz="1000" spc="220" kern="0" dirty="0">
                <a:solidFill>
                  <a:srgbClr val="E8A33D"/>
                </a:solidFill>
                <a:latin typeface="Courier New" pitchFamily="34" charset="0"/>
                <a:ea typeface="Courier New" pitchFamily="34" charset="-122"/>
                <a:cs typeface="Courier New" pitchFamily="34" charset="-120"/>
              </a:rPr>
              <a:t>GUEST LECTURE  ·  ELECTRONICS &amp; INSTRUMENTATION ENGINEERING  ·  VRSEC</a:t>
            </a:r>
            <a:endParaRPr lang="en-US" sz="1000" dirty="0"/>
          </a:p>
        </p:txBody>
      </p:sp>
      <p:sp>
        <p:nvSpPr>
          <p:cNvPr id="3" name="Text 1"/>
          <p:cNvSpPr/>
          <p:nvPr/>
        </p:nvSpPr>
        <p:spPr>
          <a:xfrm>
            <a:off x="566928" y="1783080"/>
            <a:ext cx="7680960" cy="2286000"/>
          </a:xfrm>
          <a:prstGeom prst="rect">
            <a:avLst/>
          </a:prstGeom>
          <a:noFill/>
          <a:ln/>
        </p:spPr>
        <p:txBody>
          <a:bodyPr wrap="square" lIns="0" tIns="0" rIns="0" bIns="0" rtlCol="0" anchor="ctr"/>
          <a:lstStyle/>
          <a:p>
            <a:pPr indent="0" marL="0">
              <a:lnSpc>
                <a:spcPct val="100000"/>
              </a:lnSpc>
              <a:buNone/>
            </a:pPr>
            <a:r>
              <a:rPr lang="en-US" sz="4400" b="1" dirty="0">
                <a:solidFill>
                  <a:srgbClr val="FFFFFF"/>
                </a:solidFill>
                <a:latin typeface="Cambria" pitchFamily="34" charset="0"/>
                <a:ea typeface="Cambria" pitchFamily="34" charset="-122"/>
                <a:cs typeface="Cambria" pitchFamily="34" charset="-120"/>
              </a:rPr>
              <a:t>AI and Digital Twins</a:t>
            </a:r>
            <a:endParaRPr lang="en-US" sz="4400" dirty="0"/>
          </a:p>
          <a:p>
            <a:pPr indent="0" marL="0">
              <a:lnSpc>
                <a:spcPct val="100000"/>
              </a:lnSpc>
              <a:buNone/>
            </a:pPr>
            <a:r>
              <a:rPr lang="en-US" sz="4400" b="1" dirty="0">
                <a:solidFill>
                  <a:srgbClr val="FFFFFF"/>
                </a:solidFill>
                <a:latin typeface="Cambria" pitchFamily="34" charset="0"/>
                <a:ea typeface="Cambria" pitchFamily="34" charset="-122"/>
                <a:cs typeface="Cambria" pitchFamily="34" charset="-120"/>
              </a:rPr>
              <a:t>in Instrumentation</a:t>
            </a:r>
            <a:endParaRPr lang="en-US" sz="4400" dirty="0"/>
          </a:p>
        </p:txBody>
      </p:sp>
      <p:sp>
        <p:nvSpPr>
          <p:cNvPr id="4" name="Text 2"/>
          <p:cNvSpPr/>
          <p:nvPr/>
        </p:nvSpPr>
        <p:spPr>
          <a:xfrm>
            <a:off x="566928" y="4160520"/>
            <a:ext cx="7223760" cy="731520"/>
          </a:xfrm>
          <a:prstGeom prst="rect">
            <a:avLst/>
          </a:prstGeom>
          <a:noFill/>
          <a:ln/>
        </p:spPr>
        <p:txBody>
          <a:bodyPr wrap="square" lIns="0" tIns="0" rIns="0" bIns="0" rtlCol="0" anchor="ctr"/>
          <a:lstStyle/>
          <a:p>
            <a:pPr indent="0" marL="0">
              <a:buNone/>
            </a:pPr>
            <a:r>
              <a:rPr lang="en-US" sz="1600" dirty="0">
                <a:solidFill>
                  <a:srgbClr val="8A929C"/>
                </a:solidFill>
                <a:latin typeface="Calibri" pitchFamily="34" charset="0"/>
                <a:ea typeface="Calibri" pitchFamily="34" charset="-122"/>
                <a:cs typeface="Calibri" pitchFamily="34" charset="-120"/>
              </a:rPr>
              <a:t>What they actually do, what they aren't allowed to do, and where the trap is.</a:t>
            </a:r>
            <a:endParaRPr lang="en-US" sz="1600" dirty="0"/>
          </a:p>
        </p:txBody>
      </p:sp>
      <p:sp>
        <p:nvSpPr>
          <p:cNvPr id="5" name="Shape 3"/>
          <p:cNvSpPr/>
          <p:nvPr/>
        </p:nvSpPr>
        <p:spPr>
          <a:xfrm>
            <a:off x="8503920" y="1920240"/>
            <a:ext cx="3108960" cy="960120"/>
          </a:xfrm>
          <a:prstGeom prst="roundRect">
            <a:avLst>
              <a:gd name="adj" fmla="val 3810"/>
            </a:avLst>
          </a:prstGeom>
          <a:solidFill>
            <a:srgbClr val="16181C"/>
          </a:solidFill>
          <a:ln w="12700">
            <a:solidFill>
              <a:srgbClr val="343A44"/>
            </a:solidFill>
            <a:prstDash val="solid"/>
          </a:ln>
        </p:spPr>
      </p:sp>
      <p:sp>
        <p:nvSpPr>
          <p:cNvPr id="6" name="Text 4"/>
          <p:cNvSpPr/>
          <p:nvPr/>
        </p:nvSpPr>
        <p:spPr>
          <a:xfrm>
            <a:off x="8650224" y="2029968"/>
            <a:ext cx="2816352" cy="219456"/>
          </a:xfrm>
          <a:prstGeom prst="rect">
            <a:avLst/>
          </a:prstGeom>
          <a:noFill/>
          <a:ln/>
        </p:spPr>
        <p:txBody>
          <a:bodyPr wrap="square" lIns="0" tIns="0" rIns="0" bIns="0" rtlCol="0" anchor="ctr"/>
          <a:lstStyle/>
          <a:p>
            <a:pPr indent="0" marL="0">
              <a:buNone/>
            </a:pPr>
            <a:r>
              <a:rPr lang="en-US" sz="900" spc="180" kern="0" dirty="0">
                <a:solidFill>
                  <a:srgbClr val="8A929C"/>
                </a:solidFill>
                <a:latin typeface="Courier New" pitchFamily="34" charset="0"/>
                <a:ea typeface="Courier New" pitchFamily="34" charset="-122"/>
                <a:cs typeface="Courier New" pitchFamily="34" charset="-120"/>
              </a:rPr>
              <a:t>SHAFT  f_r</a:t>
            </a:r>
            <a:endParaRPr lang="en-US" sz="900" dirty="0"/>
          </a:p>
        </p:txBody>
      </p:sp>
      <p:sp>
        <p:nvSpPr>
          <p:cNvPr id="7" name="Text 5"/>
          <p:cNvSpPr/>
          <p:nvPr/>
        </p:nvSpPr>
        <p:spPr>
          <a:xfrm>
            <a:off x="8650224" y="2304288"/>
            <a:ext cx="2816352" cy="457200"/>
          </a:xfrm>
          <a:prstGeom prst="rect">
            <a:avLst/>
          </a:prstGeom>
          <a:noFill/>
          <a:ln/>
        </p:spPr>
        <p:txBody>
          <a:bodyPr wrap="square" lIns="0" tIns="0" rIns="0" bIns="0" rtlCol="0" anchor="ctr"/>
          <a:lstStyle/>
          <a:p>
            <a:pPr indent="0" marL="0">
              <a:buNone/>
            </a:pPr>
            <a:r>
              <a:rPr lang="en-US" sz="2400" dirty="0">
                <a:solidFill>
                  <a:srgbClr val="3FB6A8"/>
                </a:solidFill>
                <a:latin typeface="Courier New" pitchFamily="34" charset="0"/>
                <a:ea typeface="Courier New" pitchFamily="34" charset="-122"/>
                <a:cs typeface="Courier New" pitchFamily="34" charset="-120"/>
              </a:rPr>
              <a:t>29.95</a:t>
            </a:r>
            <a:pPr indent="0" marL="0">
              <a:buNone/>
            </a:pPr>
            <a:r>
              <a:rPr lang="en-US" sz="1200" dirty="0">
                <a:solidFill>
                  <a:srgbClr val="8A929C"/>
                </a:solidFill>
                <a:latin typeface="Courier New" pitchFamily="34" charset="0"/>
                <a:ea typeface="Courier New" pitchFamily="34" charset="-122"/>
                <a:cs typeface="Courier New" pitchFamily="34" charset="-120"/>
              </a:rPr>
              <a:t> Hz</a:t>
            </a:r>
            <a:endParaRPr lang="en-US" sz="2400" dirty="0"/>
          </a:p>
        </p:txBody>
      </p:sp>
      <p:sp>
        <p:nvSpPr>
          <p:cNvPr id="8" name="Shape 6"/>
          <p:cNvSpPr/>
          <p:nvPr/>
        </p:nvSpPr>
        <p:spPr>
          <a:xfrm>
            <a:off x="8503920" y="3017520"/>
            <a:ext cx="3108960" cy="960120"/>
          </a:xfrm>
          <a:prstGeom prst="roundRect">
            <a:avLst>
              <a:gd name="adj" fmla="val 3810"/>
            </a:avLst>
          </a:prstGeom>
          <a:solidFill>
            <a:srgbClr val="16181C"/>
          </a:solidFill>
          <a:ln w="12700">
            <a:solidFill>
              <a:srgbClr val="343A44"/>
            </a:solidFill>
            <a:prstDash val="solid"/>
          </a:ln>
        </p:spPr>
      </p:sp>
      <p:sp>
        <p:nvSpPr>
          <p:cNvPr id="9" name="Text 7"/>
          <p:cNvSpPr/>
          <p:nvPr/>
        </p:nvSpPr>
        <p:spPr>
          <a:xfrm>
            <a:off x="8650224" y="3127248"/>
            <a:ext cx="2816352" cy="219456"/>
          </a:xfrm>
          <a:prstGeom prst="rect">
            <a:avLst/>
          </a:prstGeom>
          <a:noFill/>
          <a:ln/>
        </p:spPr>
        <p:txBody>
          <a:bodyPr wrap="square" lIns="0" tIns="0" rIns="0" bIns="0" rtlCol="0" anchor="ctr"/>
          <a:lstStyle/>
          <a:p>
            <a:pPr indent="0" marL="0">
              <a:buNone/>
            </a:pPr>
            <a:r>
              <a:rPr lang="en-US" sz="900" spc="180" kern="0" dirty="0">
                <a:solidFill>
                  <a:srgbClr val="8A929C"/>
                </a:solidFill>
                <a:latin typeface="Courier New" pitchFamily="34" charset="0"/>
                <a:ea typeface="Courier New" pitchFamily="34" charset="-122"/>
                <a:cs typeface="Courier New" pitchFamily="34" charset="-120"/>
              </a:rPr>
              <a:t>OUTER RACE  BPFO</a:t>
            </a:r>
            <a:endParaRPr lang="en-US" sz="900" dirty="0"/>
          </a:p>
        </p:txBody>
      </p:sp>
      <p:sp>
        <p:nvSpPr>
          <p:cNvPr id="10" name="Text 8"/>
          <p:cNvSpPr/>
          <p:nvPr/>
        </p:nvSpPr>
        <p:spPr>
          <a:xfrm>
            <a:off x="8650224" y="3401568"/>
            <a:ext cx="2816352" cy="457200"/>
          </a:xfrm>
          <a:prstGeom prst="rect">
            <a:avLst/>
          </a:prstGeom>
          <a:noFill/>
          <a:ln/>
        </p:spPr>
        <p:txBody>
          <a:bodyPr wrap="square" lIns="0" tIns="0" rIns="0" bIns="0" rtlCol="0" anchor="ctr"/>
          <a:lstStyle/>
          <a:p>
            <a:pPr indent="0" marL="0">
              <a:buNone/>
            </a:pPr>
            <a:r>
              <a:rPr lang="en-US" sz="2400" dirty="0">
                <a:solidFill>
                  <a:srgbClr val="E8A33D"/>
                </a:solidFill>
                <a:latin typeface="Courier New" pitchFamily="34" charset="0"/>
                <a:ea typeface="Courier New" pitchFamily="34" charset="-122"/>
                <a:cs typeface="Courier New" pitchFamily="34" charset="-120"/>
              </a:rPr>
              <a:t>107.4</a:t>
            </a:r>
            <a:pPr indent="0" marL="0">
              <a:buNone/>
            </a:pPr>
            <a:r>
              <a:rPr lang="en-US" sz="1200" dirty="0">
                <a:solidFill>
                  <a:srgbClr val="8A929C"/>
                </a:solidFill>
                <a:latin typeface="Courier New" pitchFamily="34" charset="0"/>
                <a:ea typeface="Courier New" pitchFamily="34" charset="-122"/>
                <a:cs typeface="Courier New" pitchFamily="34" charset="-120"/>
              </a:rPr>
              <a:t> Hz</a:t>
            </a:r>
            <a:endParaRPr lang="en-US" sz="2400" dirty="0"/>
          </a:p>
        </p:txBody>
      </p:sp>
      <p:sp>
        <p:nvSpPr>
          <p:cNvPr id="11" name="Shape 9"/>
          <p:cNvSpPr/>
          <p:nvPr/>
        </p:nvSpPr>
        <p:spPr>
          <a:xfrm>
            <a:off x="8503920" y="4114800"/>
            <a:ext cx="3108960" cy="960120"/>
          </a:xfrm>
          <a:prstGeom prst="roundRect">
            <a:avLst>
              <a:gd name="adj" fmla="val 3810"/>
            </a:avLst>
          </a:prstGeom>
          <a:solidFill>
            <a:srgbClr val="16181C"/>
          </a:solidFill>
          <a:ln w="12700">
            <a:solidFill>
              <a:srgbClr val="343A44"/>
            </a:solidFill>
            <a:prstDash val="solid"/>
          </a:ln>
        </p:spPr>
      </p:sp>
      <p:sp>
        <p:nvSpPr>
          <p:cNvPr id="12" name="Text 10"/>
          <p:cNvSpPr/>
          <p:nvPr/>
        </p:nvSpPr>
        <p:spPr>
          <a:xfrm>
            <a:off x="8650224" y="4224528"/>
            <a:ext cx="2816352" cy="219456"/>
          </a:xfrm>
          <a:prstGeom prst="rect">
            <a:avLst/>
          </a:prstGeom>
          <a:noFill/>
          <a:ln/>
        </p:spPr>
        <p:txBody>
          <a:bodyPr wrap="square" lIns="0" tIns="0" rIns="0" bIns="0" rtlCol="0" anchor="ctr"/>
          <a:lstStyle/>
          <a:p>
            <a:pPr indent="0" marL="0">
              <a:buNone/>
            </a:pPr>
            <a:r>
              <a:rPr lang="en-US" sz="900" spc="180" kern="0" dirty="0">
                <a:solidFill>
                  <a:srgbClr val="8A929C"/>
                </a:solidFill>
                <a:latin typeface="Courier New" pitchFamily="34" charset="0"/>
                <a:ea typeface="Courier New" pitchFamily="34" charset="-122"/>
                <a:cs typeface="Courier New" pitchFamily="34" charset="-120"/>
              </a:rPr>
              <a:t>VISIBLE IN A RAW FFT</a:t>
            </a:r>
            <a:endParaRPr lang="en-US" sz="900" dirty="0"/>
          </a:p>
        </p:txBody>
      </p:sp>
      <p:sp>
        <p:nvSpPr>
          <p:cNvPr id="13" name="Text 11"/>
          <p:cNvSpPr/>
          <p:nvPr/>
        </p:nvSpPr>
        <p:spPr>
          <a:xfrm>
            <a:off x="8650224" y="4498848"/>
            <a:ext cx="2816352" cy="457200"/>
          </a:xfrm>
          <a:prstGeom prst="rect">
            <a:avLst/>
          </a:prstGeom>
          <a:noFill/>
          <a:ln/>
        </p:spPr>
        <p:txBody>
          <a:bodyPr wrap="square" lIns="0" tIns="0" rIns="0" bIns="0" rtlCol="0" anchor="ctr"/>
          <a:lstStyle/>
          <a:p>
            <a:pPr indent="0" marL="0">
              <a:buNone/>
            </a:pPr>
            <a:r>
              <a:rPr lang="en-US" sz="2400" dirty="0">
                <a:solidFill>
                  <a:srgbClr val="C4483A"/>
                </a:solidFill>
                <a:latin typeface="Courier New" pitchFamily="34" charset="0"/>
                <a:ea typeface="Courier New" pitchFamily="34" charset="-122"/>
                <a:cs typeface="Courier New" pitchFamily="34" charset="-120"/>
              </a:rPr>
              <a:t>NO</a:t>
            </a:r>
            <a:pPr indent="0" marL="0">
              <a:buNone/>
            </a:pPr>
            <a:endParaRPr lang="en-US" sz="2400" dirty="0"/>
          </a:p>
        </p:txBody>
      </p:sp>
      <p:sp>
        <p:nvSpPr>
          <p:cNvPr id="14" name="Text 12"/>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8A929C"/>
                </a:solidFill>
                <a:latin typeface="Courier New" pitchFamily="34" charset="0"/>
                <a:ea typeface="Courier New" pitchFamily="34" charset="-122"/>
                <a:cs typeface="Courier New" pitchFamily="34" charset="-120"/>
              </a:rPr>
              <a:t>01  ·  KIRAN PRASAD GORLI  ·  TORONTO</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81C"/>
        </a:solidFill>
      </p:bgPr>
    </p:bg>
    <p:spTree>
      <p:nvGrpSpPr>
        <p:cNvPr id="1" name=""/>
        <p:cNvGrpSpPr/>
        <p:nvPr/>
      </p:nvGrpSpPr>
      <p:grpSpPr>
        <a:xfrm>
          <a:off x="0" y="0"/>
          <a:ext cx="0" cy="0"/>
          <a:chOff x="0" y="0"/>
          <a:chExt cx="0" cy="0"/>
        </a:xfrm>
      </p:grpSpPr>
      <p:sp>
        <p:nvSpPr>
          <p:cNvPr id="2" name="Text 0"/>
          <p:cNvSpPr/>
          <p:nvPr/>
        </p:nvSpPr>
        <p:spPr>
          <a:xfrm>
            <a:off x="566928" y="1371600"/>
            <a:ext cx="5486400" cy="201168"/>
          </a:xfrm>
          <a:prstGeom prst="rect">
            <a:avLst/>
          </a:prstGeom>
          <a:noFill/>
          <a:ln/>
        </p:spPr>
        <p:txBody>
          <a:bodyPr wrap="square" lIns="0" tIns="0" rIns="0" bIns="0" rtlCol="0" anchor="ctr"/>
          <a:lstStyle/>
          <a:p>
            <a:pPr indent="0" marL="0">
              <a:buNone/>
            </a:pPr>
            <a:r>
              <a:rPr lang="en-US" sz="1000" spc="220" kern="0" dirty="0">
                <a:solidFill>
                  <a:srgbClr val="E8A33D"/>
                </a:solidFill>
                <a:latin typeface="Courier New" pitchFamily="34" charset="0"/>
                <a:ea typeface="Courier New" pitchFamily="34" charset="-122"/>
                <a:cs typeface="Courier New" pitchFamily="34" charset="-120"/>
              </a:rPr>
              <a:t>THE PREMISE</a:t>
            </a:r>
            <a:endParaRPr lang="en-US" sz="1000" dirty="0"/>
          </a:p>
        </p:txBody>
      </p:sp>
      <p:sp>
        <p:nvSpPr>
          <p:cNvPr id="3" name="Text 1"/>
          <p:cNvSpPr/>
          <p:nvPr/>
        </p:nvSpPr>
        <p:spPr>
          <a:xfrm>
            <a:off x="566928" y="1691640"/>
            <a:ext cx="10241280" cy="1828800"/>
          </a:xfrm>
          <a:prstGeom prst="rect">
            <a:avLst/>
          </a:prstGeom>
          <a:noFill/>
          <a:ln/>
        </p:spPr>
        <p:txBody>
          <a:bodyPr wrap="square" lIns="0" tIns="0" rIns="0" bIns="0" rtlCol="0" anchor="ctr"/>
          <a:lstStyle/>
          <a:p>
            <a:pPr indent="0" marL="0">
              <a:lnSpc>
                <a:spcPct val="110000"/>
              </a:lnSpc>
              <a:buNone/>
            </a:pPr>
            <a:r>
              <a:rPr lang="en-US" sz="3200" dirty="0">
                <a:solidFill>
                  <a:srgbClr val="FFFFFF"/>
                </a:solidFill>
                <a:latin typeface="Cambria" pitchFamily="34" charset="0"/>
                <a:ea typeface="Cambria" pitchFamily="34" charset="-122"/>
                <a:cs typeface="Cambria" pitchFamily="34" charset="-120"/>
              </a:rPr>
              <a:t>Instrumentation was never limited by our ability to measure.</a:t>
            </a:r>
            <a:endParaRPr lang="en-US" sz="3200" dirty="0"/>
          </a:p>
          <a:p>
            <a:pPr indent="0" marL="0">
              <a:lnSpc>
                <a:spcPct val="110000"/>
              </a:lnSpc>
              <a:buNone/>
            </a:pPr>
            <a:r>
              <a:rPr lang="en-US" sz="3200" dirty="0">
                <a:solidFill>
                  <a:srgbClr val="FFFFFF"/>
                </a:solidFill>
                <a:latin typeface="Cambria" pitchFamily="34" charset="0"/>
                <a:ea typeface="Cambria" pitchFamily="34" charset="-122"/>
                <a:cs typeface="Cambria" pitchFamily="34" charset="-120"/>
              </a:rPr>
              <a:t>It was limited by what we could do with the measurement.</a:t>
            </a:r>
            <a:endParaRPr lang="en-US" sz="3200" dirty="0"/>
          </a:p>
        </p:txBody>
      </p:sp>
      <p:sp>
        <p:nvSpPr>
          <p:cNvPr id="4" name="Text 2"/>
          <p:cNvSpPr/>
          <p:nvPr/>
        </p:nvSpPr>
        <p:spPr>
          <a:xfrm>
            <a:off x="566928" y="3749040"/>
            <a:ext cx="10241280" cy="457200"/>
          </a:xfrm>
          <a:prstGeom prst="rect">
            <a:avLst/>
          </a:prstGeom>
          <a:noFill/>
          <a:ln/>
        </p:spPr>
        <p:txBody>
          <a:bodyPr wrap="square" lIns="0" tIns="0" rIns="0" bIns="0" rtlCol="0" anchor="ctr"/>
          <a:lstStyle/>
          <a:p>
            <a:pPr indent="0" marL="0">
              <a:buNone/>
            </a:pPr>
            <a:r>
              <a:rPr lang="en-US" sz="1800" dirty="0">
                <a:solidFill>
                  <a:srgbClr val="E8A33D"/>
                </a:solidFill>
                <a:latin typeface="Calibri" pitchFamily="34" charset="0"/>
                <a:ea typeface="Calibri" pitchFamily="34" charset="-122"/>
                <a:cs typeface="Calibri" pitchFamily="34" charset="-120"/>
              </a:rPr>
              <a:t>That second half is the part that changed. That is where AI lives.</a:t>
            </a:r>
            <a:endParaRPr lang="en-US" sz="1800" dirty="0"/>
          </a:p>
        </p:txBody>
      </p:sp>
      <p:sp>
        <p:nvSpPr>
          <p:cNvPr id="5" name="Text 3"/>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8A929C"/>
                </a:solidFill>
                <a:latin typeface="Courier New" pitchFamily="34" charset="0"/>
                <a:ea typeface="Courier New" pitchFamily="34" charset="-122"/>
                <a:cs typeface="Courier New" pitchFamily="34" charset="-120"/>
              </a:rPr>
              <a:t>02  ·  OPEN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CREDIBILITY, STATED UP FRONT</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Who is talking, and how to discount him</a:t>
            </a:r>
            <a:endParaRPr lang="en-US" sz="3400" dirty="0"/>
          </a:p>
        </p:txBody>
      </p:sp>
      <p:sp>
        <p:nvSpPr>
          <p:cNvPr id="4" name="Shape 2"/>
          <p:cNvSpPr/>
          <p:nvPr/>
        </p:nvSpPr>
        <p:spPr>
          <a:xfrm>
            <a:off x="566928" y="1874520"/>
            <a:ext cx="5349240" cy="3566160"/>
          </a:xfrm>
          <a:prstGeom prst="roundRect">
            <a:avLst>
              <a:gd name="adj" fmla="val 769"/>
            </a:avLst>
          </a:prstGeom>
          <a:solidFill>
            <a:srgbClr val="F3F4F6"/>
          </a:solidFill>
          <a:ln w="12700">
            <a:solidFill>
              <a:srgbClr val="E2E5E9"/>
            </a:solidFill>
            <a:prstDash val="solid"/>
          </a:ln>
        </p:spPr>
      </p:sp>
      <p:sp>
        <p:nvSpPr>
          <p:cNvPr id="5" name="Text 3"/>
          <p:cNvSpPr/>
          <p:nvPr/>
        </p:nvSpPr>
        <p:spPr>
          <a:xfrm>
            <a:off x="822960" y="2103120"/>
            <a:ext cx="4572000" cy="201168"/>
          </a:xfrm>
          <a:prstGeom prst="rect">
            <a:avLst/>
          </a:prstGeom>
          <a:noFill/>
          <a:ln/>
        </p:spPr>
        <p:txBody>
          <a:bodyPr wrap="square" lIns="0" tIns="0" rIns="0" bIns="0" rtlCol="0" anchor="ctr"/>
          <a:lstStyle/>
          <a:p>
            <a:pPr indent="0" marL="0">
              <a:buNone/>
            </a:pPr>
            <a:r>
              <a:rPr lang="en-US" sz="1000" spc="220" kern="0" dirty="0">
                <a:solidFill>
                  <a:srgbClr val="3FB6A8"/>
                </a:solidFill>
                <a:latin typeface="Courier New" pitchFamily="34" charset="0"/>
                <a:ea typeface="Courier New" pitchFamily="34" charset="-122"/>
                <a:cs typeface="Courier New" pitchFamily="34" charset="-120"/>
              </a:rPr>
              <a:t>WHAT I HAVE DONE</a:t>
            </a:r>
            <a:endParaRPr lang="en-US" sz="1000" dirty="0"/>
          </a:p>
        </p:txBody>
      </p:sp>
      <p:sp>
        <p:nvSpPr>
          <p:cNvPr id="6" name="Text 4"/>
          <p:cNvSpPr/>
          <p:nvPr/>
        </p:nvSpPr>
        <p:spPr>
          <a:xfrm>
            <a:off x="822960" y="2450592"/>
            <a:ext cx="4846320" cy="283464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rgbClr val="1E2127"/>
                </a:solidFill>
                <a:latin typeface="Calibri" pitchFamily="34" charset="0"/>
                <a:ea typeface="Calibri" pitchFamily="34" charset="-122"/>
                <a:cs typeface="Calibri" pitchFamily="34" charset="-120"/>
              </a:rPr>
              <a:t>Graduate of this department</a:t>
            </a:r>
            <a:endParaRPr lang="en-US" sz="1450" dirty="0"/>
          </a:p>
          <a:p>
            <a:pPr marL="342900" indent="-342900">
              <a:spcAft>
                <a:spcPts val="700"/>
              </a:spcAft>
              <a:buSzPct val="100000"/>
              <a:buChar char="•"/>
            </a:pPr>
            <a:r>
              <a:rPr lang="en-US" sz="1450" dirty="0">
                <a:solidFill>
                  <a:srgbClr val="1E2127"/>
                </a:solidFill>
                <a:latin typeface="Calibri" pitchFamily="34" charset="0"/>
                <a:ea typeface="Calibri" pitchFamily="34" charset="-122"/>
                <a:cs typeface="Calibri" pitchFamily="34" charset="-120"/>
              </a:rPr>
              <a:t>13 years consulting — TCS, Cognizant, Accenture</a:t>
            </a:r>
            <a:endParaRPr lang="en-US" sz="1450" dirty="0"/>
          </a:p>
          <a:p>
            <a:pPr marL="342900" indent="-342900">
              <a:spcAft>
                <a:spcPts val="700"/>
              </a:spcAft>
              <a:buSzPct val="100000"/>
              <a:buChar char="•"/>
            </a:pPr>
            <a:r>
              <a:rPr lang="en-US" sz="1450" dirty="0">
                <a:solidFill>
                  <a:srgbClr val="1E2127"/>
                </a:solidFill>
                <a:latin typeface="Calibri" pitchFamily="34" charset="0"/>
                <a:ea typeface="Calibri" pitchFamily="34" charset="-122"/>
                <a:cs typeface="Calibri" pitchFamily="34" charset="-120"/>
              </a:rPr>
              <a:t>Enterprise document platforms for banks and insurers</a:t>
            </a:r>
            <a:endParaRPr lang="en-US" sz="1450" dirty="0"/>
          </a:p>
          <a:p>
            <a:pPr marL="342900" indent="-342900">
              <a:spcAft>
                <a:spcPts val="700"/>
              </a:spcAft>
              <a:buSzPct val="100000"/>
              <a:buChar char="•"/>
            </a:pPr>
            <a:r>
              <a:rPr lang="en-US" sz="1450" dirty="0">
                <a:solidFill>
                  <a:srgbClr val="1E2127"/>
                </a:solidFill>
                <a:latin typeface="Calibri" pitchFamily="34" charset="0"/>
                <a:ea typeface="Calibri" pitchFamily="34" charset="-122"/>
                <a:cs typeface="Calibri" pitchFamily="34" charset="-120"/>
              </a:rPr>
              <a:t>Data pipelines and governance in a regulated industry</a:t>
            </a:r>
            <a:endParaRPr lang="en-US" sz="1450" dirty="0"/>
          </a:p>
        </p:txBody>
      </p:sp>
      <p:sp>
        <p:nvSpPr>
          <p:cNvPr id="7" name="Shape 5"/>
          <p:cNvSpPr/>
          <p:nvPr/>
        </p:nvSpPr>
        <p:spPr>
          <a:xfrm>
            <a:off x="6190488" y="1874520"/>
            <a:ext cx="5349240" cy="3566160"/>
          </a:xfrm>
          <a:prstGeom prst="roundRect">
            <a:avLst>
              <a:gd name="adj" fmla="val 769"/>
            </a:avLst>
          </a:prstGeom>
          <a:solidFill>
            <a:srgbClr val="F3F4F6"/>
          </a:solidFill>
          <a:ln w="12700">
            <a:solidFill>
              <a:srgbClr val="E2E5E9"/>
            </a:solidFill>
            <a:prstDash val="solid"/>
          </a:ln>
        </p:spPr>
      </p:sp>
      <p:sp>
        <p:nvSpPr>
          <p:cNvPr id="8" name="Text 6"/>
          <p:cNvSpPr/>
          <p:nvPr/>
        </p:nvSpPr>
        <p:spPr>
          <a:xfrm>
            <a:off x="6446520" y="2103120"/>
            <a:ext cx="4572000" cy="201168"/>
          </a:xfrm>
          <a:prstGeom prst="rect">
            <a:avLst/>
          </a:prstGeom>
          <a:noFill/>
          <a:ln/>
        </p:spPr>
        <p:txBody>
          <a:bodyPr wrap="square" lIns="0" tIns="0" rIns="0" bIns="0" rtlCol="0" anchor="ctr"/>
          <a:lstStyle/>
          <a:p>
            <a:pPr indent="0" marL="0">
              <a:buNone/>
            </a:pPr>
            <a:r>
              <a:rPr lang="en-US" sz="1000" spc="220" kern="0" dirty="0">
                <a:solidFill>
                  <a:srgbClr val="C4483A"/>
                </a:solidFill>
                <a:latin typeface="Courier New" pitchFamily="34" charset="0"/>
                <a:ea typeface="Courier New" pitchFamily="34" charset="-122"/>
                <a:cs typeface="Courier New" pitchFamily="34" charset="-120"/>
              </a:rPr>
              <a:t>WHAT I HAVE NOT DONE</a:t>
            </a:r>
            <a:endParaRPr lang="en-US" sz="1000" dirty="0"/>
          </a:p>
        </p:txBody>
      </p:sp>
      <p:sp>
        <p:nvSpPr>
          <p:cNvPr id="9" name="Text 7"/>
          <p:cNvSpPr/>
          <p:nvPr/>
        </p:nvSpPr>
        <p:spPr>
          <a:xfrm>
            <a:off x="6446520" y="2450592"/>
            <a:ext cx="4846320" cy="283464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rgbClr val="1E2127"/>
                </a:solidFill>
                <a:latin typeface="Calibri" pitchFamily="34" charset="0"/>
                <a:ea typeface="Calibri" pitchFamily="34" charset="-122"/>
                <a:cs typeface="Calibri" pitchFamily="34" charset="-120"/>
              </a:rPr>
              <a:t>Never commissioned a control loop</a:t>
            </a:r>
            <a:endParaRPr lang="en-US" sz="1450" dirty="0"/>
          </a:p>
          <a:p>
            <a:pPr marL="342900" indent="-342900">
              <a:spcAft>
                <a:spcPts val="700"/>
              </a:spcAft>
              <a:buSzPct val="100000"/>
              <a:buChar char="•"/>
            </a:pPr>
            <a:r>
              <a:rPr lang="en-US" sz="1450" dirty="0">
                <a:solidFill>
                  <a:srgbClr val="1E2127"/>
                </a:solidFill>
                <a:latin typeface="Calibri" pitchFamily="34" charset="0"/>
                <a:ea typeface="Calibri" pitchFamily="34" charset="-122"/>
                <a:cs typeface="Calibri" pitchFamily="34" charset="-120"/>
              </a:rPr>
              <a:t>Never signed off a safety instrumented system</a:t>
            </a:r>
            <a:endParaRPr lang="en-US" sz="1450" dirty="0"/>
          </a:p>
          <a:p>
            <a:pPr marL="342900" indent="-342900">
              <a:spcAft>
                <a:spcPts val="700"/>
              </a:spcAft>
              <a:buSzPct val="100000"/>
              <a:buChar char="•"/>
            </a:pPr>
            <a:r>
              <a:rPr lang="en-US" sz="1450" dirty="0">
                <a:solidFill>
                  <a:srgbClr val="1E2127"/>
                </a:solidFill>
                <a:latin typeface="Calibri" pitchFamily="34" charset="0"/>
                <a:ea typeface="Calibri" pitchFamily="34" charset="-122"/>
                <a:cs typeface="Calibri" pitchFamily="34" charset="-120"/>
              </a:rPr>
              <a:t>Never worked a plant turnaround</a:t>
            </a:r>
            <a:endParaRPr lang="en-US" sz="1450" dirty="0"/>
          </a:p>
          <a:p>
            <a:pPr marL="342900" indent="-342900">
              <a:spcAft>
                <a:spcPts val="700"/>
              </a:spcAft>
              <a:buSzPct val="100000"/>
              <a:buChar char="•"/>
            </a:pPr>
            <a:r>
              <a:rPr lang="en-US" sz="1450" dirty="0">
                <a:solidFill>
                  <a:srgbClr val="1E2127"/>
                </a:solidFill>
                <a:latin typeface="Calibri" pitchFamily="34" charset="0"/>
                <a:ea typeface="Calibri" pitchFamily="34" charset="-122"/>
                <a:cs typeface="Calibri" pitchFamily="34" charset="-120"/>
              </a:rPr>
              <a:t>If you work in automation, correct me in the Q&amp;A</a:t>
            </a:r>
            <a:endParaRPr lang="en-US" sz="1450" dirty="0"/>
          </a:p>
        </p:txBody>
      </p:sp>
      <p:sp>
        <p:nvSpPr>
          <p:cNvPr id="10" name="Text 8"/>
          <p:cNvSpPr/>
          <p:nvPr/>
        </p:nvSpPr>
        <p:spPr>
          <a:xfrm>
            <a:off x="566928" y="5669280"/>
            <a:ext cx="11027664" cy="457200"/>
          </a:xfrm>
          <a:prstGeom prst="rect">
            <a:avLst/>
          </a:prstGeom>
          <a:noFill/>
          <a:ln/>
        </p:spPr>
        <p:txBody>
          <a:bodyPr wrap="square" lIns="0" tIns="0" rIns="0" bIns="0" rtlCol="0" anchor="ctr"/>
          <a:lstStyle/>
          <a:p>
            <a:pPr indent="0" marL="0">
              <a:buNone/>
            </a:pPr>
            <a:r>
              <a:rPr lang="en-US" sz="1500" i="1" dirty="0">
                <a:solidFill>
                  <a:srgbClr val="6E757F"/>
                </a:solidFill>
                <a:latin typeface="Calibri" pitchFamily="34" charset="0"/>
                <a:ea typeface="Calibri" pitchFamily="34" charset="-122"/>
                <a:cs typeface="Calibri" pitchFamily="34" charset="-120"/>
              </a:rPr>
              <a:t>The model is never why these projects fail. The data pipeline, the failure modes and the trust are. Those lessons transfer completely.</a:t>
            </a:r>
            <a:endParaRPr lang="en-US" sz="1500" dirty="0"/>
          </a:p>
        </p:txBody>
      </p:sp>
      <p:sp>
        <p:nvSpPr>
          <p:cNvPr id="11" name="Text 9"/>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03  ·  OPEN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AGENDA</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Five parts</a:t>
            </a:r>
            <a:endParaRPr lang="en-US" sz="3400" dirty="0"/>
          </a:p>
        </p:txBody>
      </p:sp>
      <p:sp>
        <p:nvSpPr>
          <p:cNvPr id="4" name="Shape 2"/>
          <p:cNvSpPr/>
          <p:nvPr/>
        </p:nvSpPr>
        <p:spPr>
          <a:xfrm>
            <a:off x="566928" y="1874520"/>
            <a:ext cx="384048" cy="384048"/>
          </a:xfrm>
          <a:prstGeom prst="ellipse">
            <a:avLst/>
          </a:prstGeom>
          <a:solidFill>
            <a:srgbClr val="16181C"/>
          </a:solidFill>
          <a:ln w="12700">
            <a:solidFill>
              <a:srgbClr val="16181C"/>
            </a:solidFill>
            <a:prstDash val="solid"/>
          </a:ln>
        </p:spPr>
      </p:sp>
      <p:sp>
        <p:nvSpPr>
          <p:cNvPr id="5" name="Text 3"/>
          <p:cNvSpPr/>
          <p:nvPr/>
        </p:nvSpPr>
        <p:spPr>
          <a:xfrm>
            <a:off x="566928" y="1874520"/>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1</a:t>
            </a:r>
            <a:endParaRPr lang="en-US" sz="1300" dirty="0"/>
          </a:p>
        </p:txBody>
      </p:sp>
      <p:sp>
        <p:nvSpPr>
          <p:cNvPr id="6" name="Text 4"/>
          <p:cNvSpPr/>
          <p:nvPr/>
        </p:nvSpPr>
        <p:spPr>
          <a:xfrm>
            <a:off x="1188720" y="1819656"/>
            <a:ext cx="4206240" cy="365760"/>
          </a:xfrm>
          <a:prstGeom prst="rect">
            <a:avLst/>
          </a:prstGeom>
          <a:noFill/>
          <a:ln/>
        </p:spPr>
        <p:txBody>
          <a:bodyPr wrap="square" lIns="0" tIns="0" rIns="0" bIns="0" rtlCol="0" anchor="ctr"/>
          <a:lstStyle/>
          <a:p>
            <a:pPr indent="0" marL="0">
              <a:buNone/>
            </a:pPr>
            <a:r>
              <a:rPr lang="en-US" sz="1800" b="1" dirty="0">
                <a:solidFill>
                  <a:srgbClr val="1E2127"/>
                </a:solidFill>
                <a:latin typeface="Cambria" pitchFamily="34" charset="0"/>
                <a:ea typeface="Cambria" pitchFamily="34" charset="-122"/>
                <a:cs typeface="Cambria" pitchFamily="34" charset="-120"/>
              </a:rPr>
              <a:t>The stack, honestly</a:t>
            </a:r>
            <a:endParaRPr lang="en-US" sz="1800" dirty="0"/>
          </a:p>
        </p:txBody>
      </p:sp>
      <p:sp>
        <p:nvSpPr>
          <p:cNvPr id="7" name="Text 5"/>
          <p:cNvSpPr/>
          <p:nvPr/>
        </p:nvSpPr>
        <p:spPr>
          <a:xfrm>
            <a:off x="5458968" y="1819656"/>
            <a:ext cx="868680" cy="365760"/>
          </a:xfrm>
          <a:prstGeom prst="rect">
            <a:avLst/>
          </a:prstGeom>
          <a:noFill/>
          <a:ln/>
        </p:spPr>
        <p:txBody>
          <a:bodyPr wrap="square" lIns="0" tIns="0" rIns="0" bIns="0" rtlCol="0" anchor="ctr"/>
          <a:lstStyle/>
          <a:p>
            <a:pPr indent="0" marL="0">
              <a:buNone/>
            </a:pPr>
            <a:r>
              <a:rPr lang="en-US" sz="1200" dirty="0">
                <a:solidFill>
                  <a:srgbClr val="6E757F"/>
                </a:solidFill>
                <a:latin typeface="Courier New" pitchFamily="34" charset="0"/>
                <a:ea typeface="Courier New" pitchFamily="34" charset="-122"/>
                <a:cs typeface="Courier New" pitchFamily="34" charset="-120"/>
              </a:rPr>
              <a:t>8 min</a:t>
            </a:r>
            <a:endParaRPr lang="en-US" sz="1200" dirty="0"/>
          </a:p>
        </p:txBody>
      </p:sp>
      <p:sp>
        <p:nvSpPr>
          <p:cNvPr id="8" name="Text 6"/>
          <p:cNvSpPr/>
          <p:nvPr/>
        </p:nvSpPr>
        <p:spPr>
          <a:xfrm>
            <a:off x="6464808" y="1819656"/>
            <a:ext cx="5120640" cy="502920"/>
          </a:xfrm>
          <a:prstGeom prst="rect">
            <a:avLst/>
          </a:prstGeom>
          <a:noFill/>
          <a:ln/>
        </p:spPr>
        <p:txBody>
          <a:bodyPr wrap="square" lIns="0" tIns="0" rIns="0" bIns="0" rtlCol="0" anchor="ctr"/>
          <a:lstStyle/>
          <a:p>
            <a:pPr indent="0" marL="0">
              <a:buNone/>
            </a:pPr>
            <a:r>
              <a:rPr lang="en-US" sz="1350" dirty="0">
                <a:solidFill>
                  <a:srgbClr val="6E757F"/>
                </a:solidFill>
                <a:latin typeface="Calibri" pitchFamily="34" charset="0"/>
                <a:ea typeface="Calibri" pitchFamily="34" charset="-122"/>
                <a:cs typeface="Calibri" pitchFamily="34" charset="-120"/>
              </a:rPr>
              <a:t>Where AI sits, and where it is not allowed to sit</a:t>
            </a:r>
            <a:endParaRPr lang="en-US" sz="1350" dirty="0"/>
          </a:p>
        </p:txBody>
      </p:sp>
      <p:sp>
        <p:nvSpPr>
          <p:cNvPr id="9" name="Shape 7"/>
          <p:cNvSpPr/>
          <p:nvPr/>
        </p:nvSpPr>
        <p:spPr>
          <a:xfrm>
            <a:off x="566928" y="2807208"/>
            <a:ext cx="384048" cy="384048"/>
          </a:xfrm>
          <a:prstGeom prst="ellipse">
            <a:avLst/>
          </a:prstGeom>
          <a:solidFill>
            <a:srgbClr val="16181C"/>
          </a:solidFill>
          <a:ln w="12700">
            <a:solidFill>
              <a:srgbClr val="16181C"/>
            </a:solidFill>
            <a:prstDash val="solid"/>
          </a:ln>
        </p:spPr>
      </p:sp>
      <p:sp>
        <p:nvSpPr>
          <p:cNvPr id="10" name="Text 8"/>
          <p:cNvSpPr/>
          <p:nvPr/>
        </p:nvSpPr>
        <p:spPr>
          <a:xfrm>
            <a:off x="566928" y="2807208"/>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2</a:t>
            </a:r>
            <a:endParaRPr lang="en-US" sz="1300" dirty="0"/>
          </a:p>
        </p:txBody>
      </p:sp>
      <p:sp>
        <p:nvSpPr>
          <p:cNvPr id="11" name="Text 9"/>
          <p:cNvSpPr/>
          <p:nvPr/>
        </p:nvSpPr>
        <p:spPr>
          <a:xfrm>
            <a:off x="1188720" y="2752344"/>
            <a:ext cx="4206240" cy="365760"/>
          </a:xfrm>
          <a:prstGeom prst="rect">
            <a:avLst/>
          </a:prstGeom>
          <a:noFill/>
          <a:ln/>
        </p:spPr>
        <p:txBody>
          <a:bodyPr wrap="square" lIns="0" tIns="0" rIns="0" bIns="0" rtlCol="0" anchor="ctr"/>
          <a:lstStyle/>
          <a:p>
            <a:pPr indent="0" marL="0">
              <a:buNone/>
            </a:pPr>
            <a:r>
              <a:rPr lang="en-US" sz="1800" b="1" dirty="0">
                <a:solidFill>
                  <a:srgbClr val="1E2127"/>
                </a:solidFill>
                <a:latin typeface="Cambria" pitchFamily="34" charset="0"/>
                <a:ea typeface="Cambria" pitchFamily="34" charset="-122"/>
                <a:cs typeface="Cambria" pitchFamily="34" charset="-120"/>
              </a:rPr>
              <a:t>One failure, all the way down</a:t>
            </a:r>
            <a:endParaRPr lang="en-US" sz="1800" dirty="0"/>
          </a:p>
        </p:txBody>
      </p:sp>
      <p:sp>
        <p:nvSpPr>
          <p:cNvPr id="12" name="Text 10"/>
          <p:cNvSpPr/>
          <p:nvPr/>
        </p:nvSpPr>
        <p:spPr>
          <a:xfrm>
            <a:off x="5458968" y="2752344"/>
            <a:ext cx="868680" cy="365760"/>
          </a:xfrm>
          <a:prstGeom prst="rect">
            <a:avLst/>
          </a:prstGeom>
          <a:noFill/>
          <a:ln/>
        </p:spPr>
        <p:txBody>
          <a:bodyPr wrap="square" lIns="0" tIns="0" rIns="0" bIns="0" rtlCol="0" anchor="ctr"/>
          <a:lstStyle/>
          <a:p>
            <a:pPr indent="0" marL="0">
              <a:buNone/>
            </a:pPr>
            <a:r>
              <a:rPr lang="en-US" sz="1200" dirty="0">
                <a:solidFill>
                  <a:srgbClr val="6E757F"/>
                </a:solidFill>
                <a:latin typeface="Courier New" pitchFamily="34" charset="0"/>
                <a:ea typeface="Courier New" pitchFamily="34" charset="-122"/>
                <a:cs typeface="Courier New" pitchFamily="34" charset="-120"/>
              </a:rPr>
              <a:t>18 min</a:t>
            </a:r>
            <a:endParaRPr lang="en-US" sz="1200" dirty="0"/>
          </a:p>
        </p:txBody>
      </p:sp>
      <p:sp>
        <p:nvSpPr>
          <p:cNvPr id="13" name="Text 11"/>
          <p:cNvSpPr/>
          <p:nvPr/>
        </p:nvSpPr>
        <p:spPr>
          <a:xfrm>
            <a:off x="6464808" y="2752344"/>
            <a:ext cx="5120640" cy="502920"/>
          </a:xfrm>
          <a:prstGeom prst="rect">
            <a:avLst/>
          </a:prstGeom>
          <a:noFill/>
          <a:ln/>
        </p:spPr>
        <p:txBody>
          <a:bodyPr wrap="square" lIns="0" tIns="0" rIns="0" bIns="0" rtlCol="0" anchor="ctr"/>
          <a:lstStyle/>
          <a:p>
            <a:pPr indent="0" marL="0">
              <a:buNone/>
            </a:pPr>
            <a:r>
              <a:rPr lang="en-US" sz="1350" dirty="0">
                <a:solidFill>
                  <a:srgbClr val="6E757F"/>
                </a:solidFill>
                <a:latin typeface="Calibri" pitchFamily="34" charset="0"/>
                <a:ea typeface="Calibri" pitchFamily="34" charset="-122"/>
                <a:cs typeface="Calibri" pitchFamily="34" charset="-120"/>
              </a:rPr>
              <a:t>A single bearing — geometry to signal processing to a decision</a:t>
            </a:r>
            <a:endParaRPr lang="en-US" sz="1350" dirty="0"/>
          </a:p>
        </p:txBody>
      </p:sp>
      <p:sp>
        <p:nvSpPr>
          <p:cNvPr id="14" name="Shape 12"/>
          <p:cNvSpPr/>
          <p:nvPr/>
        </p:nvSpPr>
        <p:spPr>
          <a:xfrm>
            <a:off x="566928" y="3739896"/>
            <a:ext cx="384048" cy="384048"/>
          </a:xfrm>
          <a:prstGeom prst="ellipse">
            <a:avLst/>
          </a:prstGeom>
          <a:solidFill>
            <a:srgbClr val="16181C"/>
          </a:solidFill>
          <a:ln w="12700">
            <a:solidFill>
              <a:srgbClr val="16181C"/>
            </a:solidFill>
            <a:prstDash val="solid"/>
          </a:ln>
        </p:spPr>
      </p:sp>
      <p:sp>
        <p:nvSpPr>
          <p:cNvPr id="15" name="Text 13"/>
          <p:cNvSpPr/>
          <p:nvPr/>
        </p:nvSpPr>
        <p:spPr>
          <a:xfrm>
            <a:off x="566928" y="3739896"/>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3</a:t>
            </a:r>
            <a:endParaRPr lang="en-US" sz="1300" dirty="0"/>
          </a:p>
        </p:txBody>
      </p:sp>
      <p:sp>
        <p:nvSpPr>
          <p:cNvPr id="16" name="Text 14"/>
          <p:cNvSpPr/>
          <p:nvPr/>
        </p:nvSpPr>
        <p:spPr>
          <a:xfrm>
            <a:off x="1188720" y="3685032"/>
            <a:ext cx="4206240" cy="365760"/>
          </a:xfrm>
          <a:prstGeom prst="rect">
            <a:avLst/>
          </a:prstGeom>
          <a:noFill/>
          <a:ln/>
        </p:spPr>
        <p:txBody>
          <a:bodyPr wrap="square" lIns="0" tIns="0" rIns="0" bIns="0" rtlCol="0" anchor="ctr"/>
          <a:lstStyle/>
          <a:p>
            <a:pPr indent="0" marL="0">
              <a:buNone/>
            </a:pPr>
            <a:r>
              <a:rPr lang="en-US" sz="1800" b="1" dirty="0">
                <a:solidFill>
                  <a:srgbClr val="1E2127"/>
                </a:solidFill>
                <a:latin typeface="Cambria" pitchFamily="34" charset="0"/>
                <a:ea typeface="Cambria" pitchFamily="34" charset="-122"/>
                <a:cs typeface="Cambria" pitchFamily="34" charset="-120"/>
              </a:rPr>
              <a:t>Demo one: Bearing Fault Lab</a:t>
            </a:r>
            <a:endParaRPr lang="en-US" sz="1800" dirty="0"/>
          </a:p>
        </p:txBody>
      </p:sp>
      <p:sp>
        <p:nvSpPr>
          <p:cNvPr id="17" name="Text 15"/>
          <p:cNvSpPr/>
          <p:nvPr/>
        </p:nvSpPr>
        <p:spPr>
          <a:xfrm>
            <a:off x="5458968" y="3685032"/>
            <a:ext cx="868680" cy="365760"/>
          </a:xfrm>
          <a:prstGeom prst="rect">
            <a:avLst/>
          </a:prstGeom>
          <a:noFill/>
          <a:ln/>
        </p:spPr>
        <p:txBody>
          <a:bodyPr wrap="square" lIns="0" tIns="0" rIns="0" bIns="0" rtlCol="0" anchor="ctr"/>
          <a:lstStyle/>
          <a:p>
            <a:pPr indent="0" marL="0">
              <a:buNone/>
            </a:pPr>
            <a:r>
              <a:rPr lang="en-US" sz="1200" dirty="0">
                <a:solidFill>
                  <a:srgbClr val="6E757F"/>
                </a:solidFill>
                <a:latin typeface="Courier New" pitchFamily="34" charset="0"/>
                <a:ea typeface="Courier New" pitchFamily="34" charset="-122"/>
                <a:cs typeface="Courier New" pitchFamily="34" charset="-120"/>
              </a:rPr>
              <a:t>6 min</a:t>
            </a:r>
            <a:endParaRPr lang="en-US" sz="1200" dirty="0"/>
          </a:p>
        </p:txBody>
      </p:sp>
      <p:sp>
        <p:nvSpPr>
          <p:cNvPr id="18" name="Text 16"/>
          <p:cNvSpPr/>
          <p:nvPr/>
        </p:nvSpPr>
        <p:spPr>
          <a:xfrm>
            <a:off x="6464808" y="3685032"/>
            <a:ext cx="5120640" cy="502920"/>
          </a:xfrm>
          <a:prstGeom prst="rect">
            <a:avLst/>
          </a:prstGeom>
          <a:noFill/>
          <a:ln/>
        </p:spPr>
        <p:txBody>
          <a:bodyPr wrap="square" lIns="0" tIns="0" rIns="0" bIns="0" rtlCol="0" anchor="ctr"/>
          <a:lstStyle/>
          <a:p>
            <a:pPr indent="0" marL="0">
              <a:buNone/>
            </a:pPr>
            <a:r>
              <a:rPr lang="en-US" sz="1350" dirty="0">
                <a:solidFill>
                  <a:srgbClr val="6E757F"/>
                </a:solidFill>
                <a:latin typeface="Calibri" pitchFamily="34" charset="0"/>
                <a:ea typeface="Calibri" pitchFamily="34" charset="-122"/>
                <a:cs typeface="Calibri" pitchFamily="34" charset="-120"/>
              </a:rPr>
              <a:t>Take one measurement apart</a:t>
            </a:r>
            <a:endParaRPr lang="en-US" sz="1350" dirty="0"/>
          </a:p>
        </p:txBody>
      </p:sp>
      <p:sp>
        <p:nvSpPr>
          <p:cNvPr id="19" name="Shape 17"/>
          <p:cNvSpPr/>
          <p:nvPr/>
        </p:nvSpPr>
        <p:spPr>
          <a:xfrm>
            <a:off x="566928" y="4672584"/>
            <a:ext cx="384048" cy="384048"/>
          </a:xfrm>
          <a:prstGeom prst="ellipse">
            <a:avLst/>
          </a:prstGeom>
          <a:solidFill>
            <a:srgbClr val="E8A33D"/>
          </a:solidFill>
          <a:ln w="12700">
            <a:solidFill>
              <a:srgbClr val="E8A33D"/>
            </a:solidFill>
            <a:prstDash val="solid"/>
          </a:ln>
        </p:spPr>
      </p:sp>
      <p:sp>
        <p:nvSpPr>
          <p:cNvPr id="20" name="Text 18"/>
          <p:cNvSpPr/>
          <p:nvPr/>
        </p:nvSpPr>
        <p:spPr>
          <a:xfrm>
            <a:off x="566928" y="4672584"/>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4</a:t>
            </a:r>
            <a:endParaRPr lang="en-US" sz="1300" dirty="0"/>
          </a:p>
        </p:txBody>
      </p:sp>
      <p:sp>
        <p:nvSpPr>
          <p:cNvPr id="21" name="Text 19"/>
          <p:cNvSpPr/>
          <p:nvPr/>
        </p:nvSpPr>
        <p:spPr>
          <a:xfrm>
            <a:off x="1188720" y="4617720"/>
            <a:ext cx="4206240" cy="365760"/>
          </a:xfrm>
          <a:prstGeom prst="rect">
            <a:avLst/>
          </a:prstGeom>
          <a:noFill/>
          <a:ln/>
        </p:spPr>
        <p:txBody>
          <a:bodyPr wrap="square" lIns="0" tIns="0" rIns="0" bIns="0" rtlCol="0" anchor="ctr"/>
          <a:lstStyle/>
          <a:p>
            <a:pPr indent="0" marL="0">
              <a:buNone/>
            </a:pPr>
            <a:r>
              <a:rPr lang="en-US" sz="1800" b="1" dirty="0">
                <a:solidFill>
                  <a:srgbClr val="1E2127"/>
                </a:solidFill>
                <a:latin typeface="Cambria" pitchFamily="34" charset="0"/>
                <a:ea typeface="Cambria" pitchFamily="34" charset="-122"/>
                <a:cs typeface="Cambria" pitchFamily="34" charset="-120"/>
              </a:rPr>
              <a:t>Digital twins</a:t>
            </a:r>
            <a:endParaRPr lang="en-US" sz="1800" dirty="0"/>
          </a:p>
        </p:txBody>
      </p:sp>
      <p:sp>
        <p:nvSpPr>
          <p:cNvPr id="22" name="Text 20"/>
          <p:cNvSpPr/>
          <p:nvPr/>
        </p:nvSpPr>
        <p:spPr>
          <a:xfrm>
            <a:off x="5458968" y="4617720"/>
            <a:ext cx="868680" cy="365760"/>
          </a:xfrm>
          <a:prstGeom prst="rect">
            <a:avLst/>
          </a:prstGeom>
          <a:noFill/>
          <a:ln/>
        </p:spPr>
        <p:txBody>
          <a:bodyPr wrap="square" lIns="0" tIns="0" rIns="0" bIns="0" rtlCol="0" anchor="ctr"/>
          <a:lstStyle/>
          <a:p>
            <a:pPr indent="0" marL="0">
              <a:buNone/>
            </a:pPr>
            <a:r>
              <a:rPr lang="en-US" sz="1200" dirty="0">
                <a:solidFill>
                  <a:srgbClr val="E8A33D"/>
                </a:solidFill>
                <a:latin typeface="Courier New" pitchFamily="34" charset="0"/>
                <a:ea typeface="Courier New" pitchFamily="34" charset="-122"/>
                <a:cs typeface="Courier New" pitchFamily="34" charset="-120"/>
              </a:rPr>
              <a:t>11 min</a:t>
            </a:r>
            <a:endParaRPr lang="en-US" sz="1200" dirty="0"/>
          </a:p>
        </p:txBody>
      </p:sp>
      <p:sp>
        <p:nvSpPr>
          <p:cNvPr id="23" name="Text 21"/>
          <p:cNvSpPr/>
          <p:nvPr/>
        </p:nvSpPr>
        <p:spPr>
          <a:xfrm>
            <a:off x="6464808" y="4617720"/>
            <a:ext cx="5120640" cy="502920"/>
          </a:xfrm>
          <a:prstGeom prst="rect">
            <a:avLst/>
          </a:prstGeom>
          <a:noFill/>
          <a:ln/>
        </p:spPr>
        <p:txBody>
          <a:bodyPr wrap="square" lIns="0" tIns="0" rIns="0" bIns="0" rtlCol="0" anchor="ctr"/>
          <a:lstStyle/>
          <a:p>
            <a:pPr indent="0" marL="0">
              <a:buNone/>
            </a:pPr>
            <a:r>
              <a:rPr lang="en-US" sz="1350" dirty="0">
                <a:solidFill>
                  <a:srgbClr val="6E757F"/>
                </a:solidFill>
                <a:latin typeface="Calibri" pitchFamily="34" charset="0"/>
                <a:ea typeface="Calibri" pitchFamily="34" charset="-122"/>
                <a:cs typeface="Calibri" pitchFamily="34" charset="-120"/>
              </a:rPr>
              <a:t>The taxonomy, the trap, and demo two — held to its own test</a:t>
            </a:r>
            <a:endParaRPr lang="en-US" sz="1350" dirty="0"/>
          </a:p>
        </p:txBody>
      </p:sp>
      <p:sp>
        <p:nvSpPr>
          <p:cNvPr id="24" name="Shape 22"/>
          <p:cNvSpPr/>
          <p:nvPr/>
        </p:nvSpPr>
        <p:spPr>
          <a:xfrm>
            <a:off x="566928" y="5605272"/>
            <a:ext cx="384048" cy="384048"/>
          </a:xfrm>
          <a:prstGeom prst="ellipse">
            <a:avLst/>
          </a:prstGeom>
          <a:solidFill>
            <a:srgbClr val="16181C"/>
          </a:solidFill>
          <a:ln w="12700">
            <a:solidFill>
              <a:srgbClr val="16181C"/>
            </a:solidFill>
            <a:prstDash val="solid"/>
          </a:ln>
        </p:spPr>
      </p:sp>
      <p:sp>
        <p:nvSpPr>
          <p:cNvPr id="25" name="Text 23"/>
          <p:cNvSpPr/>
          <p:nvPr/>
        </p:nvSpPr>
        <p:spPr>
          <a:xfrm>
            <a:off x="566928" y="5605272"/>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5</a:t>
            </a:r>
            <a:endParaRPr lang="en-US" sz="1300" dirty="0"/>
          </a:p>
        </p:txBody>
      </p:sp>
      <p:sp>
        <p:nvSpPr>
          <p:cNvPr id="26" name="Text 24"/>
          <p:cNvSpPr/>
          <p:nvPr/>
        </p:nvSpPr>
        <p:spPr>
          <a:xfrm>
            <a:off x="1188720" y="5550408"/>
            <a:ext cx="4206240" cy="365760"/>
          </a:xfrm>
          <a:prstGeom prst="rect">
            <a:avLst/>
          </a:prstGeom>
          <a:noFill/>
          <a:ln/>
        </p:spPr>
        <p:txBody>
          <a:bodyPr wrap="square" lIns="0" tIns="0" rIns="0" bIns="0" rtlCol="0" anchor="ctr"/>
          <a:lstStyle/>
          <a:p>
            <a:pPr indent="0" marL="0">
              <a:buNone/>
            </a:pPr>
            <a:r>
              <a:rPr lang="en-US" sz="1800" b="1" dirty="0">
                <a:solidFill>
                  <a:srgbClr val="1E2127"/>
                </a:solidFill>
                <a:latin typeface="Cambria" pitchFamily="34" charset="0"/>
                <a:ea typeface="Cambria" pitchFamily="34" charset="-122"/>
                <a:cs typeface="Cambria" pitchFamily="34" charset="-120"/>
              </a:rPr>
              <a:t>What to learn, what the jobs are</a:t>
            </a:r>
            <a:endParaRPr lang="en-US" sz="1800" dirty="0"/>
          </a:p>
        </p:txBody>
      </p:sp>
      <p:sp>
        <p:nvSpPr>
          <p:cNvPr id="27" name="Text 25"/>
          <p:cNvSpPr/>
          <p:nvPr/>
        </p:nvSpPr>
        <p:spPr>
          <a:xfrm>
            <a:off x="5458968" y="5550408"/>
            <a:ext cx="868680" cy="365760"/>
          </a:xfrm>
          <a:prstGeom prst="rect">
            <a:avLst/>
          </a:prstGeom>
          <a:noFill/>
          <a:ln/>
        </p:spPr>
        <p:txBody>
          <a:bodyPr wrap="square" lIns="0" tIns="0" rIns="0" bIns="0" rtlCol="0" anchor="ctr"/>
          <a:lstStyle/>
          <a:p>
            <a:pPr indent="0" marL="0">
              <a:buNone/>
            </a:pPr>
            <a:r>
              <a:rPr lang="en-US" sz="1200" dirty="0">
                <a:solidFill>
                  <a:srgbClr val="6E757F"/>
                </a:solidFill>
                <a:latin typeface="Courier New" pitchFamily="34" charset="0"/>
                <a:ea typeface="Courier New" pitchFamily="34" charset="-122"/>
                <a:cs typeface="Courier New" pitchFamily="34" charset="-120"/>
              </a:rPr>
              <a:t>6 min</a:t>
            </a:r>
            <a:endParaRPr lang="en-US" sz="1200" dirty="0"/>
          </a:p>
        </p:txBody>
      </p:sp>
      <p:sp>
        <p:nvSpPr>
          <p:cNvPr id="28" name="Text 26"/>
          <p:cNvSpPr/>
          <p:nvPr/>
        </p:nvSpPr>
        <p:spPr>
          <a:xfrm>
            <a:off x="6464808" y="5550408"/>
            <a:ext cx="5120640" cy="502920"/>
          </a:xfrm>
          <a:prstGeom prst="rect">
            <a:avLst/>
          </a:prstGeom>
          <a:noFill/>
          <a:ln/>
        </p:spPr>
        <p:txBody>
          <a:bodyPr wrap="square" lIns="0" tIns="0" rIns="0" bIns="0" rtlCol="0" anchor="ctr"/>
          <a:lstStyle/>
          <a:p>
            <a:pPr indent="0" marL="0">
              <a:buNone/>
            </a:pPr>
            <a:r>
              <a:rPr lang="en-US" sz="1350" dirty="0">
                <a:solidFill>
                  <a:srgbClr val="6E757F"/>
                </a:solidFill>
                <a:latin typeface="Calibri" pitchFamily="34" charset="0"/>
                <a:ea typeface="Calibri" pitchFamily="34" charset="-122"/>
                <a:cs typeface="Calibri" pitchFamily="34" charset="-120"/>
              </a:rPr>
              <a:t>Including which of your electives are worth picking</a:t>
            </a:r>
            <a:endParaRPr lang="en-US" sz="1350" dirty="0"/>
          </a:p>
        </p:txBody>
      </p:sp>
      <p:sp>
        <p:nvSpPr>
          <p:cNvPr id="29" name="Text 27"/>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04  ·  AGENDA</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CHECKED AGAINST VR20</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Where this sits in your syllabus</a:t>
            </a:r>
            <a:endParaRPr lang="en-US" sz="3400" dirty="0"/>
          </a:p>
        </p:txBody>
      </p:sp>
      <p:sp>
        <p:nvSpPr>
          <p:cNvPr id="4" name="Shape 2"/>
          <p:cNvSpPr/>
          <p:nvPr/>
        </p:nvSpPr>
        <p:spPr>
          <a:xfrm>
            <a:off x="566928" y="1783080"/>
            <a:ext cx="3493008" cy="3886200"/>
          </a:xfrm>
          <a:prstGeom prst="roundRect">
            <a:avLst>
              <a:gd name="adj" fmla="val 785"/>
            </a:avLst>
          </a:prstGeom>
          <a:solidFill>
            <a:srgbClr val="F3F4F6"/>
          </a:solidFill>
          <a:ln w="19050">
            <a:solidFill>
              <a:srgbClr val="3FB6A8"/>
            </a:solidFill>
            <a:prstDash val="solid"/>
          </a:ln>
        </p:spPr>
      </p:sp>
      <p:sp>
        <p:nvSpPr>
          <p:cNvPr id="5" name="Text 3"/>
          <p:cNvSpPr/>
          <p:nvPr/>
        </p:nvSpPr>
        <p:spPr>
          <a:xfrm>
            <a:off x="822960" y="2011680"/>
            <a:ext cx="3108960" cy="201168"/>
          </a:xfrm>
          <a:prstGeom prst="rect">
            <a:avLst/>
          </a:prstGeom>
          <a:noFill/>
          <a:ln/>
        </p:spPr>
        <p:txBody>
          <a:bodyPr wrap="square" lIns="0" tIns="0" rIns="0" bIns="0" rtlCol="0" anchor="ctr"/>
          <a:lstStyle/>
          <a:p>
            <a:pPr indent="0" marL="0">
              <a:buNone/>
            </a:pPr>
            <a:r>
              <a:rPr lang="en-US" sz="1000" spc="220" kern="0" dirty="0">
                <a:solidFill>
                  <a:srgbClr val="3FB6A8"/>
                </a:solidFill>
                <a:latin typeface="Courier New" pitchFamily="34" charset="0"/>
                <a:ea typeface="Courier New" pitchFamily="34" charset="-122"/>
                <a:cs typeface="Courier New" pitchFamily="34" charset="-120"/>
              </a:rPr>
              <a:t>YOU ALREADY HAVE THIS</a:t>
            </a:r>
            <a:endParaRPr lang="en-US" sz="1000" dirty="0"/>
          </a:p>
        </p:txBody>
      </p:sp>
      <p:sp>
        <p:nvSpPr>
          <p:cNvPr id="6" name="Text 4"/>
          <p:cNvSpPr/>
          <p:nvPr/>
        </p:nvSpPr>
        <p:spPr>
          <a:xfrm>
            <a:off x="822960" y="2359152"/>
            <a:ext cx="3017520" cy="31089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E2127"/>
                </a:solidFill>
                <a:latin typeface="Calibri" pitchFamily="34" charset="0"/>
                <a:ea typeface="Calibri" pitchFamily="34" charset="-122"/>
                <a:cs typeface="Calibri" pitchFamily="34" charset="-120"/>
              </a:rPr>
              <a:t>Python — Semester II, core</a:t>
            </a:r>
            <a:endParaRPr lang="en-US" sz="1250" dirty="0"/>
          </a:p>
          <a:p>
            <a:pPr marL="342900" indent="-342900">
              <a:spcAft>
                <a:spcPts val="700"/>
              </a:spcAft>
              <a:buSzPct val="100000"/>
              <a:buChar char="•"/>
            </a:pPr>
            <a:r>
              <a:rPr lang="en-US" sz="1250" dirty="0">
                <a:solidFill>
                  <a:srgbClr val="1E2127"/>
                </a:solidFill>
                <a:latin typeface="Calibri" pitchFamily="34" charset="0"/>
                <a:ea typeface="Calibri" pitchFamily="34" charset="-122"/>
                <a:cs typeface="Calibri" pitchFamily="34" charset="-120"/>
              </a:rPr>
              <a:t>FFT and filter design — DSP, Sem VI</a:t>
            </a:r>
            <a:endParaRPr lang="en-US" sz="1250" dirty="0"/>
          </a:p>
          <a:p>
            <a:pPr marL="342900" indent="-342900">
              <a:spcAft>
                <a:spcPts val="700"/>
              </a:spcAft>
              <a:buSzPct val="100000"/>
              <a:buChar char="•"/>
            </a:pPr>
            <a:r>
              <a:rPr lang="en-US" sz="1250" dirty="0">
                <a:solidFill>
                  <a:srgbClr val="1E2127"/>
                </a:solidFill>
                <a:latin typeface="Calibri" pitchFamily="34" charset="0"/>
                <a:ea typeface="Calibri" pitchFamily="34" charset="-122"/>
                <a:cs typeface="Calibri" pitchFamily="34" charset="-120"/>
              </a:rPr>
              <a:t>Sampling and aliasing — DSP</a:t>
            </a:r>
            <a:endParaRPr lang="en-US" sz="1250" dirty="0"/>
          </a:p>
          <a:p>
            <a:pPr marL="342900" indent="-342900">
              <a:spcAft>
                <a:spcPts val="700"/>
              </a:spcAft>
              <a:buSzPct val="100000"/>
              <a:buChar char="•"/>
            </a:pPr>
            <a:r>
              <a:rPr lang="en-US" sz="1250" dirty="0">
                <a:solidFill>
                  <a:srgbClr val="1E2127"/>
                </a:solidFill>
                <a:latin typeface="Calibri" pitchFamily="34" charset="0"/>
                <a:ea typeface="Calibri" pitchFamily="34" charset="-122"/>
                <a:cs typeface="Calibri" pitchFamily="34" charset="-120"/>
              </a:rPr>
              <a:t>PID and loops — Control Systems</a:t>
            </a:r>
            <a:endParaRPr lang="en-US" sz="1250" dirty="0"/>
          </a:p>
          <a:p>
            <a:pPr marL="342900" indent="-342900">
              <a:spcAft>
                <a:spcPts val="700"/>
              </a:spcAft>
              <a:buSzPct val="100000"/>
              <a:buChar char="•"/>
            </a:pPr>
            <a:r>
              <a:rPr lang="en-US" sz="1250" dirty="0">
                <a:solidFill>
                  <a:srgbClr val="1E2127"/>
                </a:solidFill>
                <a:latin typeface="Calibri" pitchFamily="34" charset="0"/>
                <a:ea typeface="Calibri" pitchFamily="34" charset="-122"/>
                <a:cs typeface="Calibri" pitchFamily="34" charset="-120"/>
              </a:rPr>
              <a:t>PLC, DCS, SCADA — Industrial Automation</a:t>
            </a:r>
            <a:endParaRPr lang="en-US" sz="1250" dirty="0"/>
          </a:p>
          <a:p>
            <a:pPr marL="342900" indent="-342900">
              <a:spcAft>
                <a:spcPts val="700"/>
              </a:spcAft>
              <a:buSzPct val="100000"/>
              <a:buChar char="•"/>
            </a:pPr>
            <a:r>
              <a:rPr lang="en-US" sz="1250" dirty="0">
                <a:solidFill>
                  <a:srgbClr val="1E2127"/>
                </a:solidFill>
                <a:latin typeface="Calibri" pitchFamily="34" charset="0"/>
                <a:ea typeface="Calibri" pitchFamily="34" charset="-122"/>
                <a:cs typeface="Calibri" pitchFamily="34" charset="-120"/>
              </a:rPr>
              <a:t>MPC — Computer Control of Processes</a:t>
            </a:r>
            <a:endParaRPr lang="en-US" sz="1250" dirty="0"/>
          </a:p>
        </p:txBody>
      </p:sp>
      <p:sp>
        <p:nvSpPr>
          <p:cNvPr id="7" name="Shape 5"/>
          <p:cNvSpPr/>
          <p:nvPr/>
        </p:nvSpPr>
        <p:spPr>
          <a:xfrm>
            <a:off x="4334256" y="1783080"/>
            <a:ext cx="3493008" cy="3886200"/>
          </a:xfrm>
          <a:prstGeom prst="roundRect">
            <a:avLst>
              <a:gd name="adj" fmla="val 785"/>
            </a:avLst>
          </a:prstGeom>
          <a:solidFill>
            <a:srgbClr val="F3F4F6"/>
          </a:solidFill>
          <a:ln w="19050">
            <a:solidFill>
              <a:srgbClr val="C4483A"/>
            </a:solidFill>
            <a:prstDash val="solid"/>
          </a:ln>
        </p:spPr>
      </p:sp>
      <p:sp>
        <p:nvSpPr>
          <p:cNvPr id="8" name="Text 6"/>
          <p:cNvSpPr/>
          <p:nvPr/>
        </p:nvSpPr>
        <p:spPr>
          <a:xfrm>
            <a:off x="4590288" y="2011680"/>
            <a:ext cx="3108960" cy="201168"/>
          </a:xfrm>
          <a:prstGeom prst="rect">
            <a:avLst/>
          </a:prstGeom>
          <a:noFill/>
          <a:ln/>
        </p:spPr>
        <p:txBody>
          <a:bodyPr wrap="square" lIns="0" tIns="0" rIns="0" bIns="0" rtlCol="0" anchor="ctr"/>
          <a:lstStyle/>
          <a:p>
            <a:pPr indent="0" marL="0">
              <a:buNone/>
            </a:pPr>
            <a:r>
              <a:rPr lang="en-US" sz="1000" spc="220" kern="0" dirty="0">
                <a:solidFill>
                  <a:srgbClr val="C4483A"/>
                </a:solidFill>
                <a:latin typeface="Courier New" pitchFamily="34" charset="0"/>
                <a:ea typeface="Courier New" pitchFamily="34" charset="-122"/>
                <a:cs typeface="Courier New" pitchFamily="34" charset="-120"/>
              </a:rPr>
              <a:t>NOT IN YOUR SYLLABUS AT ALL</a:t>
            </a:r>
            <a:endParaRPr lang="en-US" sz="1000" dirty="0"/>
          </a:p>
        </p:txBody>
      </p:sp>
      <p:sp>
        <p:nvSpPr>
          <p:cNvPr id="9" name="Text 7"/>
          <p:cNvSpPr/>
          <p:nvPr/>
        </p:nvSpPr>
        <p:spPr>
          <a:xfrm>
            <a:off x="4590288" y="2359152"/>
            <a:ext cx="3017520" cy="31089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E2127"/>
                </a:solidFill>
                <a:latin typeface="Calibri" pitchFamily="34" charset="0"/>
                <a:ea typeface="Calibri" pitchFamily="34" charset="-122"/>
                <a:cs typeface="Calibri" pitchFamily="34" charset="-120"/>
              </a:rPr>
              <a:t>Hilbert transform and envelope detection</a:t>
            </a:r>
            <a:endParaRPr lang="en-US" sz="1250" dirty="0"/>
          </a:p>
          <a:p>
            <a:pPr marL="342900" indent="-342900">
              <a:spcAft>
                <a:spcPts val="700"/>
              </a:spcAft>
              <a:buSzPct val="100000"/>
              <a:buChar char="•"/>
            </a:pPr>
            <a:r>
              <a:rPr lang="en-US" sz="1250" dirty="0">
                <a:solidFill>
                  <a:srgbClr val="1E2127"/>
                </a:solidFill>
                <a:latin typeface="Calibri" pitchFamily="34" charset="0"/>
                <a:ea typeface="Calibri" pitchFamily="34" charset="-122"/>
                <a:cs typeface="Calibri" pitchFamily="34" charset="-120"/>
              </a:rPr>
              <a:t>Probability and statistics — no course exists</a:t>
            </a:r>
            <a:endParaRPr lang="en-US" sz="1250" dirty="0"/>
          </a:p>
          <a:p>
            <a:pPr marL="342900" indent="-342900">
              <a:spcAft>
                <a:spcPts val="700"/>
              </a:spcAft>
              <a:buSzPct val="100000"/>
              <a:buChar char="•"/>
            </a:pPr>
            <a:r>
              <a:rPr lang="en-US" sz="1250" dirty="0">
                <a:solidFill>
                  <a:srgbClr val="1E2127"/>
                </a:solidFill>
                <a:latin typeface="Calibri" pitchFamily="34" charset="0"/>
                <a:ea typeface="Calibri" pitchFamily="34" charset="-122"/>
                <a:cs typeface="Calibri" pitchFamily="34" charset="-120"/>
              </a:rPr>
              <a:t>Kurtosis and higher-order statistics</a:t>
            </a:r>
            <a:endParaRPr lang="en-US" sz="1250" dirty="0"/>
          </a:p>
          <a:p>
            <a:pPr marL="342900" indent="-342900">
              <a:spcAft>
                <a:spcPts val="700"/>
              </a:spcAft>
              <a:buSzPct val="100000"/>
              <a:buChar char="•"/>
            </a:pPr>
            <a:r>
              <a:rPr lang="en-US" sz="1250" dirty="0">
                <a:solidFill>
                  <a:srgbClr val="1E2127"/>
                </a:solidFill>
                <a:latin typeface="Calibri" pitchFamily="34" charset="0"/>
                <a:ea typeface="Calibri" pitchFamily="34" charset="-122"/>
                <a:cs typeface="Calibri" pitchFamily="34" charset="-120"/>
              </a:rPr>
              <a:t>Vibration analysis and condition monitoring</a:t>
            </a:r>
            <a:endParaRPr lang="en-US" sz="1250" dirty="0"/>
          </a:p>
          <a:p>
            <a:pPr marL="342900" indent="-342900">
              <a:spcAft>
                <a:spcPts val="700"/>
              </a:spcAft>
              <a:buSzPct val="100000"/>
              <a:buChar char="•"/>
            </a:pPr>
            <a:r>
              <a:rPr lang="en-US" sz="1250" dirty="0">
                <a:solidFill>
                  <a:srgbClr val="1E2127"/>
                </a:solidFill>
                <a:latin typeface="Calibri" pitchFamily="34" charset="0"/>
                <a:ea typeface="Calibri" pitchFamily="34" charset="-122"/>
                <a:cs typeface="Calibri" pitchFamily="34" charset="-120"/>
              </a:rPr>
              <a:t>Modbus, OPC UA, MQTT</a:t>
            </a:r>
            <a:endParaRPr lang="en-US" sz="1250" dirty="0"/>
          </a:p>
          <a:p>
            <a:pPr marL="342900" indent="-342900">
              <a:spcAft>
                <a:spcPts val="700"/>
              </a:spcAft>
              <a:buSzPct val="100000"/>
              <a:buChar char="•"/>
            </a:pPr>
            <a:r>
              <a:rPr lang="en-US" sz="1250" dirty="0">
                <a:solidFill>
                  <a:srgbClr val="1E2127"/>
                </a:solidFill>
                <a:latin typeface="Calibri" pitchFamily="34" charset="0"/>
                <a:ea typeface="Calibri" pitchFamily="34" charset="-122"/>
                <a:cs typeface="Calibri" pitchFamily="34" charset="-120"/>
              </a:rPr>
              <a:t>Digital twins, anomaly detection</a:t>
            </a:r>
            <a:endParaRPr lang="en-US" sz="1250" dirty="0"/>
          </a:p>
        </p:txBody>
      </p:sp>
      <p:sp>
        <p:nvSpPr>
          <p:cNvPr id="10" name="Shape 8"/>
          <p:cNvSpPr/>
          <p:nvPr/>
        </p:nvSpPr>
        <p:spPr>
          <a:xfrm>
            <a:off x="8101584" y="1783080"/>
            <a:ext cx="3493008" cy="3886200"/>
          </a:xfrm>
          <a:prstGeom prst="roundRect">
            <a:avLst>
              <a:gd name="adj" fmla="val 785"/>
            </a:avLst>
          </a:prstGeom>
          <a:solidFill>
            <a:srgbClr val="F3F4F6"/>
          </a:solidFill>
          <a:ln w="19050">
            <a:solidFill>
              <a:srgbClr val="E8A33D"/>
            </a:solidFill>
            <a:prstDash val="solid"/>
          </a:ln>
        </p:spPr>
      </p:sp>
      <p:sp>
        <p:nvSpPr>
          <p:cNvPr id="11" name="Text 9"/>
          <p:cNvSpPr/>
          <p:nvPr/>
        </p:nvSpPr>
        <p:spPr>
          <a:xfrm>
            <a:off x="8357616" y="2011680"/>
            <a:ext cx="3108960" cy="201168"/>
          </a:xfrm>
          <a:prstGeom prst="rect">
            <a:avLst/>
          </a:prstGeom>
          <a:noFill/>
          <a:ln/>
        </p:spPr>
        <p:txBody>
          <a:bodyPr wrap="square" lIns="0" tIns="0" rIns="0" bIns="0" rtlCol="0" anchor="ctr"/>
          <a:lstStyle/>
          <a:p>
            <a:pPr indent="0" marL="0">
              <a:buNone/>
            </a:pPr>
            <a:r>
              <a:rPr lang="en-US" sz="1000" spc="220" kern="0" dirty="0">
                <a:solidFill>
                  <a:srgbClr val="E8A33D"/>
                </a:solidFill>
                <a:latin typeface="Courier New" pitchFamily="34" charset="0"/>
                <a:ea typeface="Courier New" pitchFamily="34" charset="-122"/>
                <a:cs typeface="Courier New" pitchFamily="34" charset="-120"/>
              </a:rPr>
              <a:t>ELECTIVE ONLY — WHO TOOK IT?</a:t>
            </a:r>
            <a:endParaRPr lang="en-US" sz="1000" dirty="0"/>
          </a:p>
        </p:txBody>
      </p:sp>
      <p:sp>
        <p:nvSpPr>
          <p:cNvPr id="12" name="Text 10"/>
          <p:cNvSpPr/>
          <p:nvPr/>
        </p:nvSpPr>
        <p:spPr>
          <a:xfrm>
            <a:off x="8357616" y="2359152"/>
            <a:ext cx="3017520" cy="31089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E2127"/>
                </a:solidFill>
                <a:latin typeface="Calibri" pitchFamily="34" charset="0"/>
                <a:ea typeface="Calibri" pitchFamily="34" charset="-122"/>
                <a:cs typeface="Calibri" pitchFamily="34" charset="-120"/>
              </a:rPr>
              <a:t>IEC 61508 → Safety Instrumentation Systems</a:t>
            </a:r>
            <a:endParaRPr lang="en-US" sz="1250" dirty="0"/>
          </a:p>
          <a:p>
            <a:pPr marL="342900" indent="-342900">
              <a:spcAft>
                <a:spcPts val="700"/>
              </a:spcAft>
              <a:buSzPct val="100000"/>
              <a:buChar char="•"/>
            </a:pPr>
            <a:r>
              <a:rPr lang="en-US" sz="1250" dirty="0">
                <a:solidFill>
                  <a:srgbClr val="1E2127"/>
                </a:solidFill>
                <a:latin typeface="Calibri" pitchFamily="34" charset="0"/>
                <a:ea typeface="Calibri" pitchFamily="34" charset="-122"/>
                <a:cs typeface="Calibri" pitchFamily="34" charset="-120"/>
              </a:rPr>
              <a:t>Historians, IIoT data flow → Industrial IoT</a:t>
            </a:r>
            <a:endParaRPr lang="en-US" sz="1250" dirty="0"/>
          </a:p>
          <a:p>
            <a:pPr marL="342900" indent="-342900">
              <a:spcAft>
                <a:spcPts val="700"/>
              </a:spcAft>
              <a:buSzPct val="100000"/>
              <a:buChar char="•"/>
            </a:pPr>
            <a:r>
              <a:rPr lang="en-US" sz="1250" dirty="0">
                <a:solidFill>
                  <a:srgbClr val="1E2127"/>
                </a:solidFill>
                <a:latin typeface="Calibri" pitchFamily="34" charset="0"/>
                <a:ea typeface="Calibri" pitchFamily="34" charset="-122"/>
                <a:cs typeface="Calibri" pitchFamily="34" charset="-120"/>
              </a:rPr>
              <a:t>Machine learning → AI/ML in Healthcare</a:t>
            </a:r>
            <a:endParaRPr lang="en-US" sz="1250" dirty="0"/>
          </a:p>
          <a:p>
            <a:pPr marL="342900" indent="-342900">
              <a:spcAft>
                <a:spcPts val="700"/>
              </a:spcAft>
              <a:buSzPct val="100000"/>
              <a:buChar char="•"/>
            </a:pPr>
            <a:r>
              <a:rPr lang="en-US" sz="1250" dirty="0">
                <a:solidFill>
                  <a:srgbClr val="1E2127"/>
                </a:solidFill>
                <a:latin typeface="Calibri" pitchFamily="34" charset="0"/>
                <a:ea typeface="Calibri" pitchFamily="34" charset="-122"/>
                <a:cs typeface="Calibri" pitchFamily="34" charset="-120"/>
              </a:rPr>
              <a:t>HART, PROFIBUS → Industrial Comm. Networks</a:t>
            </a:r>
            <a:endParaRPr lang="en-US" sz="1250" dirty="0"/>
          </a:p>
        </p:txBody>
      </p:sp>
      <p:sp>
        <p:nvSpPr>
          <p:cNvPr id="13" name="Text 11"/>
          <p:cNvSpPr/>
          <p:nvPr/>
        </p:nvSpPr>
        <p:spPr>
          <a:xfrm>
            <a:off x="566928" y="5852160"/>
            <a:ext cx="11027664" cy="365760"/>
          </a:xfrm>
          <a:prstGeom prst="rect">
            <a:avLst/>
          </a:prstGeom>
          <a:noFill/>
          <a:ln/>
        </p:spPr>
        <p:txBody>
          <a:bodyPr wrap="square" lIns="0" tIns="0" rIns="0" bIns="0" rtlCol="0" anchor="ctr"/>
          <a:lstStyle/>
          <a:p>
            <a:pPr indent="0" marL="0">
              <a:buNone/>
            </a:pPr>
            <a:r>
              <a:rPr lang="en-US" sz="1400" i="1" dirty="0">
                <a:solidFill>
                  <a:srgbClr val="E8A33D"/>
                </a:solidFill>
                <a:latin typeface="Calibri" pitchFamily="34" charset="0"/>
                <a:ea typeface="Calibri" pitchFamily="34" charset="-122"/>
                <a:cs typeface="Calibri" pitchFamily="34" charset="-120"/>
              </a:rPr>
              <a:t>Everything in the middle column is why this talk is worth an hour.</a:t>
            </a:r>
            <a:endParaRPr lang="en-US" sz="1400" dirty="0"/>
          </a:p>
        </p:txBody>
      </p:sp>
      <p:sp>
        <p:nvSpPr>
          <p:cNvPr id="14" name="Text 12"/>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05  ·  YOUR CURRICULUM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PART 1  ·  THE STACK</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The chain has not changed</a:t>
            </a:r>
            <a:endParaRPr lang="en-US" sz="3400" dirty="0"/>
          </a:p>
        </p:txBody>
      </p:sp>
      <p:sp>
        <p:nvSpPr>
          <p:cNvPr id="4" name="Shape 2"/>
          <p:cNvSpPr/>
          <p:nvPr/>
        </p:nvSpPr>
        <p:spPr>
          <a:xfrm>
            <a:off x="566928" y="2148840"/>
            <a:ext cx="1572768" cy="1051560"/>
          </a:xfrm>
          <a:prstGeom prst="roundRect">
            <a:avLst>
              <a:gd name="adj" fmla="val 4348"/>
            </a:avLst>
          </a:prstGeom>
          <a:solidFill>
            <a:srgbClr val="F3F4F6"/>
          </a:solidFill>
          <a:ln w="12700">
            <a:solidFill>
              <a:srgbClr val="E2E5E9"/>
            </a:solidFill>
            <a:prstDash val="solid"/>
          </a:ln>
        </p:spPr>
      </p:sp>
      <p:sp>
        <p:nvSpPr>
          <p:cNvPr id="5" name="Text 3"/>
          <p:cNvSpPr/>
          <p:nvPr/>
        </p:nvSpPr>
        <p:spPr>
          <a:xfrm>
            <a:off x="566928" y="2148840"/>
            <a:ext cx="1572768" cy="1051560"/>
          </a:xfrm>
          <a:prstGeom prst="rect">
            <a:avLst/>
          </a:prstGeom>
          <a:noFill/>
          <a:ln/>
        </p:spPr>
        <p:txBody>
          <a:bodyPr wrap="square" lIns="0" tIns="0" rIns="0" bIns="0" rtlCol="0" anchor="ctr"/>
          <a:lstStyle/>
          <a:p>
            <a:pPr algn="ctr" indent="0" marL="0">
              <a:buNone/>
            </a:pPr>
            <a:r>
              <a:rPr lang="en-US" sz="1350" dirty="0">
                <a:solidFill>
                  <a:srgbClr val="1E2127"/>
                </a:solidFill>
                <a:latin typeface="Calibri" pitchFamily="34" charset="0"/>
                <a:ea typeface="Calibri" pitchFamily="34" charset="-122"/>
                <a:cs typeface="Calibri" pitchFamily="34" charset="-120"/>
              </a:rPr>
              <a:t>Process</a:t>
            </a:r>
            <a:endParaRPr lang="en-US" sz="1350" dirty="0"/>
          </a:p>
        </p:txBody>
      </p:sp>
      <p:sp>
        <p:nvSpPr>
          <p:cNvPr id="6" name="Shape 4"/>
          <p:cNvSpPr/>
          <p:nvPr/>
        </p:nvSpPr>
        <p:spPr>
          <a:xfrm>
            <a:off x="2139696" y="2670048"/>
            <a:ext cx="274320" cy="0"/>
          </a:xfrm>
          <a:prstGeom prst="line">
            <a:avLst/>
          </a:prstGeom>
          <a:noFill/>
          <a:ln w="19050">
            <a:solidFill>
              <a:srgbClr val="6E757F"/>
            </a:solidFill>
            <a:prstDash val="solid"/>
            <a:tailEnd type="triangle"/>
          </a:ln>
        </p:spPr>
      </p:sp>
      <p:sp>
        <p:nvSpPr>
          <p:cNvPr id="7" name="Shape 5"/>
          <p:cNvSpPr/>
          <p:nvPr/>
        </p:nvSpPr>
        <p:spPr>
          <a:xfrm>
            <a:off x="2414016" y="2148840"/>
            <a:ext cx="1572768" cy="1051560"/>
          </a:xfrm>
          <a:prstGeom prst="roundRect">
            <a:avLst>
              <a:gd name="adj" fmla="val 4348"/>
            </a:avLst>
          </a:prstGeom>
          <a:solidFill>
            <a:srgbClr val="F3F4F6"/>
          </a:solidFill>
          <a:ln w="12700">
            <a:solidFill>
              <a:srgbClr val="E2E5E9"/>
            </a:solidFill>
            <a:prstDash val="solid"/>
          </a:ln>
        </p:spPr>
      </p:sp>
      <p:sp>
        <p:nvSpPr>
          <p:cNvPr id="8" name="Text 6"/>
          <p:cNvSpPr/>
          <p:nvPr/>
        </p:nvSpPr>
        <p:spPr>
          <a:xfrm>
            <a:off x="2414016" y="2148840"/>
            <a:ext cx="1572768" cy="1051560"/>
          </a:xfrm>
          <a:prstGeom prst="rect">
            <a:avLst/>
          </a:prstGeom>
          <a:noFill/>
          <a:ln/>
        </p:spPr>
        <p:txBody>
          <a:bodyPr wrap="square" lIns="0" tIns="0" rIns="0" bIns="0" rtlCol="0" anchor="ctr"/>
          <a:lstStyle/>
          <a:p>
            <a:pPr algn="ctr" indent="0" marL="0">
              <a:buNone/>
            </a:pPr>
            <a:r>
              <a:rPr lang="en-US" sz="1350" dirty="0">
                <a:solidFill>
                  <a:srgbClr val="1E2127"/>
                </a:solidFill>
                <a:latin typeface="Calibri" pitchFamily="34" charset="0"/>
                <a:ea typeface="Calibri" pitchFamily="34" charset="-122"/>
                <a:cs typeface="Calibri" pitchFamily="34" charset="-120"/>
              </a:rPr>
              <a:t>Sensor</a:t>
            </a:r>
            <a:endParaRPr lang="en-US" sz="1350" dirty="0"/>
          </a:p>
        </p:txBody>
      </p:sp>
      <p:sp>
        <p:nvSpPr>
          <p:cNvPr id="9" name="Shape 7"/>
          <p:cNvSpPr/>
          <p:nvPr/>
        </p:nvSpPr>
        <p:spPr>
          <a:xfrm>
            <a:off x="3986784" y="2670048"/>
            <a:ext cx="274320" cy="0"/>
          </a:xfrm>
          <a:prstGeom prst="line">
            <a:avLst/>
          </a:prstGeom>
          <a:noFill/>
          <a:ln w="19050">
            <a:solidFill>
              <a:srgbClr val="6E757F"/>
            </a:solidFill>
            <a:prstDash val="solid"/>
            <a:tailEnd type="triangle"/>
          </a:ln>
        </p:spPr>
      </p:sp>
      <p:sp>
        <p:nvSpPr>
          <p:cNvPr id="10" name="Shape 8"/>
          <p:cNvSpPr/>
          <p:nvPr/>
        </p:nvSpPr>
        <p:spPr>
          <a:xfrm>
            <a:off x="4261104" y="2148840"/>
            <a:ext cx="1572768" cy="1051560"/>
          </a:xfrm>
          <a:prstGeom prst="roundRect">
            <a:avLst>
              <a:gd name="adj" fmla="val 4348"/>
            </a:avLst>
          </a:prstGeom>
          <a:solidFill>
            <a:srgbClr val="F3F4F6"/>
          </a:solidFill>
          <a:ln w="12700">
            <a:solidFill>
              <a:srgbClr val="E2E5E9"/>
            </a:solidFill>
            <a:prstDash val="solid"/>
          </a:ln>
        </p:spPr>
      </p:sp>
      <p:sp>
        <p:nvSpPr>
          <p:cNvPr id="11" name="Text 9"/>
          <p:cNvSpPr/>
          <p:nvPr/>
        </p:nvSpPr>
        <p:spPr>
          <a:xfrm>
            <a:off x="4261104" y="2148840"/>
            <a:ext cx="1572768" cy="1051560"/>
          </a:xfrm>
          <a:prstGeom prst="rect">
            <a:avLst/>
          </a:prstGeom>
          <a:noFill/>
          <a:ln/>
        </p:spPr>
        <p:txBody>
          <a:bodyPr wrap="square" lIns="0" tIns="0" rIns="0" bIns="0" rtlCol="0" anchor="ctr"/>
          <a:lstStyle/>
          <a:p>
            <a:pPr algn="ctr" indent="0" marL="0">
              <a:buNone/>
            </a:pPr>
            <a:r>
              <a:rPr lang="en-US" sz="1350" dirty="0">
                <a:solidFill>
                  <a:srgbClr val="1E2127"/>
                </a:solidFill>
                <a:latin typeface="Calibri" pitchFamily="34" charset="0"/>
                <a:ea typeface="Calibri" pitchFamily="34" charset="-122"/>
                <a:cs typeface="Calibri" pitchFamily="34" charset="-120"/>
              </a:rPr>
              <a:t>Signal</a:t>
            </a:r>
            <a:endParaRPr lang="en-US" sz="1350" dirty="0"/>
          </a:p>
          <a:p>
            <a:pPr algn="ctr" indent="0" marL="0">
              <a:buNone/>
            </a:pPr>
            <a:r>
              <a:rPr lang="en-US" sz="1350" dirty="0">
                <a:solidFill>
                  <a:srgbClr val="1E2127"/>
                </a:solidFill>
                <a:latin typeface="Calibri" pitchFamily="34" charset="0"/>
                <a:ea typeface="Calibri" pitchFamily="34" charset="-122"/>
                <a:cs typeface="Calibri" pitchFamily="34" charset="-120"/>
              </a:rPr>
              <a:t>conditioning</a:t>
            </a:r>
            <a:endParaRPr lang="en-US" sz="1350" dirty="0"/>
          </a:p>
        </p:txBody>
      </p:sp>
      <p:sp>
        <p:nvSpPr>
          <p:cNvPr id="12" name="Shape 10"/>
          <p:cNvSpPr/>
          <p:nvPr/>
        </p:nvSpPr>
        <p:spPr>
          <a:xfrm>
            <a:off x="5833872" y="2670048"/>
            <a:ext cx="274320" cy="0"/>
          </a:xfrm>
          <a:prstGeom prst="line">
            <a:avLst/>
          </a:prstGeom>
          <a:noFill/>
          <a:ln w="19050">
            <a:solidFill>
              <a:srgbClr val="6E757F"/>
            </a:solidFill>
            <a:prstDash val="solid"/>
            <a:tailEnd type="triangle"/>
          </a:ln>
        </p:spPr>
      </p:sp>
      <p:sp>
        <p:nvSpPr>
          <p:cNvPr id="13" name="Shape 11"/>
          <p:cNvSpPr/>
          <p:nvPr/>
        </p:nvSpPr>
        <p:spPr>
          <a:xfrm>
            <a:off x="6108192" y="2148840"/>
            <a:ext cx="1572768" cy="1051560"/>
          </a:xfrm>
          <a:prstGeom prst="roundRect">
            <a:avLst>
              <a:gd name="adj" fmla="val 4348"/>
            </a:avLst>
          </a:prstGeom>
          <a:solidFill>
            <a:srgbClr val="F3F4F6"/>
          </a:solidFill>
          <a:ln w="12700">
            <a:solidFill>
              <a:srgbClr val="E2E5E9"/>
            </a:solidFill>
            <a:prstDash val="solid"/>
          </a:ln>
        </p:spPr>
      </p:sp>
      <p:sp>
        <p:nvSpPr>
          <p:cNvPr id="14" name="Text 12"/>
          <p:cNvSpPr/>
          <p:nvPr/>
        </p:nvSpPr>
        <p:spPr>
          <a:xfrm>
            <a:off x="6108192" y="2148840"/>
            <a:ext cx="1572768" cy="1051560"/>
          </a:xfrm>
          <a:prstGeom prst="rect">
            <a:avLst/>
          </a:prstGeom>
          <a:noFill/>
          <a:ln/>
        </p:spPr>
        <p:txBody>
          <a:bodyPr wrap="square" lIns="0" tIns="0" rIns="0" bIns="0" rtlCol="0" anchor="ctr"/>
          <a:lstStyle/>
          <a:p>
            <a:pPr algn="ctr" indent="0" marL="0">
              <a:buNone/>
            </a:pPr>
            <a:r>
              <a:rPr lang="en-US" sz="1350" dirty="0">
                <a:solidFill>
                  <a:srgbClr val="1E2127"/>
                </a:solidFill>
                <a:latin typeface="Calibri" pitchFamily="34" charset="0"/>
                <a:ea typeface="Calibri" pitchFamily="34" charset="-122"/>
                <a:cs typeface="Calibri" pitchFamily="34" charset="-120"/>
              </a:rPr>
              <a:t>ADC</a:t>
            </a:r>
            <a:endParaRPr lang="en-US" sz="1350" dirty="0"/>
          </a:p>
        </p:txBody>
      </p:sp>
      <p:sp>
        <p:nvSpPr>
          <p:cNvPr id="15" name="Shape 13"/>
          <p:cNvSpPr/>
          <p:nvPr/>
        </p:nvSpPr>
        <p:spPr>
          <a:xfrm>
            <a:off x="7680960" y="2670048"/>
            <a:ext cx="274320" cy="0"/>
          </a:xfrm>
          <a:prstGeom prst="line">
            <a:avLst/>
          </a:prstGeom>
          <a:noFill/>
          <a:ln w="19050">
            <a:solidFill>
              <a:srgbClr val="6E757F"/>
            </a:solidFill>
            <a:prstDash val="solid"/>
            <a:tailEnd type="triangle"/>
          </a:ln>
        </p:spPr>
      </p:sp>
      <p:sp>
        <p:nvSpPr>
          <p:cNvPr id="16" name="Shape 14"/>
          <p:cNvSpPr/>
          <p:nvPr/>
        </p:nvSpPr>
        <p:spPr>
          <a:xfrm>
            <a:off x="7955280" y="2148840"/>
            <a:ext cx="1572768" cy="1051560"/>
          </a:xfrm>
          <a:prstGeom prst="roundRect">
            <a:avLst>
              <a:gd name="adj" fmla="val 4348"/>
            </a:avLst>
          </a:prstGeom>
          <a:solidFill>
            <a:srgbClr val="16181C"/>
          </a:solidFill>
          <a:ln w="12700">
            <a:solidFill>
              <a:srgbClr val="16181C"/>
            </a:solidFill>
            <a:prstDash val="solid"/>
          </a:ln>
        </p:spPr>
      </p:sp>
      <p:sp>
        <p:nvSpPr>
          <p:cNvPr id="17" name="Text 15"/>
          <p:cNvSpPr/>
          <p:nvPr/>
        </p:nvSpPr>
        <p:spPr>
          <a:xfrm>
            <a:off x="7955280" y="2148840"/>
            <a:ext cx="1572768" cy="10515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Controller</a:t>
            </a:r>
            <a:endParaRPr lang="en-US" sz="1350" dirty="0"/>
          </a:p>
        </p:txBody>
      </p:sp>
      <p:sp>
        <p:nvSpPr>
          <p:cNvPr id="18" name="Shape 16"/>
          <p:cNvSpPr/>
          <p:nvPr/>
        </p:nvSpPr>
        <p:spPr>
          <a:xfrm>
            <a:off x="9528048" y="2670048"/>
            <a:ext cx="274320" cy="0"/>
          </a:xfrm>
          <a:prstGeom prst="line">
            <a:avLst/>
          </a:prstGeom>
          <a:noFill/>
          <a:ln w="19050">
            <a:solidFill>
              <a:srgbClr val="6E757F"/>
            </a:solidFill>
            <a:prstDash val="solid"/>
            <a:tailEnd type="triangle"/>
          </a:ln>
        </p:spPr>
      </p:sp>
      <p:sp>
        <p:nvSpPr>
          <p:cNvPr id="19" name="Shape 17"/>
          <p:cNvSpPr/>
          <p:nvPr/>
        </p:nvSpPr>
        <p:spPr>
          <a:xfrm>
            <a:off x="9802368" y="2148840"/>
            <a:ext cx="1572768" cy="1051560"/>
          </a:xfrm>
          <a:prstGeom prst="roundRect">
            <a:avLst>
              <a:gd name="adj" fmla="val 4348"/>
            </a:avLst>
          </a:prstGeom>
          <a:solidFill>
            <a:srgbClr val="F3F4F6"/>
          </a:solidFill>
          <a:ln w="12700">
            <a:solidFill>
              <a:srgbClr val="E2E5E9"/>
            </a:solidFill>
            <a:prstDash val="solid"/>
          </a:ln>
        </p:spPr>
      </p:sp>
      <p:sp>
        <p:nvSpPr>
          <p:cNvPr id="20" name="Text 18"/>
          <p:cNvSpPr/>
          <p:nvPr/>
        </p:nvSpPr>
        <p:spPr>
          <a:xfrm>
            <a:off x="9802368" y="2148840"/>
            <a:ext cx="1572768" cy="1051560"/>
          </a:xfrm>
          <a:prstGeom prst="rect">
            <a:avLst/>
          </a:prstGeom>
          <a:noFill/>
          <a:ln/>
        </p:spPr>
        <p:txBody>
          <a:bodyPr wrap="square" lIns="0" tIns="0" rIns="0" bIns="0" rtlCol="0" anchor="ctr"/>
          <a:lstStyle/>
          <a:p>
            <a:pPr algn="ctr" indent="0" marL="0">
              <a:buNone/>
            </a:pPr>
            <a:r>
              <a:rPr lang="en-US" sz="1350" dirty="0">
                <a:solidFill>
                  <a:srgbClr val="1E2127"/>
                </a:solidFill>
                <a:latin typeface="Calibri" pitchFamily="34" charset="0"/>
                <a:ea typeface="Calibri" pitchFamily="34" charset="-122"/>
                <a:cs typeface="Calibri" pitchFamily="34" charset="-120"/>
              </a:rPr>
              <a:t>Actuator</a:t>
            </a:r>
            <a:endParaRPr lang="en-US" sz="1350" dirty="0"/>
          </a:p>
        </p:txBody>
      </p:sp>
      <p:sp>
        <p:nvSpPr>
          <p:cNvPr id="21" name="Shape 19"/>
          <p:cNvSpPr/>
          <p:nvPr/>
        </p:nvSpPr>
        <p:spPr>
          <a:xfrm>
            <a:off x="1353312" y="3200400"/>
            <a:ext cx="0" cy="384048"/>
          </a:xfrm>
          <a:prstGeom prst="line">
            <a:avLst/>
          </a:prstGeom>
          <a:noFill/>
          <a:ln w="15875">
            <a:solidFill>
              <a:srgbClr val="6E757F"/>
            </a:solidFill>
            <a:prstDash val="solid"/>
          </a:ln>
        </p:spPr>
      </p:sp>
      <p:sp>
        <p:nvSpPr>
          <p:cNvPr id="22" name="Shape 20"/>
          <p:cNvSpPr/>
          <p:nvPr/>
        </p:nvSpPr>
        <p:spPr>
          <a:xfrm>
            <a:off x="1353312" y="3584448"/>
            <a:ext cx="9363456" cy="0"/>
          </a:xfrm>
          <a:prstGeom prst="line">
            <a:avLst/>
          </a:prstGeom>
          <a:noFill/>
          <a:ln w="15875">
            <a:solidFill>
              <a:srgbClr val="6E757F"/>
            </a:solidFill>
            <a:prstDash val="solid"/>
          </a:ln>
        </p:spPr>
      </p:sp>
      <p:sp>
        <p:nvSpPr>
          <p:cNvPr id="23" name="Shape 21"/>
          <p:cNvSpPr/>
          <p:nvPr/>
        </p:nvSpPr>
        <p:spPr>
          <a:xfrm>
            <a:off x="10716768" y="3200400"/>
            <a:ext cx="0" cy="384048"/>
          </a:xfrm>
          <a:prstGeom prst="line">
            <a:avLst/>
          </a:prstGeom>
          <a:noFill/>
          <a:ln w="15875">
            <a:solidFill>
              <a:srgbClr val="6E757F"/>
            </a:solidFill>
            <a:prstDash val="solid"/>
            <a:headEnd type="triangle"/>
          </a:ln>
        </p:spPr>
      </p:sp>
      <p:sp>
        <p:nvSpPr>
          <p:cNvPr id="24" name="Shape 22"/>
          <p:cNvSpPr/>
          <p:nvPr/>
        </p:nvSpPr>
        <p:spPr>
          <a:xfrm>
            <a:off x="566928" y="4114800"/>
            <a:ext cx="11027664" cy="1554480"/>
          </a:xfrm>
          <a:prstGeom prst="roundRect">
            <a:avLst>
              <a:gd name="adj" fmla="val 1765"/>
            </a:avLst>
          </a:prstGeom>
          <a:solidFill>
            <a:srgbClr val="F3F4F6"/>
          </a:solidFill>
          <a:ln w="12700">
            <a:solidFill>
              <a:srgbClr val="E2E5E9"/>
            </a:solidFill>
            <a:prstDash val="solid"/>
          </a:ln>
        </p:spPr>
      </p:sp>
      <p:sp>
        <p:nvSpPr>
          <p:cNvPr id="25" name="Text 23"/>
          <p:cNvSpPr/>
          <p:nvPr/>
        </p:nvSpPr>
        <p:spPr>
          <a:xfrm>
            <a:off x="841248" y="4343400"/>
            <a:ext cx="73152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WHY 4-20 mA IS STILL 4-20 mA</a:t>
            </a:r>
            <a:endParaRPr lang="en-US" sz="1000" dirty="0"/>
          </a:p>
        </p:txBody>
      </p:sp>
      <p:sp>
        <p:nvSpPr>
          <p:cNvPr id="26" name="Text 24"/>
          <p:cNvSpPr/>
          <p:nvPr/>
        </p:nvSpPr>
        <p:spPr>
          <a:xfrm>
            <a:off x="841248" y="4645152"/>
            <a:ext cx="10424160" cy="914400"/>
          </a:xfrm>
          <a:prstGeom prst="rect">
            <a:avLst/>
          </a:prstGeom>
          <a:noFill/>
          <a:ln/>
        </p:spPr>
        <p:txBody>
          <a:bodyPr wrap="square" lIns="0" tIns="0" rIns="0" bIns="0" rtlCol="0" anchor="t"/>
          <a:lstStyle/>
          <a:p>
            <a:pPr indent="0" marL="0">
              <a:lnSpc>
                <a:spcPct val="115000"/>
              </a:lnSpc>
              <a:buNone/>
            </a:pPr>
            <a:r>
              <a:rPr lang="en-US" sz="1400" dirty="0">
                <a:solidFill>
                  <a:srgbClr val="1E2127"/>
                </a:solidFill>
                <a:latin typeface="Calibri" pitchFamily="34" charset="0"/>
                <a:ea typeface="Calibri" pitchFamily="34" charset="-122"/>
                <a:cs typeface="Calibri" pitchFamily="34" charset="-120"/>
              </a:rPr>
              <a:t>Current, not voltage, because current does not care about lead resistance. Live zero at 4 mA so you can tell "reading zero" apart from "the wire is broken." That was good engineering in 1955 and it is good engineering now. HART still rides digital data on top of it. AI does not delete any of this — it sits on top of it.</a:t>
            </a:r>
            <a:endParaRPr lang="en-US" sz="1400" dirty="0"/>
          </a:p>
        </p:txBody>
      </p:sp>
      <p:sp>
        <p:nvSpPr>
          <p:cNvPr id="27" name="Text 25"/>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06  ·  THE STACK</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PART 1  ·  PURDUE MODEL</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Where the layers sit</a:t>
            </a:r>
            <a:endParaRPr lang="en-US" sz="3400" dirty="0"/>
          </a:p>
        </p:txBody>
      </p:sp>
      <p:sp>
        <p:nvSpPr>
          <p:cNvPr id="4" name="Shape 2"/>
          <p:cNvSpPr/>
          <p:nvPr/>
        </p:nvSpPr>
        <p:spPr>
          <a:xfrm>
            <a:off x="566928" y="1828800"/>
            <a:ext cx="11027664" cy="658368"/>
          </a:xfrm>
          <a:prstGeom prst="roundRect">
            <a:avLst>
              <a:gd name="adj" fmla="val 4167"/>
            </a:avLst>
          </a:prstGeom>
          <a:solidFill>
            <a:srgbClr val="F3F4F6"/>
          </a:solidFill>
          <a:ln w="12700">
            <a:solidFill>
              <a:srgbClr val="E2E5E9"/>
            </a:solidFill>
            <a:prstDash val="solid"/>
          </a:ln>
        </p:spPr>
      </p:sp>
      <p:sp>
        <p:nvSpPr>
          <p:cNvPr id="5" name="Text 3"/>
          <p:cNvSpPr/>
          <p:nvPr/>
        </p:nvSpPr>
        <p:spPr>
          <a:xfrm>
            <a:off x="749808" y="1828800"/>
            <a:ext cx="777240" cy="658368"/>
          </a:xfrm>
          <a:prstGeom prst="rect">
            <a:avLst/>
          </a:prstGeom>
          <a:noFill/>
          <a:ln/>
        </p:spPr>
        <p:txBody>
          <a:bodyPr wrap="square" lIns="0" tIns="0" rIns="0" bIns="0" rtlCol="0" anchor="ctr"/>
          <a:lstStyle/>
          <a:p>
            <a:pPr algn="ctr" indent="0" marL="0">
              <a:buNone/>
            </a:pPr>
            <a:r>
              <a:rPr lang="en-US" sz="1500" b="1" dirty="0">
                <a:solidFill>
                  <a:srgbClr val="6E757F"/>
                </a:solidFill>
                <a:latin typeface="Courier New" pitchFamily="34" charset="0"/>
                <a:ea typeface="Courier New" pitchFamily="34" charset="-122"/>
                <a:cs typeface="Courier New" pitchFamily="34" charset="-120"/>
              </a:rPr>
              <a:t>4 / 5</a:t>
            </a:r>
            <a:endParaRPr lang="en-US" sz="1500" dirty="0"/>
          </a:p>
        </p:txBody>
      </p:sp>
      <p:sp>
        <p:nvSpPr>
          <p:cNvPr id="6" name="Text 4"/>
          <p:cNvSpPr/>
          <p:nvPr/>
        </p:nvSpPr>
        <p:spPr>
          <a:xfrm>
            <a:off x="1618488" y="1828800"/>
            <a:ext cx="2377440" cy="658368"/>
          </a:xfrm>
          <a:prstGeom prst="rect">
            <a:avLst/>
          </a:prstGeom>
          <a:noFill/>
          <a:ln/>
        </p:spPr>
        <p:txBody>
          <a:bodyPr wrap="square" lIns="0" tIns="0" rIns="0" bIns="0" rtlCol="0" anchor="ctr"/>
          <a:lstStyle/>
          <a:p>
            <a:pPr indent="0" marL="0">
              <a:buNone/>
            </a:pPr>
            <a:r>
              <a:rPr lang="en-US" sz="1500" b="1" dirty="0">
                <a:solidFill>
                  <a:srgbClr val="1E2127"/>
                </a:solidFill>
                <a:latin typeface="Calibri" pitchFamily="34" charset="0"/>
                <a:ea typeface="Calibri" pitchFamily="34" charset="-122"/>
                <a:cs typeface="Calibri" pitchFamily="34" charset="-120"/>
              </a:rPr>
              <a:t>Enterprise IT</a:t>
            </a:r>
            <a:endParaRPr lang="en-US" sz="1500" dirty="0"/>
          </a:p>
        </p:txBody>
      </p:sp>
      <p:sp>
        <p:nvSpPr>
          <p:cNvPr id="7" name="Text 5"/>
          <p:cNvSpPr/>
          <p:nvPr/>
        </p:nvSpPr>
        <p:spPr>
          <a:xfrm>
            <a:off x="4087368" y="1828800"/>
            <a:ext cx="5120640" cy="658368"/>
          </a:xfrm>
          <a:prstGeom prst="rect">
            <a:avLst/>
          </a:prstGeom>
          <a:noFill/>
          <a:ln/>
        </p:spPr>
        <p:txBody>
          <a:bodyPr wrap="square" lIns="0" tIns="0" rIns="0" bIns="0" rtlCol="0" anchor="ctr"/>
          <a:lstStyle/>
          <a:p>
            <a:pPr indent="0" marL="0">
              <a:buNone/>
            </a:pPr>
            <a:r>
              <a:rPr lang="en-US" sz="1400" dirty="0">
                <a:solidFill>
                  <a:srgbClr val="6E757F"/>
                </a:solidFill>
                <a:latin typeface="Calibri" pitchFamily="34" charset="0"/>
                <a:ea typeface="Calibri" pitchFamily="34" charset="-122"/>
                <a:cs typeface="Calibri" pitchFamily="34" charset="-120"/>
              </a:rPr>
              <a:t>ERP, cloud, data lake</a:t>
            </a:r>
            <a:endParaRPr lang="en-US" sz="1400" dirty="0"/>
          </a:p>
        </p:txBody>
      </p:sp>
      <p:sp>
        <p:nvSpPr>
          <p:cNvPr id="8" name="Text 6"/>
          <p:cNvSpPr/>
          <p:nvPr/>
        </p:nvSpPr>
        <p:spPr>
          <a:xfrm>
            <a:off x="9253728" y="1828800"/>
            <a:ext cx="2148840" cy="658368"/>
          </a:xfrm>
          <a:prstGeom prst="rect">
            <a:avLst/>
          </a:prstGeom>
          <a:noFill/>
          <a:ln/>
        </p:spPr>
        <p:txBody>
          <a:bodyPr wrap="square" lIns="0" tIns="0" rIns="0" bIns="0" rtlCol="0" anchor="ctr"/>
          <a:lstStyle/>
          <a:p>
            <a:pPr algn="r" indent="0" marL="0">
              <a:buNone/>
            </a:pPr>
            <a:r>
              <a:rPr lang="en-US" sz="1200" dirty="0">
                <a:solidFill>
                  <a:srgbClr val="6E757F"/>
                </a:solidFill>
                <a:latin typeface="Courier New" pitchFamily="34" charset="0"/>
                <a:ea typeface="Courier New" pitchFamily="34" charset="-122"/>
                <a:cs typeface="Courier New" pitchFamily="34" charset="-120"/>
              </a:rPr>
              <a:t>minutes to hours</a:t>
            </a:r>
            <a:endParaRPr lang="en-US" sz="1200" dirty="0"/>
          </a:p>
        </p:txBody>
      </p:sp>
      <p:sp>
        <p:nvSpPr>
          <p:cNvPr id="9" name="Shape 7"/>
          <p:cNvSpPr/>
          <p:nvPr/>
        </p:nvSpPr>
        <p:spPr>
          <a:xfrm>
            <a:off x="566928" y="2587752"/>
            <a:ext cx="11027664" cy="658368"/>
          </a:xfrm>
          <a:prstGeom prst="roundRect">
            <a:avLst>
              <a:gd name="adj" fmla="val 4167"/>
            </a:avLst>
          </a:prstGeom>
          <a:solidFill>
            <a:srgbClr val="F3F4F6"/>
          </a:solidFill>
          <a:ln w="12700">
            <a:solidFill>
              <a:srgbClr val="E2E5E9"/>
            </a:solidFill>
            <a:prstDash val="solid"/>
          </a:ln>
        </p:spPr>
      </p:sp>
      <p:sp>
        <p:nvSpPr>
          <p:cNvPr id="10" name="Text 8"/>
          <p:cNvSpPr/>
          <p:nvPr/>
        </p:nvSpPr>
        <p:spPr>
          <a:xfrm>
            <a:off x="749808" y="2587752"/>
            <a:ext cx="777240" cy="658368"/>
          </a:xfrm>
          <a:prstGeom prst="rect">
            <a:avLst/>
          </a:prstGeom>
          <a:noFill/>
          <a:ln/>
        </p:spPr>
        <p:txBody>
          <a:bodyPr wrap="square" lIns="0" tIns="0" rIns="0" bIns="0" rtlCol="0" anchor="ctr"/>
          <a:lstStyle/>
          <a:p>
            <a:pPr algn="ctr" indent="0" marL="0">
              <a:buNone/>
            </a:pPr>
            <a:r>
              <a:rPr lang="en-US" sz="1500" b="1" dirty="0">
                <a:solidFill>
                  <a:srgbClr val="6E757F"/>
                </a:solidFill>
                <a:latin typeface="Courier New" pitchFamily="34" charset="0"/>
                <a:ea typeface="Courier New" pitchFamily="34" charset="-122"/>
                <a:cs typeface="Courier New" pitchFamily="34" charset="-120"/>
              </a:rPr>
              <a:t>3</a:t>
            </a:r>
            <a:endParaRPr lang="en-US" sz="1500" dirty="0"/>
          </a:p>
        </p:txBody>
      </p:sp>
      <p:sp>
        <p:nvSpPr>
          <p:cNvPr id="11" name="Text 9"/>
          <p:cNvSpPr/>
          <p:nvPr/>
        </p:nvSpPr>
        <p:spPr>
          <a:xfrm>
            <a:off x="1618488" y="2587752"/>
            <a:ext cx="2377440" cy="658368"/>
          </a:xfrm>
          <a:prstGeom prst="rect">
            <a:avLst/>
          </a:prstGeom>
          <a:noFill/>
          <a:ln/>
        </p:spPr>
        <p:txBody>
          <a:bodyPr wrap="square" lIns="0" tIns="0" rIns="0" bIns="0" rtlCol="0" anchor="ctr"/>
          <a:lstStyle/>
          <a:p>
            <a:pPr indent="0" marL="0">
              <a:buNone/>
            </a:pPr>
            <a:r>
              <a:rPr lang="en-US" sz="1500" b="1" dirty="0">
                <a:solidFill>
                  <a:srgbClr val="1E2127"/>
                </a:solidFill>
                <a:latin typeface="Calibri" pitchFamily="34" charset="0"/>
                <a:ea typeface="Calibri" pitchFamily="34" charset="-122"/>
                <a:cs typeface="Calibri" pitchFamily="34" charset="-120"/>
              </a:rPr>
              <a:t>Site operations</a:t>
            </a:r>
            <a:endParaRPr lang="en-US" sz="1500" dirty="0"/>
          </a:p>
        </p:txBody>
      </p:sp>
      <p:sp>
        <p:nvSpPr>
          <p:cNvPr id="12" name="Text 10"/>
          <p:cNvSpPr/>
          <p:nvPr/>
        </p:nvSpPr>
        <p:spPr>
          <a:xfrm>
            <a:off x="4087368" y="2587752"/>
            <a:ext cx="5120640" cy="658368"/>
          </a:xfrm>
          <a:prstGeom prst="rect">
            <a:avLst/>
          </a:prstGeom>
          <a:noFill/>
          <a:ln/>
        </p:spPr>
        <p:txBody>
          <a:bodyPr wrap="square" lIns="0" tIns="0" rIns="0" bIns="0" rtlCol="0" anchor="ctr"/>
          <a:lstStyle/>
          <a:p>
            <a:pPr indent="0" marL="0">
              <a:buNone/>
            </a:pPr>
            <a:r>
              <a:rPr lang="en-US" sz="1400" dirty="0">
                <a:solidFill>
                  <a:srgbClr val="6E757F"/>
                </a:solidFill>
                <a:latin typeface="Calibri" pitchFamily="34" charset="0"/>
                <a:ea typeface="Calibri" pitchFamily="34" charset="-122"/>
                <a:cs typeface="Calibri" pitchFamily="34" charset="-120"/>
              </a:rPr>
              <a:t>Historian, MES, batch records</a:t>
            </a:r>
            <a:endParaRPr lang="en-US" sz="1400" dirty="0"/>
          </a:p>
        </p:txBody>
      </p:sp>
      <p:sp>
        <p:nvSpPr>
          <p:cNvPr id="13" name="Text 11"/>
          <p:cNvSpPr/>
          <p:nvPr/>
        </p:nvSpPr>
        <p:spPr>
          <a:xfrm>
            <a:off x="9253728" y="2587752"/>
            <a:ext cx="2148840" cy="658368"/>
          </a:xfrm>
          <a:prstGeom prst="rect">
            <a:avLst/>
          </a:prstGeom>
          <a:noFill/>
          <a:ln/>
        </p:spPr>
        <p:txBody>
          <a:bodyPr wrap="square" lIns="0" tIns="0" rIns="0" bIns="0" rtlCol="0" anchor="ctr"/>
          <a:lstStyle/>
          <a:p>
            <a:pPr algn="r" indent="0" marL="0">
              <a:buNone/>
            </a:pPr>
            <a:r>
              <a:rPr lang="en-US" sz="1200" dirty="0">
                <a:solidFill>
                  <a:srgbClr val="6E757F"/>
                </a:solidFill>
                <a:latin typeface="Courier New" pitchFamily="34" charset="0"/>
                <a:ea typeface="Courier New" pitchFamily="34" charset="-122"/>
                <a:cs typeface="Courier New" pitchFamily="34" charset="-120"/>
              </a:rPr>
              <a:t>seconds to minutes</a:t>
            </a:r>
            <a:endParaRPr lang="en-US" sz="1200" dirty="0"/>
          </a:p>
        </p:txBody>
      </p:sp>
      <p:sp>
        <p:nvSpPr>
          <p:cNvPr id="14" name="Shape 12"/>
          <p:cNvSpPr/>
          <p:nvPr/>
        </p:nvSpPr>
        <p:spPr>
          <a:xfrm>
            <a:off x="566928" y="3346704"/>
            <a:ext cx="11027664" cy="658368"/>
          </a:xfrm>
          <a:prstGeom prst="roundRect">
            <a:avLst>
              <a:gd name="adj" fmla="val 4167"/>
            </a:avLst>
          </a:prstGeom>
          <a:solidFill>
            <a:srgbClr val="F3F4F6"/>
          </a:solidFill>
          <a:ln w="12700">
            <a:solidFill>
              <a:srgbClr val="E2E5E9"/>
            </a:solidFill>
            <a:prstDash val="solid"/>
          </a:ln>
        </p:spPr>
      </p:sp>
      <p:sp>
        <p:nvSpPr>
          <p:cNvPr id="15" name="Text 13"/>
          <p:cNvSpPr/>
          <p:nvPr/>
        </p:nvSpPr>
        <p:spPr>
          <a:xfrm>
            <a:off x="749808" y="3346704"/>
            <a:ext cx="777240" cy="658368"/>
          </a:xfrm>
          <a:prstGeom prst="rect">
            <a:avLst/>
          </a:prstGeom>
          <a:noFill/>
          <a:ln/>
        </p:spPr>
        <p:txBody>
          <a:bodyPr wrap="square" lIns="0" tIns="0" rIns="0" bIns="0" rtlCol="0" anchor="ctr"/>
          <a:lstStyle/>
          <a:p>
            <a:pPr algn="ctr" indent="0" marL="0">
              <a:buNone/>
            </a:pPr>
            <a:r>
              <a:rPr lang="en-US" sz="1500" b="1" dirty="0">
                <a:solidFill>
                  <a:srgbClr val="8A7CC2"/>
                </a:solidFill>
                <a:latin typeface="Courier New" pitchFamily="34" charset="0"/>
                <a:ea typeface="Courier New" pitchFamily="34" charset="-122"/>
                <a:cs typeface="Courier New" pitchFamily="34" charset="-120"/>
              </a:rPr>
              <a:t>2</a:t>
            </a:r>
            <a:endParaRPr lang="en-US" sz="1500" dirty="0"/>
          </a:p>
        </p:txBody>
      </p:sp>
      <p:sp>
        <p:nvSpPr>
          <p:cNvPr id="16" name="Text 14"/>
          <p:cNvSpPr/>
          <p:nvPr/>
        </p:nvSpPr>
        <p:spPr>
          <a:xfrm>
            <a:off x="1618488" y="3346704"/>
            <a:ext cx="2377440" cy="658368"/>
          </a:xfrm>
          <a:prstGeom prst="rect">
            <a:avLst/>
          </a:prstGeom>
          <a:noFill/>
          <a:ln/>
        </p:spPr>
        <p:txBody>
          <a:bodyPr wrap="square" lIns="0" tIns="0" rIns="0" bIns="0" rtlCol="0" anchor="ctr"/>
          <a:lstStyle/>
          <a:p>
            <a:pPr indent="0" marL="0">
              <a:buNone/>
            </a:pPr>
            <a:r>
              <a:rPr lang="en-US" sz="1500" b="1" dirty="0">
                <a:solidFill>
                  <a:srgbClr val="1E2127"/>
                </a:solidFill>
                <a:latin typeface="Calibri" pitchFamily="34" charset="0"/>
                <a:ea typeface="Calibri" pitchFamily="34" charset="-122"/>
                <a:cs typeface="Calibri" pitchFamily="34" charset="-120"/>
              </a:rPr>
              <a:t>Supervisory</a:t>
            </a:r>
            <a:endParaRPr lang="en-US" sz="1500" dirty="0"/>
          </a:p>
        </p:txBody>
      </p:sp>
      <p:sp>
        <p:nvSpPr>
          <p:cNvPr id="17" name="Text 15"/>
          <p:cNvSpPr/>
          <p:nvPr/>
        </p:nvSpPr>
        <p:spPr>
          <a:xfrm>
            <a:off x="4087368" y="3346704"/>
            <a:ext cx="5120640" cy="658368"/>
          </a:xfrm>
          <a:prstGeom prst="rect">
            <a:avLst/>
          </a:prstGeom>
          <a:noFill/>
          <a:ln/>
        </p:spPr>
        <p:txBody>
          <a:bodyPr wrap="square" lIns="0" tIns="0" rIns="0" bIns="0" rtlCol="0" anchor="ctr"/>
          <a:lstStyle/>
          <a:p>
            <a:pPr indent="0" marL="0">
              <a:buNone/>
            </a:pPr>
            <a:r>
              <a:rPr lang="en-US" sz="1400" dirty="0">
                <a:solidFill>
                  <a:srgbClr val="6E757F"/>
                </a:solidFill>
                <a:latin typeface="Calibri" pitchFamily="34" charset="0"/>
                <a:ea typeface="Calibri" pitchFamily="34" charset="-122"/>
                <a:cs typeface="Calibri" pitchFamily="34" charset="-120"/>
              </a:rPr>
              <a:t>SCADA, HMI — operators look here</a:t>
            </a:r>
            <a:endParaRPr lang="en-US" sz="1400" dirty="0"/>
          </a:p>
        </p:txBody>
      </p:sp>
      <p:sp>
        <p:nvSpPr>
          <p:cNvPr id="18" name="Text 16"/>
          <p:cNvSpPr/>
          <p:nvPr/>
        </p:nvSpPr>
        <p:spPr>
          <a:xfrm>
            <a:off x="9253728" y="3346704"/>
            <a:ext cx="2148840" cy="658368"/>
          </a:xfrm>
          <a:prstGeom prst="rect">
            <a:avLst/>
          </a:prstGeom>
          <a:noFill/>
          <a:ln/>
        </p:spPr>
        <p:txBody>
          <a:bodyPr wrap="square" lIns="0" tIns="0" rIns="0" bIns="0" rtlCol="0" anchor="ctr"/>
          <a:lstStyle/>
          <a:p>
            <a:pPr algn="r" indent="0" marL="0">
              <a:buNone/>
            </a:pPr>
            <a:r>
              <a:rPr lang="en-US" sz="1200" dirty="0">
                <a:solidFill>
                  <a:srgbClr val="8A7CC2"/>
                </a:solidFill>
                <a:latin typeface="Courier New" pitchFamily="34" charset="0"/>
                <a:ea typeface="Courier New" pitchFamily="34" charset="-122"/>
                <a:cs typeface="Courier New" pitchFamily="34" charset="-120"/>
              </a:rPr>
              <a:t>sub-second</a:t>
            </a:r>
            <a:endParaRPr lang="en-US" sz="1200" dirty="0"/>
          </a:p>
        </p:txBody>
      </p:sp>
      <p:sp>
        <p:nvSpPr>
          <p:cNvPr id="19" name="Shape 17"/>
          <p:cNvSpPr/>
          <p:nvPr/>
        </p:nvSpPr>
        <p:spPr>
          <a:xfrm>
            <a:off x="566928" y="4105656"/>
            <a:ext cx="11027664" cy="658368"/>
          </a:xfrm>
          <a:prstGeom prst="roundRect">
            <a:avLst>
              <a:gd name="adj" fmla="val 4167"/>
            </a:avLst>
          </a:prstGeom>
          <a:solidFill>
            <a:srgbClr val="F3F4F6"/>
          </a:solidFill>
          <a:ln w="12700">
            <a:solidFill>
              <a:srgbClr val="E2E5E9"/>
            </a:solidFill>
            <a:prstDash val="solid"/>
          </a:ln>
        </p:spPr>
      </p:sp>
      <p:sp>
        <p:nvSpPr>
          <p:cNvPr id="20" name="Text 18"/>
          <p:cNvSpPr/>
          <p:nvPr/>
        </p:nvSpPr>
        <p:spPr>
          <a:xfrm>
            <a:off x="749808" y="4105656"/>
            <a:ext cx="777240" cy="658368"/>
          </a:xfrm>
          <a:prstGeom prst="rect">
            <a:avLst/>
          </a:prstGeom>
          <a:noFill/>
          <a:ln/>
        </p:spPr>
        <p:txBody>
          <a:bodyPr wrap="square" lIns="0" tIns="0" rIns="0" bIns="0" rtlCol="0" anchor="ctr"/>
          <a:lstStyle/>
          <a:p>
            <a:pPr algn="ctr" indent="0" marL="0">
              <a:buNone/>
            </a:pPr>
            <a:r>
              <a:rPr lang="en-US" sz="1500" b="1" dirty="0">
                <a:solidFill>
                  <a:srgbClr val="E8A33D"/>
                </a:solidFill>
                <a:latin typeface="Courier New" pitchFamily="34" charset="0"/>
                <a:ea typeface="Courier New" pitchFamily="34" charset="-122"/>
                <a:cs typeface="Courier New" pitchFamily="34" charset="-120"/>
              </a:rPr>
              <a:t>1</a:t>
            </a:r>
            <a:endParaRPr lang="en-US" sz="1500" dirty="0"/>
          </a:p>
        </p:txBody>
      </p:sp>
      <p:sp>
        <p:nvSpPr>
          <p:cNvPr id="21" name="Text 19"/>
          <p:cNvSpPr/>
          <p:nvPr/>
        </p:nvSpPr>
        <p:spPr>
          <a:xfrm>
            <a:off x="1618488" y="4105656"/>
            <a:ext cx="2377440" cy="658368"/>
          </a:xfrm>
          <a:prstGeom prst="rect">
            <a:avLst/>
          </a:prstGeom>
          <a:noFill/>
          <a:ln/>
        </p:spPr>
        <p:txBody>
          <a:bodyPr wrap="square" lIns="0" tIns="0" rIns="0" bIns="0" rtlCol="0" anchor="ctr"/>
          <a:lstStyle/>
          <a:p>
            <a:pPr indent="0" marL="0">
              <a:buNone/>
            </a:pPr>
            <a:r>
              <a:rPr lang="en-US" sz="1500" b="1" dirty="0">
                <a:solidFill>
                  <a:srgbClr val="1E2127"/>
                </a:solidFill>
                <a:latin typeface="Calibri" pitchFamily="34" charset="0"/>
                <a:ea typeface="Calibri" pitchFamily="34" charset="-122"/>
                <a:cs typeface="Calibri" pitchFamily="34" charset="-120"/>
              </a:rPr>
              <a:t>Basic control</a:t>
            </a:r>
            <a:endParaRPr lang="en-US" sz="1500" dirty="0"/>
          </a:p>
        </p:txBody>
      </p:sp>
      <p:sp>
        <p:nvSpPr>
          <p:cNvPr id="22" name="Text 20"/>
          <p:cNvSpPr/>
          <p:nvPr/>
        </p:nvSpPr>
        <p:spPr>
          <a:xfrm>
            <a:off x="4087368" y="4105656"/>
            <a:ext cx="5120640" cy="658368"/>
          </a:xfrm>
          <a:prstGeom prst="rect">
            <a:avLst/>
          </a:prstGeom>
          <a:noFill/>
          <a:ln/>
        </p:spPr>
        <p:txBody>
          <a:bodyPr wrap="square" lIns="0" tIns="0" rIns="0" bIns="0" rtlCol="0" anchor="ctr"/>
          <a:lstStyle/>
          <a:p>
            <a:pPr indent="0" marL="0">
              <a:buNone/>
            </a:pPr>
            <a:r>
              <a:rPr lang="en-US" sz="1400" dirty="0">
                <a:solidFill>
                  <a:srgbClr val="6E757F"/>
                </a:solidFill>
                <a:latin typeface="Calibri" pitchFamily="34" charset="0"/>
                <a:ea typeface="Calibri" pitchFamily="34" charset="-122"/>
                <a:cs typeface="Calibri" pitchFamily="34" charset="-120"/>
              </a:rPr>
              <a:t>PLC / DCS — PID on a deterministic scan</a:t>
            </a:r>
            <a:endParaRPr lang="en-US" sz="1400" dirty="0"/>
          </a:p>
        </p:txBody>
      </p:sp>
      <p:sp>
        <p:nvSpPr>
          <p:cNvPr id="23" name="Text 21"/>
          <p:cNvSpPr/>
          <p:nvPr/>
        </p:nvSpPr>
        <p:spPr>
          <a:xfrm>
            <a:off x="9253728" y="4105656"/>
            <a:ext cx="2148840" cy="658368"/>
          </a:xfrm>
          <a:prstGeom prst="rect">
            <a:avLst/>
          </a:prstGeom>
          <a:noFill/>
          <a:ln/>
        </p:spPr>
        <p:txBody>
          <a:bodyPr wrap="square" lIns="0" tIns="0" rIns="0" bIns="0" rtlCol="0" anchor="ctr"/>
          <a:lstStyle/>
          <a:p>
            <a:pPr algn="r" indent="0" marL="0">
              <a:buNone/>
            </a:pPr>
            <a:r>
              <a:rPr lang="en-US" sz="1200" dirty="0">
                <a:solidFill>
                  <a:srgbClr val="E8A33D"/>
                </a:solidFill>
                <a:latin typeface="Courier New" pitchFamily="34" charset="0"/>
                <a:ea typeface="Courier New" pitchFamily="34" charset="-122"/>
                <a:cs typeface="Courier New" pitchFamily="34" charset="-120"/>
              </a:rPr>
              <a:t>10–100 ms</a:t>
            </a:r>
            <a:endParaRPr lang="en-US" sz="1200" dirty="0"/>
          </a:p>
        </p:txBody>
      </p:sp>
      <p:sp>
        <p:nvSpPr>
          <p:cNvPr id="24" name="Shape 22"/>
          <p:cNvSpPr/>
          <p:nvPr/>
        </p:nvSpPr>
        <p:spPr>
          <a:xfrm>
            <a:off x="566928" y="4864608"/>
            <a:ext cx="11027664" cy="658368"/>
          </a:xfrm>
          <a:prstGeom prst="roundRect">
            <a:avLst>
              <a:gd name="adj" fmla="val 4167"/>
            </a:avLst>
          </a:prstGeom>
          <a:solidFill>
            <a:srgbClr val="F3F4F6"/>
          </a:solidFill>
          <a:ln w="12700">
            <a:solidFill>
              <a:srgbClr val="E2E5E9"/>
            </a:solidFill>
            <a:prstDash val="solid"/>
          </a:ln>
        </p:spPr>
      </p:sp>
      <p:sp>
        <p:nvSpPr>
          <p:cNvPr id="25" name="Text 23"/>
          <p:cNvSpPr/>
          <p:nvPr/>
        </p:nvSpPr>
        <p:spPr>
          <a:xfrm>
            <a:off x="749808" y="4864608"/>
            <a:ext cx="777240" cy="658368"/>
          </a:xfrm>
          <a:prstGeom prst="rect">
            <a:avLst/>
          </a:prstGeom>
          <a:noFill/>
          <a:ln/>
        </p:spPr>
        <p:txBody>
          <a:bodyPr wrap="square" lIns="0" tIns="0" rIns="0" bIns="0" rtlCol="0" anchor="ctr"/>
          <a:lstStyle/>
          <a:p>
            <a:pPr algn="ctr" indent="0" marL="0">
              <a:buNone/>
            </a:pPr>
            <a:r>
              <a:rPr lang="en-US" sz="1500" b="1" dirty="0">
                <a:solidFill>
                  <a:srgbClr val="3FB6A8"/>
                </a:solidFill>
                <a:latin typeface="Courier New" pitchFamily="34" charset="0"/>
                <a:ea typeface="Courier New" pitchFamily="34" charset="-122"/>
                <a:cs typeface="Courier New" pitchFamily="34" charset="-120"/>
              </a:rPr>
              <a:t>0</a:t>
            </a:r>
            <a:endParaRPr lang="en-US" sz="1500" dirty="0"/>
          </a:p>
        </p:txBody>
      </p:sp>
      <p:sp>
        <p:nvSpPr>
          <p:cNvPr id="26" name="Text 24"/>
          <p:cNvSpPr/>
          <p:nvPr/>
        </p:nvSpPr>
        <p:spPr>
          <a:xfrm>
            <a:off x="1618488" y="4864608"/>
            <a:ext cx="2377440" cy="658368"/>
          </a:xfrm>
          <a:prstGeom prst="rect">
            <a:avLst/>
          </a:prstGeom>
          <a:noFill/>
          <a:ln/>
        </p:spPr>
        <p:txBody>
          <a:bodyPr wrap="square" lIns="0" tIns="0" rIns="0" bIns="0" rtlCol="0" anchor="ctr"/>
          <a:lstStyle/>
          <a:p>
            <a:pPr indent="0" marL="0">
              <a:buNone/>
            </a:pPr>
            <a:r>
              <a:rPr lang="en-US" sz="1500" b="1" dirty="0">
                <a:solidFill>
                  <a:srgbClr val="1E2127"/>
                </a:solidFill>
                <a:latin typeface="Calibri" pitchFamily="34" charset="0"/>
                <a:ea typeface="Calibri" pitchFamily="34" charset="-122"/>
                <a:cs typeface="Calibri" pitchFamily="34" charset="-120"/>
              </a:rPr>
              <a:t>The field</a:t>
            </a:r>
            <a:endParaRPr lang="en-US" sz="1500" dirty="0"/>
          </a:p>
        </p:txBody>
      </p:sp>
      <p:sp>
        <p:nvSpPr>
          <p:cNvPr id="27" name="Text 25"/>
          <p:cNvSpPr/>
          <p:nvPr/>
        </p:nvSpPr>
        <p:spPr>
          <a:xfrm>
            <a:off x="4087368" y="4864608"/>
            <a:ext cx="5120640" cy="658368"/>
          </a:xfrm>
          <a:prstGeom prst="rect">
            <a:avLst/>
          </a:prstGeom>
          <a:noFill/>
          <a:ln/>
        </p:spPr>
        <p:txBody>
          <a:bodyPr wrap="square" lIns="0" tIns="0" rIns="0" bIns="0" rtlCol="0" anchor="ctr"/>
          <a:lstStyle/>
          <a:p>
            <a:pPr indent="0" marL="0">
              <a:buNone/>
            </a:pPr>
            <a:r>
              <a:rPr lang="en-US" sz="1400" dirty="0">
                <a:solidFill>
                  <a:srgbClr val="6E757F"/>
                </a:solidFill>
                <a:latin typeface="Calibri" pitchFamily="34" charset="0"/>
                <a:ea typeface="Calibri" pitchFamily="34" charset="-122"/>
                <a:cs typeface="Calibri" pitchFamily="34" charset="-120"/>
              </a:rPr>
              <a:t>Sensors and actuators — physics</a:t>
            </a:r>
            <a:endParaRPr lang="en-US" sz="1400" dirty="0"/>
          </a:p>
        </p:txBody>
      </p:sp>
      <p:sp>
        <p:nvSpPr>
          <p:cNvPr id="28" name="Text 26"/>
          <p:cNvSpPr/>
          <p:nvPr/>
        </p:nvSpPr>
        <p:spPr>
          <a:xfrm>
            <a:off x="9253728" y="4864608"/>
            <a:ext cx="2148840" cy="658368"/>
          </a:xfrm>
          <a:prstGeom prst="rect">
            <a:avLst/>
          </a:prstGeom>
          <a:noFill/>
          <a:ln/>
        </p:spPr>
        <p:txBody>
          <a:bodyPr wrap="square" lIns="0" tIns="0" rIns="0" bIns="0" rtlCol="0" anchor="ctr"/>
          <a:lstStyle/>
          <a:p>
            <a:pPr algn="r" indent="0" marL="0">
              <a:buNone/>
            </a:pPr>
            <a:r>
              <a:rPr lang="en-US" sz="1200" dirty="0">
                <a:solidFill>
                  <a:srgbClr val="3FB6A8"/>
                </a:solidFill>
                <a:latin typeface="Courier New" pitchFamily="34" charset="0"/>
                <a:ea typeface="Courier New" pitchFamily="34" charset="-122"/>
                <a:cs typeface="Courier New" pitchFamily="34" charset="-120"/>
              </a:rPr>
              <a:t>continuous</a:t>
            </a:r>
            <a:endParaRPr lang="en-US" sz="1200" dirty="0"/>
          </a:p>
        </p:txBody>
      </p:sp>
      <p:sp>
        <p:nvSpPr>
          <p:cNvPr id="29" name="Text 27"/>
          <p:cNvSpPr/>
          <p:nvPr/>
        </p:nvSpPr>
        <p:spPr>
          <a:xfrm>
            <a:off x="566928" y="5760720"/>
            <a:ext cx="11027664" cy="457200"/>
          </a:xfrm>
          <a:prstGeom prst="rect">
            <a:avLst/>
          </a:prstGeom>
          <a:noFill/>
          <a:ln/>
        </p:spPr>
        <p:txBody>
          <a:bodyPr wrap="square" lIns="0" tIns="0" rIns="0" bIns="0" rtlCol="0" anchor="ctr"/>
          <a:lstStyle/>
          <a:p>
            <a:pPr indent="0" marL="0">
              <a:buNone/>
            </a:pPr>
            <a:r>
              <a:rPr lang="en-US" sz="1450" i="1" dirty="0">
                <a:solidFill>
                  <a:srgbClr val="E8A33D"/>
                </a:solidFill>
                <a:latin typeface="Calibri" pitchFamily="34" charset="0"/>
                <a:ea typeface="Calibri" pitchFamily="34" charset="-122"/>
                <a:cs typeface="Calibri" pitchFamily="34" charset="-120"/>
              </a:rPr>
              <a:t>Going up trades latency for context — and data flows up far more freely than commands flow down. That asymmetry is a security control.</a:t>
            </a:r>
            <a:endParaRPr lang="en-US" sz="1450" dirty="0"/>
          </a:p>
        </p:txBody>
      </p:sp>
      <p:sp>
        <p:nvSpPr>
          <p:cNvPr id="30" name="Text 28"/>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07  ·  THE STACK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PART 1  ·  PROTOCOLS</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How the data actually moves</a:t>
            </a:r>
            <a:endParaRPr lang="en-US" sz="3400" dirty="0"/>
          </a:p>
        </p:txBody>
      </p:sp>
      <p:sp>
        <p:nvSpPr>
          <p:cNvPr id="4" name="Shape 2"/>
          <p:cNvSpPr/>
          <p:nvPr/>
        </p:nvSpPr>
        <p:spPr>
          <a:xfrm>
            <a:off x="612648" y="2048256"/>
            <a:ext cx="182880" cy="182880"/>
          </a:xfrm>
          <a:prstGeom prst="ellipse">
            <a:avLst/>
          </a:prstGeom>
          <a:solidFill>
            <a:srgbClr val="3FB6A8"/>
          </a:solidFill>
          <a:ln w="12700">
            <a:solidFill>
              <a:srgbClr val="3FB6A8"/>
            </a:solidFill>
            <a:prstDash val="solid"/>
          </a:ln>
        </p:spPr>
      </p:sp>
      <p:sp>
        <p:nvSpPr>
          <p:cNvPr id="5" name="Text 3"/>
          <p:cNvSpPr/>
          <p:nvPr/>
        </p:nvSpPr>
        <p:spPr>
          <a:xfrm>
            <a:off x="978408" y="1874520"/>
            <a:ext cx="3108960" cy="530352"/>
          </a:xfrm>
          <a:prstGeom prst="rect">
            <a:avLst/>
          </a:prstGeom>
          <a:noFill/>
          <a:ln/>
        </p:spPr>
        <p:txBody>
          <a:bodyPr wrap="square" lIns="0" tIns="0" rIns="0" bIns="0" rtlCol="0" anchor="ctr"/>
          <a:lstStyle/>
          <a:p>
            <a:pPr indent="0" marL="0">
              <a:buNone/>
            </a:pPr>
            <a:r>
              <a:rPr lang="en-US" sz="1400" b="1" dirty="0">
                <a:solidFill>
                  <a:srgbClr val="1E2127"/>
                </a:solidFill>
                <a:latin typeface="Courier New" pitchFamily="34" charset="0"/>
                <a:ea typeface="Courier New" pitchFamily="34" charset="-122"/>
                <a:cs typeface="Courier New" pitchFamily="34" charset="-120"/>
              </a:rPr>
              <a:t>4-20 mA / HART</a:t>
            </a:r>
            <a:endParaRPr lang="en-US" sz="1400" dirty="0"/>
          </a:p>
        </p:txBody>
      </p:sp>
      <p:sp>
        <p:nvSpPr>
          <p:cNvPr id="6" name="Text 4"/>
          <p:cNvSpPr/>
          <p:nvPr/>
        </p:nvSpPr>
        <p:spPr>
          <a:xfrm>
            <a:off x="4178808" y="1874520"/>
            <a:ext cx="7406640" cy="530352"/>
          </a:xfrm>
          <a:prstGeom prst="rect">
            <a:avLst/>
          </a:prstGeom>
          <a:noFill/>
          <a:ln/>
        </p:spPr>
        <p:txBody>
          <a:bodyPr wrap="square" lIns="0" tIns="0" rIns="0" bIns="0" rtlCol="0" anchor="ctr"/>
          <a:lstStyle/>
          <a:p>
            <a:pPr indent="0" marL="0">
              <a:buNone/>
            </a:pPr>
            <a:r>
              <a:rPr lang="en-US" sz="1400" dirty="0">
                <a:solidFill>
                  <a:srgbClr val="6E757F"/>
                </a:solidFill>
                <a:latin typeface="Calibri" pitchFamily="34" charset="0"/>
                <a:ea typeface="Calibri" pitchFamily="34" charset="-122"/>
                <a:cs typeface="Calibri" pitchFamily="34" charset="-120"/>
              </a:rPr>
              <a:t>Field device to controller. Analog loop with digital riding on top.</a:t>
            </a:r>
            <a:endParaRPr lang="en-US" sz="1400" dirty="0"/>
          </a:p>
        </p:txBody>
      </p:sp>
      <p:sp>
        <p:nvSpPr>
          <p:cNvPr id="7" name="Shape 5"/>
          <p:cNvSpPr/>
          <p:nvPr/>
        </p:nvSpPr>
        <p:spPr>
          <a:xfrm>
            <a:off x="612648" y="2670048"/>
            <a:ext cx="182880" cy="182880"/>
          </a:xfrm>
          <a:prstGeom prst="ellipse">
            <a:avLst/>
          </a:prstGeom>
          <a:solidFill>
            <a:srgbClr val="C4483A"/>
          </a:solidFill>
          <a:ln w="12700">
            <a:solidFill>
              <a:srgbClr val="C4483A"/>
            </a:solidFill>
            <a:prstDash val="solid"/>
          </a:ln>
        </p:spPr>
      </p:sp>
      <p:sp>
        <p:nvSpPr>
          <p:cNvPr id="8" name="Text 6"/>
          <p:cNvSpPr/>
          <p:nvPr/>
        </p:nvSpPr>
        <p:spPr>
          <a:xfrm>
            <a:off x="978408" y="2496312"/>
            <a:ext cx="3108960" cy="530352"/>
          </a:xfrm>
          <a:prstGeom prst="rect">
            <a:avLst/>
          </a:prstGeom>
          <a:noFill/>
          <a:ln/>
        </p:spPr>
        <p:txBody>
          <a:bodyPr wrap="square" lIns="0" tIns="0" rIns="0" bIns="0" rtlCol="0" anchor="ctr"/>
          <a:lstStyle/>
          <a:p>
            <a:pPr indent="0" marL="0">
              <a:buNone/>
            </a:pPr>
            <a:r>
              <a:rPr lang="en-US" sz="1400" b="1" dirty="0">
                <a:solidFill>
                  <a:srgbClr val="1E2127"/>
                </a:solidFill>
                <a:latin typeface="Courier New" pitchFamily="34" charset="0"/>
                <a:ea typeface="Courier New" pitchFamily="34" charset="-122"/>
                <a:cs typeface="Courier New" pitchFamily="34" charset="-120"/>
              </a:rPr>
              <a:t>Modbus</a:t>
            </a:r>
            <a:endParaRPr lang="en-US" sz="1400" dirty="0"/>
          </a:p>
        </p:txBody>
      </p:sp>
      <p:sp>
        <p:nvSpPr>
          <p:cNvPr id="9" name="Text 7"/>
          <p:cNvSpPr/>
          <p:nvPr/>
        </p:nvSpPr>
        <p:spPr>
          <a:xfrm>
            <a:off x="4178808" y="2496312"/>
            <a:ext cx="7406640" cy="530352"/>
          </a:xfrm>
          <a:prstGeom prst="rect">
            <a:avLst/>
          </a:prstGeom>
          <a:noFill/>
          <a:ln/>
        </p:spPr>
        <p:txBody>
          <a:bodyPr wrap="square" lIns="0" tIns="0" rIns="0" bIns="0" rtlCol="0" anchor="ctr"/>
          <a:lstStyle/>
          <a:p>
            <a:pPr indent="0" marL="0">
              <a:buNone/>
            </a:pPr>
            <a:r>
              <a:rPr lang="en-US" sz="1400" dirty="0">
                <a:solidFill>
                  <a:srgbClr val="6E757F"/>
                </a:solidFill>
                <a:latin typeface="Calibri" pitchFamily="34" charset="0"/>
                <a:ea typeface="Calibri" pitchFamily="34" charset="-122"/>
                <a:cs typeface="Calibri" pitchFamily="34" charset="-120"/>
              </a:rPr>
              <a:t>Ancient, trivially simple, absolutely everywhere. No security whatsoever.</a:t>
            </a:r>
            <a:endParaRPr lang="en-US" sz="1400" dirty="0"/>
          </a:p>
        </p:txBody>
      </p:sp>
      <p:sp>
        <p:nvSpPr>
          <p:cNvPr id="10" name="Shape 8"/>
          <p:cNvSpPr/>
          <p:nvPr/>
        </p:nvSpPr>
        <p:spPr>
          <a:xfrm>
            <a:off x="612648" y="3291840"/>
            <a:ext cx="182880" cy="182880"/>
          </a:xfrm>
          <a:prstGeom prst="ellipse">
            <a:avLst/>
          </a:prstGeom>
          <a:solidFill>
            <a:srgbClr val="6E757F"/>
          </a:solidFill>
          <a:ln w="12700">
            <a:solidFill>
              <a:srgbClr val="6E757F"/>
            </a:solidFill>
            <a:prstDash val="solid"/>
          </a:ln>
        </p:spPr>
      </p:sp>
      <p:sp>
        <p:nvSpPr>
          <p:cNvPr id="11" name="Text 9"/>
          <p:cNvSpPr/>
          <p:nvPr/>
        </p:nvSpPr>
        <p:spPr>
          <a:xfrm>
            <a:off x="978408" y="3118104"/>
            <a:ext cx="3108960" cy="530352"/>
          </a:xfrm>
          <a:prstGeom prst="rect">
            <a:avLst/>
          </a:prstGeom>
          <a:noFill/>
          <a:ln/>
        </p:spPr>
        <p:txBody>
          <a:bodyPr wrap="square" lIns="0" tIns="0" rIns="0" bIns="0" rtlCol="0" anchor="ctr"/>
          <a:lstStyle/>
          <a:p>
            <a:pPr indent="0" marL="0">
              <a:buNone/>
            </a:pPr>
            <a:r>
              <a:rPr lang="en-US" sz="1400" b="1" dirty="0">
                <a:solidFill>
                  <a:srgbClr val="1E2127"/>
                </a:solidFill>
                <a:latin typeface="Courier New" pitchFamily="34" charset="0"/>
                <a:ea typeface="Courier New" pitchFamily="34" charset="-122"/>
                <a:cs typeface="Courier New" pitchFamily="34" charset="-120"/>
              </a:rPr>
              <a:t>PROFINET / EtherNet/IP</a:t>
            </a:r>
            <a:endParaRPr lang="en-US" sz="1400" dirty="0"/>
          </a:p>
        </p:txBody>
      </p:sp>
      <p:sp>
        <p:nvSpPr>
          <p:cNvPr id="12" name="Text 10"/>
          <p:cNvSpPr/>
          <p:nvPr/>
        </p:nvSpPr>
        <p:spPr>
          <a:xfrm>
            <a:off x="4178808" y="3118104"/>
            <a:ext cx="7406640" cy="530352"/>
          </a:xfrm>
          <a:prstGeom prst="rect">
            <a:avLst/>
          </a:prstGeom>
          <a:noFill/>
          <a:ln/>
        </p:spPr>
        <p:txBody>
          <a:bodyPr wrap="square" lIns="0" tIns="0" rIns="0" bIns="0" rtlCol="0" anchor="ctr"/>
          <a:lstStyle/>
          <a:p>
            <a:pPr indent="0" marL="0">
              <a:buNone/>
            </a:pPr>
            <a:r>
              <a:rPr lang="en-US" sz="1400" dirty="0">
                <a:solidFill>
                  <a:srgbClr val="6E757F"/>
                </a:solidFill>
                <a:latin typeface="Calibri" pitchFamily="34" charset="0"/>
                <a:ea typeface="Calibri" pitchFamily="34" charset="-122"/>
                <a:cs typeface="Calibri" pitchFamily="34" charset="-120"/>
              </a:rPr>
              <a:t>Industrial fieldbuses on Ethernet.</a:t>
            </a:r>
            <a:endParaRPr lang="en-US" sz="1400" dirty="0"/>
          </a:p>
        </p:txBody>
      </p:sp>
      <p:sp>
        <p:nvSpPr>
          <p:cNvPr id="13" name="Shape 11"/>
          <p:cNvSpPr/>
          <p:nvPr/>
        </p:nvSpPr>
        <p:spPr>
          <a:xfrm>
            <a:off x="612648" y="3913632"/>
            <a:ext cx="182880" cy="182880"/>
          </a:xfrm>
          <a:prstGeom prst="ellipse">
            <a:avLst/>
          </a:prstGeom>
          <a:solidFill>
            <a:srgbClr val="E8A33D"/>
          </a:solidFill>
          <a:ln w="12700">
            <a:solidFill>
              <a:srgbClr val="E8A33D"/>
            </a:solidFill>
            <a:prstDash val="solid"/>
          </a:ln>
        </p:spPr>
      </p:sp>
      <p:sp>
        <p:nvSpPr>
          <p:cNvPr id="14" name="Text 12"/>
          <p:cNvSpPr/>
          <p:nvPr/>
        </p:nvSpPr>
        <p:spPr>
          <a:xfrm>
            <a:off x="978408" y="3739896"/>
            <a:ext cx="3108960" cy="530352"/>
          </a:xfrm>
          <a:prstGeom prst="rect">
            <a:avLst/>
          </a:prstGeom>
          <a:noFill/>
          <a:ln/>
        </p:spPr>
        <p:txBody>
          <a:bodyPr wrap="square" lIns="0" tIns="0" rIns="0" bIns="0" rtlCol="0" anchor="ctr"/>
          <a:lstStyle/>
          <a:p>
            <a:pPr indent="0" marL="0">
              <a:buNone/>
            </a:pPr>
            <a:r>
              <a:rPr lang="en-US" sz="1400" b="1" dirty="0">
                <a:solidFill>
                  <a:srgbClr val="1E2127"/>
                </a:solidFill>
                <a:latin typeface="Courier New" pitchFamily="34" charset="0"/>
                <a:ea typeface="Courier New" pitchFamily="34" charset="-122"/>
                <a:cs typeface="Courier New" pitchFamily="34" charset="-120"/>
              </a:rPr>
              <a:t>OPC UA</a:t>
            </a:r>
            <a:endParaRPr lang="en-US" sz="1400" dirty="0"/>
          </a:p>
        </p:txBody>
      </p:sp>
      <p:sp>
        <p:nvSpPr>
          <p:cNvPr id="15" name="Text 13"/>
          <p:cNvSpPr/>
          <p:nvPr/>
        </p:nvSpPr>
        <p:spPr>
          <a:xfrm>
            <a:off x="4178808" y="3739896"/>
            <a:ext cx="7406640" cy="530352"/>
          </a:xfrm>
          <a:prstGeom prst="rect">
            <a:avLst/>
          </a:prstGeom>
          <a:noFill/>
          <a:ln/>
        </p:spPr>
        <p:txBody>
          <a:bodyPr wrap="square" lIns="0" tIns="0" rIns="0" bIns="0" rtlCol="0" anchor="ctr"/>
          <a:lstStyle/>
          <a:p>
            <a:pPr indent="0" marL="0">
              <a:buNone/>
            </a:pPr>
            <a:r>
              <a:rPr lang="en-US" sz="1400" dirty="0">
                <a:solidFill>
                  <a:srgbClr val="6E757F"/>
                </a:solidFill>
                <a:latin typeface="Calibri" pitchFamily="34" charset="0"/>
                <a:ea typeface="Calibri" pitchFamily="34" charset="-122"/>
                <a:cs typeface="Calibri" pitchFamily="34" charset="-120"/>
              </a:rPr>
              <a:t>The important one. Carries meaning, not just numbers — a tag knows it is a temperature in °C on a named asset.</a:t>
            </a:r>
            <a:endParaRPr lang="en-US" sz="1400" dirty="0"/>
          </a:p>
        </p:txBody>
      </p:sp>
      <p:sp>
        <p:nvSpPr>
          <p:cNvPr id="16" name="Shape 14"/>
          <p:cNvSpPr/>
          <p:nvPr/>
        </p:nvSpPr>
        <p:spPr>
          <a:xfrm>
            <a:off x="612648" y="4535424"/>
            <a:ext cx="182880" cy="182880"/>
          </a:xfrm>
          <a:prstGeom prst="ellipse">
            <a:avLst/>
          </a:prstGeom>
          <a:solidFill>
            <a:srgbClr val="8A7CC2"/>
          </a:solidFill>
          <a:ln w="12700">
            <a:solidFill>
              <a:srgbClr val="8A7CC2"/>
            </a:solidFill>
            <a:prstDash val="solid"/>
          </a:ln>
        </p:spPr>
      </p:sp>
      <p:sp>
        <p:nvSpPr>
          <p:cNvPr id="17" name="Text 15"/>
          <p:cNvSpPr/>
          <p:nvPr/>
        </p:nvSpPr>
        <p:spPr>
          <a:xfrm>
            <a:off x="978408" y="4361688"/>
            <a:ext cx="3108960" cy="530352"/>
          </a:xfrm>
          <a:prstGeom prst="rect">
            <a:avLst/>
          </a:prstGeom>
          <a:noFill/>
          <a:ln/>
        </p:spPr>
        <p:txBody>
          <a:bodyPr wrap="square" lIns="0" tIns="0" rIns="0" bIns="0" rtlCol="0" anchor="ctr"/>
          <a:lstStyle/>
          <a:p>
            <a:pPr indent="0" marL="0">
              <a:buNone/>
            </a:pPr>
            <a:r>
              <a:rPr lang="en-US" sz="1400" b="1" dirty="0">
                <a:solidFill>
                  <a:srgbClr val="1E2127"/>
                </a:solidFill>
                <a:latin typeface="Courier New" pitchFamily="34" charset="0"/>
                <a:ea typeface="Courier New" pitchFamily="34" charset="-122"/>
                <a:cs typeface="Courier New" pitchFamily="34" charset="-120"/>
              </a:rPr>
              <a:t>MQTT + Sparkplug B</a:t>
            </a:r>
            <a:endParaRPr lang="en-US" sz="1400" dirty="0"/>
          </a:p>
        </p:txBody>
      </p:sp>
      <p:sp>
        <p:nvSpPr>
          <p:cNvPr id="18" name="Text 16"/>
          <p:cNvSpPr/>
          <p:nvPr/>
        </p:nvSpPr>
        <p:spPr>
          <a:xfrm>
            <a:off x="4178808" y="4361688"/>
            <a:ext cx="7406640" cy="530352"/>
          </a:xfrm>
          <a:prstGeom prst="rect">
            <a:avLst/>
          </a:prstGeom>
          <a:noFill/>
          <a:ln/>
        </p:spPr>
        <p:txBody>
          <a:bodyPr wrap="square" lIns="0" tIns="0" rIns="0" bIns="0" rtlCol="0" anchor="ctr"/>
          <a:lstStyle/>
          <a:p>
            <a:pPr indent="0" marL="0">
              <a:buNone/>
            </a:pPr>
            <a:r>
              <a:rPr lang="en-US" sz="1400" dirty="0">
                <a:solidFill>
                  <a:srgbClr val="6E757F"/>
                </a:solidFill>
                <a:latin typeface="Calibri" pitchFamily="34" charset="0"/>
                <a:ea typeface="Calibri" pitchFamily="34" charset="-122"/>
                <a:cs typeface="Calibri" pitchFamily="34" charset="-120"/>
              </a:rPr>
              <a:t>Lightweight publish/subscribe. How edge devices report upward.</a:t>
            </a:r>
            <a:endParaRPr lang="en-US" sz="1400" dirty="0"/>
          </a:p>
        </p:txBody>
      </p:sp>
      <p:sp>
        <p:nvSpPr>
          <p:cNvPr id="19" name="Shape 17"/>
          <p:cNvSpPr/>
          <p:nvPr/>
        </p:nvSpPr>
        <p:spPr>
          <a:xfrm>
            <a:off x="566928" y="5120640"/>
            <a:ext cx="11027664" cy="1051560"/>
          </a:xfrm>
          <a:prstGeom prst="roundRect">
            <a:avLst>
              <a:gd name="adj" fmla="val 2609"/>
            </a:avLst>
          </a:prstGeom>
          <a:solidFill>
            <a:srgbClr val="F3F4F6"/>
          </a:solidFill>
          <a:ln w="12700">
            <a:solidFill>
              <a:srgbClr val="E2E5E9"/>
            </a:solidFill>
            <a:prstDash val="solid"/>
          </a:ln>
        </p:spPr>
      </p:sp>
      <p:sp>
        <p:nvSpPr>
          <p:cNvPr id="20" name="Text 18"/>
          <p:cNvSpPr/>
          <p:nvPr/>
        </p:nvSpPr>
        <p:spPr>
          <a:xfrm>
            <a:off x="841248" y="5321808"/>
            <a:ext cx="10469880" cy="731520"/>
          </a:xfrm>
          <a:prstGeom prst="rect">
            <a:avLst/>
          </a:prstGeom>
          <a:noFill/>
          <a:ln/>
        </p:spPr>
        <p:txBody>
          <a:bodyPr wrap="square" lIns="0" tIns="0" rIns="0" bIns="0" rtlCol="0" anchor="ctr"/>
          <a:lstStyle/>
          <a:p>
            <a:pPr indent="0" marL="0">
              <a:buNone/>
            </a:pPr>
            <a:r>
              <a:rPr lang="en-US" sz="1400" dirty="0">
                <a:solidFill>
                  <a:srgbClr val="1E2127"/>
                </a:solidFill>
                <a:latin typeface="Calibri" pitchFamily="34" charset="0"/>
                <a:ea typeface="Calibri" pitchFamily="34" charset="-122"/>
                <a:cs typeface="Calibri" pitchFamily="34" charset="-120"/>
              </a:rPr>
              <a:t>Then it lands in a historian: AVEVA PI or AspenTech IP.21 in process industries; InfluxDB or TimescaleDB in newer stacks. If a vendor cannot tell you how their product gets data out of your DCS, they do not have a product — 90% of the work is here, at the boring integration layer.</a:t>
            </a:r>
            <a:endParaRPr lang="en-US" sz="1400" dirty="0"/>
          </a:p>
        </p:txBody>
      </p:sp>
      <p:sp>
        <p:nvSpPr>
          <p:cNvPr id="21" name="Text 19"/>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08  ·  THE STACK</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PART 1  ·  LATENCY BUDGET</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The microsecond claim is wrong by 10,000×</a:t>
            </a:r>
            <a:endParaRPr lang="en-US" sz="3400" dirty="0"/>
          </a:p>
        </p:txBody>
      </p:sp>
      <p:graphicFrame>
        <p:nvGraphicFramePr>
          <p:cNvPr id="4" name="Chart 0" descr=""/>
          <p:cNvGraphicFramePr/>
          <p:nvPr/>
        </p:nvGraphicFramePr>
        <p:xfrm>
          <a:off x="566928" y="1783080"/>
          <a:ext cx="685800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18120" y="1828800"/>
            <a:ext cx="3200400" cy="960120"/>
          </a:xfrm>
          <a:prstGeom prst="roundRect">
            <a:avLst>
              <a:gd name="adj" fmla="val 3810"/>
            </a:avLst>
          </a:prstGeom>
          <a:solidFill>
            <a:srgbClr val="16181C"/>
          </a:solidFill>
          <a:ln w="12700">
            <a:solidFill>
              <a:srgbClr val="343A44"/>
            </a:solidFill>
            <a:prstDash val="solid"/>
          </a:ln>
        </p:spPr>
      </p:sp>
      <p:sp>
        <p:nvSpPr>
          <p:cNvPr id="6" name="Text 3"/>
          <p:cNvSpPr/>
          <p:nvPr/>
        </p:nvSpPr>
        <p:spPr>
          <a:xfrm>
            <a:off x="7964424" y="1938528"/>
            <a:ext cx="2907792" cy="219456"/>
          </a:xfrm>
          <a:prstGeom prst="rect">
            <a:avLst/>
          </a:prstGeom>
          <a:noFill/>
          <a:ln/>
        </p:spPr>
        <p:txBody>
          <a:bodyPr wrap="square" lIns="0" tIns="0" rIns="0" bIns="0" rtlCol="0" anchor="ctr"/>
          <a:lstStyle/>
          <a:p>
            <a:pPr indent="0" marL="0">
              <a:buNone/>
            </a:pPr>
            <a:r>
              <a:rPr lang="en-US" sz="900" spc="180" kern="0" dirty="0">
                <a:solidFill>
                  <a:srgbClr val="8A929C"/>
                </a:solidFill>
                <a:latin typeface="Courier New" pitchFamily="34" charset="0"/>
                <a:ea typeface="Courier New" pitchFamily="34" charset="-122"/>
                <a:cs typeface="Courier New" pitchFamily="34" charset="-120"/>
              </a:rPr>
              <a:t>AI IN THE LOOP, REALISTIC</a:t>
            </a:r>
            <a:endParaRPr lang="en-US" sz="900" dirty="0"/>
          </a:p>
        </p:txBody>
      </p:sp>
      <p:sp>
        <p:nvSpPr>
          <p:cNvPr id="7" name="Text 4"/>
          <p:cNvSpPr/>
          <p:nvPr/>
        </p:nvSpPr>
        <p:spPr>
          <a:xfrm>
            <a:off x="7964424" y="2212848"/>
            <a:ext cx="2907792" cy="457200"/>
          </a:xfrm>
          <a:prstGeom prst="rect">
            <a:avLst/>
          </a:prstGeom>
          <a:noFill/>
          <a:ln/>
        </p:spPr>
        <p:txBody>
          <a:bodyPr wrap="square" lIns="0" tIns="0" rIns="0" bIns="0" rtlCol="0" anchor="ctr"/>
          <a:lstStyle/>
          <a:p>
            <a:pPr indent="0" marL="0">
              <a:buNone/>
            </a:pPr>
            <a:r>
              <a:rPr lang="en-US" sz="2400" dirty="0">
                <a:solidFill>
                  <a:srgbClr val="E8A33D"/>
                </a:solidFill>
                <a:latin typeface="Courier New" pitchFamily="34" charset="0"/>
                <a:ea typeface="Courier New" pitchFamily="34" charset="-122"/>
                <a:cs typeface="Courier New" pitchFamily="34" charset="-120"/>
              </a:rPr>
              <a:t>10–50</a:t>
            </a:r>
            <a:pPr indent="0" marL="0">
              <a:buNone/>
            </a:pPr>
            <a:r>
              <a:rPr lang="en-US" sz="1200" dirty="0">
                <a:solidFill>
                  <a:srgbClr val="8A929C"/>
                </a:solidFill>
                <a:latin typeface="Courier New" pitchFamily="34" charset="0"/>
                <a:ea typeface="Courier New" pitchFamily="34" charset="-122"/>
                <a:cs typeface="Courier New" pitchFamily="34" charset="-120"/>
              </a:rPr>
              <a:t> ms</a:t>
            </a:r>
            <a:endParaRPr lang="en-US" sz="2400" dirty="0"/>
          </a:p>
        </p:txBody>
      </p:sp>
      <p:sp>
        <p:nvSpPr>
          <p:cNvPr id="8" name="Shape 5"/>
          <p:cNvSpPr/>
          <p:nvPr/>
        </p:nvSpPr>
        <p:spPr>
          <a:xfrm>
            <a:off x="7818120" y="2926080"/>
            <a:ext cx="3200400" cy="960120"/>
          </a:xfrm>
          <a:prstGeom prst="roundRect">
            <a:avLst>
              <a:gd name="adj" fmla="val 3810"/>
            </a:avLst>
          </a:prstGeom>
          <a:solidFill>
            <a:srgbClr val="16181C"/>
          </a:solidFill>
          <a:ln w="12700">
            <a:solidFill>
              <a:srgbClr val="343A44"/>
            </a:solidFill>
            <a:prstDash val="solid"/>
          </a:ln>
        </p:spPr>
      </p:sp>
      <p:sp>
        <p:nvSpPr>
          <p:cNvPr id="9" name="Text 6"/>
          <p:cNvSpPr/>
          <p:nvPr/>
        </p:nvSpPr>
        <p:spPr>
          <a:xfrm>
            <a:off x="7964424" y="3035808"/>
            <a:ext cx="2907792" cy="219456"/>
          </a:xfrm>
          <a:prstGeom prst="rect">
            <a:avLst/>
          </a:prstGeom>
          <a:noFill/>
          <a:ln/>
        </p:spPr>
        <p:txBody>
          <a:bodyPr wrap="square" lIns="0" tIns="0" rIns="0" bIns="0" rtlCol="0" anchor="ctr"/>
          <a:lstStyle/>
          <a:p>
            <a:pPr indent="0" marL="0">
              <a:buNone/>
            </a:pPr>
            <a:r>
              <a:rPr lang="en-US" sz="900" spc="180" kern="0" dirty="0">
                <a:solidFill>
                  <a:srgbClr val="8A929C"/>
                </a:solidFill>
                <a:latin typeface="Courier New" pitchFamily="34" charset="0"/>
                <a:ea typeface="Courier New" pitchFamily="34" charset="-122"/>
                <a:cs typeface="Courier New" pitchFamily="34" charset="-120"/>
              </a:rPr>
              <a:t>HARDWIRED TRIP</a:t>
            </a:r>
            <a:endParaRPr lang="en-US" sz="900" dirty="0"/>
          </a:p>
        </p:txBody>
      </p:sp>
      <p:sp>
        <p:nvSpPr>
          <p:cNvPr id="10" name="Text 7"/>
          <p:cNvSpPr/>
          <p:nvPr/>
        </p:nvSpPr>
        <p:spPr>
          <a:xfrm>
            <a:off x="7964424" y="3310128"/>
            <a:ext cx="2907792" cy="457200"/>
          </a:xfrm>
          <a:prstGeom prst="rect">
            <a:avLst/>
          </a:prstGeom>
          <a:noFill/>
          <a:ln/>
        </p:spPr>
        <p:txBody>
          <a:bodyPr wrap="square" lIns="0" tIns="0" rIns="0" bIns="0" rtlCol="0" anchor="ctr"/>
          <a:lstStyle/>
          <a:p>
            <a:pPr indent="0" marL="0">
              <a:buNone/>
            </a:pPr>
            <a:r>
              <a:rPr lang="en-US" sz="2400" dirty="0">
                <a:solidFill>
                  <a:srgbClr val="3FB6A8"/>
                </a:solidFill>
                <a:latin typeface="Courier New" pitchFamily="34" charset="0"/>
                <a:ea typeface="Courier New" pitchFamily="34" charset="-122"/>
                <a:cs typeface="Courier New" pitchFamily="34" charset="-120"/>
              </a:rPr>
              <a:t>&lt;0.1</a:t>
            </a:r>
            <a:pPr indent="0" marL="0">
              <a:buNone/>
            </a:pPr>
            <a:r>
              <a:rPr lang="en-US" sz="1200" dirty="0">
                <a:solidFill>
                  <a:srgbClr val="8A929C"/>
                </a:solidFill>
                <a:latin typeface="Courier New" pitchFamily="34" charset="0"/>
                <a:ea typeface="Courier New" pitchFamily="34" charset="-122"/>
                <a:cs typeface="Courier New" pitchFamily="34" charset="-120"/>
              </a:rPr>
              <a:t> ms</a:t>
            </a:r>
            <a:endParaRPr lang="en-US" sz="2400" dirty="0"/>
          </a:p>
        </p:txBody>
      </p:sp>
      <p:sp>
        <p:nvSpPr>
          <p:cNvPr id="11" name="Shape 8"/>
          <p:cNvSpPr/>
          <p:nvPr/>
        </p:nvSpPr>
        <p:spPr>
          <a:xfrm>
            <a:off x="7818120" y="4023360"/>
            <a:ext cx="3200400" cy="1325880"/>
          </a:xfrm>
          <a:prstGeom prst="roundRect">
            <a:avLst>
              <a:gd name="adj" fmla="val 2069"/>
            </a:avLst>
          </a:prstGeom>
          <a:solidFill>
            <a:srgbClr val="F3F4F6"/>
          </a:solidFill>
          <a:ln w="12700">
            <a:solidFill>
              <a:srgbClr val="E2E5E9"/>
            </a:solidFill>
            <a:prstDash val="solid"/>
          </a:ln>
        </p:spPr>
      </p:sp>
      <p:sp>
        <p:nvSpPr>
          <p:cNvPr id="12" name="Text 9"/>
          <p:cNvSpPr/>
          <p:nvPr/>
        </p:nvSpPr>
        <p:spPr>
          <a:xfrm>
            <a:off x="8001000" y="4206240"/>
            <a:ext cx="2880360" cy="1005840"/>
          </a:xfrm>
          <a:prstGeom prst="rect">
            <a:avLst/>
          </a:prstGeom>
          <a:noFill/>
          <a:ln/>
        </p:spPr>
        <p:txBody>
          <a:bodyPr wrap="square" lIns="0" tIns="0" rIns="0" bIns="0" rtlCol="0" anchor="t"/>
          <a:lstStyle/>
          <a:p>
            <a:pPr indent="0" marL="0">
              <a:lnSpc>
                <a:spcPct val="115000"/>
              </a:lnSpc>
              <a:buNone/>
            </a:pPr>
            <a:r>
              <a:rPr lang="en-US" sz="1250" dirty="0">
                <a:solidFill>
                  <a:srgbClr val="6E757F"/>
                </a:solidFill>
                <a:latin typeface="Calibri" pitchFamily="34" charset="0"/>
                <a:ea typeface="Calibri" pitchFamily="34" charset="-122"/>
                <a:cs typeface="Calibri" pitchFamily="34" charset="-120"/>
              </a:rPr>
              <a:t>Microsecond response belongs to hardwired interlocks and analog trip amplifiers. No software in the path — which is exactly why they are trusted with safety.</a:t>
            </a:r>
            <a:endParaRPr lang="en-US" sz="1250" dirty="0"/>
          </a:p>
        </p:txBody>
      </p:sp>
      <p:sp>
        <p:nvSpPr>
          <p:cNvPr id="13" name="Text 10"/>
          <p:cNvSpPr/>
          <p:nvPr/>
        </p:nvSpPr>
        <p:spPr>
          <a:xfrm>
            <a:off x="566928" y="5532120"/>
            <a:ext cx="6858000" cy="320040"/>
          </a:xfrm>
          <a:prstGeom prst="rect">
            <a:avLst/>
          </a:prstGeom>
          <a:noFill/>
          <a:ln/>
        </p:spPr>
        <p:txBody>
          <a:bodyPr wrap="square" lIns="0" tIns="0" rIns="0" bIns="0" rtlCol="0" anchor="ctr"/>
          <a:lstStyle/>
          <a:p>
            <a:pPr indent="0" marL="0">
              <a:buNone/>
            </a:pPr>
            <a:r>
              <a:rPr lang="en-US" sz="1150" i="1" dirty="0">
                <a:solidFill>
                  <a:srgbClr val="6E757F"/>
                </a:solidFill>
                <a:latin typeface="Calibri" pitchFamily="34" charset="0"/>
                <a:ea typeface="Calibri" pitchFamily="34" charset="-122"/>
                <a:cs typeface="Calibri" pitchFamily="34" charset="-120"/>
              </a:rPr>
              <a:t>Cloud round trip is off the chart scale in practice — treat 500 ms as optimistic.</a:t>
            </a:r>
            <a:endParaRPr lang="en-US" sz="1150" dirty="0"/>
          </a:p>
        </p:txBody>
      </p:sp>
      <p:sp>
        <p:nvSpPr>
          <p:cNvPr id="14" name="Text 11"/>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09  ·  THE STACK</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81C"/>
        </a:solidFill>
      </p:bgPr>
    </p:bg>
    <p:spTree>
      <p:nvGrpSpPr>
        <p:cNvPr id="1" name=""/>
        <p:cNvGrpSpPr/>
        <p:nvPr/>
      </p:nvGrpSpPr>
      <p:grpSpPr>
        <a:xfrm>
          <a:off x="0" y="0"/>
          <a:ext cx="0" cy="0"/>
          <a:chOff x="0" y="0"/>
          <a:chExt cx="0" cy="0"/>
        </a:xfrm>
      </p:grpSpPr>
      <p:sp>
        <p:nvSpPr>
          <p:cNvPr id="2" name="Text 0"/>
          <p:cNvSpPr/>
          <p:nvPr/>
        </p:nvSpPr>
        <p:spPr>
          <a:xfrm>
            <a:off x="566928" y="1554480"/>
            <a:ext cx="5486400" cy="201168"/>
          </a:xfrm>
          <a:prstGeom prst="rect">
            <a:avLst/>
          </a:prstGeom>
          <a:noFill/>
          <a:ln/>
        </p:spPr>
        <p:txBody>
          <a:bodyPr wrap="square" lIns="0" tIns="0" rIns="0" bIns="0" rtlCol="0" anchor="ctr"/>
          <a:lstStyle/>
          <a:p>
            <a:pPr indent="0" marL="0">
              <a:buNone/>
            </a:pPr>
            <a:r>
              <a:rPr lang="en-US" sz="1000" spc="220" kern="0" dirty="0">
                <a:solidFill>
                  <a:srgbClr val="E8A33D"/>
                </a:solidFill>
                <a:latin typeface="Courier New" pitchFamily="34" charset="0"/>
                <a:ea typeface="Courier New" pitchFamily="34" charset="-122"/>
                <a:cs typeface="Courier New" pitchFamily="34" charset="-120"/>
              </a:rPr>
              <a:t>THE RULE</a:t>
            </a:r>
            <a:endParaRPr lang="en-US" sz="1000" dirty="0"/>
          </a:p>
        </p:txBody>
      </p:sp>
      <p:sp>
        <p:nvSpPr>
          <p:cNvPr id="3" name="Text 1"/>
          <p:cNvSpPr/>
          <p:nvPr/>
        </p:nvSpPr>
        <p:spPr>
          <a:xfrm>
            <a:off x="566928" y="1920240"/>
            <a:ext cx="10515600" cy="173736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AI sits above the control layer,</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not inside it.</a:t>
            </a:r>
            <a:endParaRPr lang="en-US" sz="4000" dirty="0"/>
          </a:p>
        </p:txBody>
      </p:sp>
      <p:sp>
        <p:nvSpPr>
          <p:cNvPr id="4" name="Text 2"/>
          <p:cNvSpPr/>
          <p:nvPr/>
        </p:nvSpPr>
        <p:spPr>
          <a:xfrm>
            <a:off x="566928" y="3931920"/>
            <a:ext cx="9509760" cy="914400"/>
          </a:xfrm>
          <a:prstGeom prst="rect">
            <a:avLst/>
          </a:prstGeom>
          <a:noFill/>
          <a:ln/>
        </p:spPr>
        <p:txBody>
          <a:bodyPr wrap="square" lIns="0" tIns="0" rIns="0" bIns="0" rtlCol="0" anchor="ctr"/>
          <a:lstStyle/>
          <a:p>
            <a:pPr indent="0" marL="0">
              <a:buNone/>
            </a:pPr>
            <a:r>
              <a:rPr lang="en-US" sz="1800" dirty="0">
                <a:solidFill>
                  <a:srgbClr val="8A929C"/>
                </a:solidFill>
                <a:latin typeface="Calibri" pitchFamily="34" charset="0"/>
                <a:ea typeface="Calibri" pitchFamily="34" charset="-122"/>
                <a:cs typeface="Calibri" pitchFamily="34" charset="-120"/>
              </a:rPr>
              <a:t>It advises a human or a supervisory system. It rarely has direct authority over an actuator. It essentially never has authority over a safety function. We will come back to why.</a:t>
            </a:r>
            <a:endParaRPr lang="en-US" sz="1800" dirty="0"/>
          </a:p>
        </p:txBody>
      </p:sp>
      <p:sp>
        <p:nvSpPr>
          <p:cNvPr id="5" name="Text 3"/>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8A929C"/>
                </a:solidFill>
                <a:latin typeface="Courier New" pitchFamily="34" charset="0"/>
                <a:ea typeface="Courier New" pitchFamily="34" charset="-122"/>
                <a:cs typeface="Courier New" pitchFamily="34" charset="-120"/>
              </a:rPr>
              <a:t>10  ·  THE STACK</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PART 2</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One failure, all the way down</a:t>
            </a:r>
            <a:endParaRPr lang="en-US" sz="3400" dirty="0"/>
          </a:p>
        </p:txBody>
      </p:sp>
      <p:sp>
        <p:nvSpPr>
          <p:cNvPr id="4" name="Text 2"/>
          <p:cNvSpPr/>
          <p:nvPr/>
        </p:nvSpPr>
        <p:spPr>
          <a:xfrm>
            <a:off x="566928" y="2011680"/>
            <a:ext cx="4023360" cy="1371600"/>
          </a:xfrm>
          <a:prstGeom prst="rect">
            <a:avLst/>
          </a:prstGeom>
          <a:noFill/>
          <a:ln/>
        </p:spPr>
        <p:txBody>
          <a:bodyPr wrap="square" lIns="0" tIns="0" rIns="0" bIns="0" rtlCol="0" anchor="ctr"/>
          <a:lstStyle/>
          <a:p>
            <a:pPr indent="0" marL="0">
              <a:buNone/>
            </a:pPr>
            <a:r>
              <a:rPr lang="en-US" sz="6600" b="1" dirty="0">
                <a:solidFill>
                  <a:srgbClr val="E8A33D"/>
                </a:solidFill>
                <a:latin typeface="Courier New" pitchFamily="34" charset="0"/>
                <a:ea typeface="Courier New" pitchFamily="34" charset="-122"/>
                <a:cs typeface="Courier New" pitchFamily="34" charset="-120"/>
              </a:rPr>
              <a:t>40–50%</a:t>
            </a:r>
            <a:endParaRPr lang="en-US" sz="6600" dirty="0"/>
          </a:p>
        </p:txBody>
      </p:sp>
      <p:sp>
        <p:nvSpPr>
          <p:cNvPr id="5" name="Text 3"/>
          <p:cNvSpPr/>
          <p:nvPr/>
        </p:nvSpPr>
        <p:spPr>
          <a:xfrm>
            <a:off x="566928" y="3383280"/>
            <a:ext cx="4206240" cy="822960"/>
          </a:xfrm>
          <a:prstGeom prst="rect">
            <a:avLst/>
          </a:prstGeom>
          <a:noFill/>
          <a:ln/>
        </p:spPr>
        <p:txBody>
          <a:bodyPr wrap="square" lIns="0" tIns="0" rIns="0" bIns="0" rtlCol="0" anchor="ctr"/>
          <a:lstStyle/>
          <a:p>
            <a:pPr indent="0" marL="0">
              <a:buNone/>
            </a:pPr>
            <a:r>
              <a:rPr lang="en-US" sz="1500" dirty="0">
                <a:solidFill>
                  <a:srgbClr val="6E757F"/>
                </a:solidFill>
                <a:latin typeface="Calibri" pitchFamily="34" charset="0"/>
                <a:ea typeface="Calibri" pitchFamily="34" charset="-122"/>
                <a:cs typeface="Calibri" pitchFamily="34" charset="-120"/>
              </a:rPr>
              <a:t>of failures in electrical rotating machines are bearing failures</a:t>
            </a:r>
            <a:endParaRPr lang="en-US" sz="1500" dirty="0"/>
          </a:p>
        </p:txBody>
      </p:sp>
      <p:sp>
        <p:nvSpPr>
          <p:cNvPr id="6" name="Shape 4"/>
          <p:cNvSpPr/>
          <p:nvPr/>
        </p:nvSpPr>
        <p:spPr>
          <a:xfrm>
            <a:off x="5413248" y="2011680"/>
            <a:ext cx="6181344" cy="3200400"/>
          </a:xfrm>
          <a:prstGeom prst="roundRect">
            <a:avLst>
              <a:gd name="adj" fmla="val 857"/>
            </a:avLst>
          </a:prstGeom>
          <a:solidFill>
            <a:srgbClr val="F3F4F6"/>
          </a:solidFill>
          <a:ln w="12700">
            <a:solidFill>
              <a:srgbClr val="E2E5E9"/>
            </a:solidFill>
            <a:prstDash val="solid"/>
          </a:ln>
        </p:spPr>
      </p:sp>
      <p:sp>
        <p:nvSpPr>
          <p:cNvPr id="7" name="Text 5"/>
          <p:cNvSpPr/>
          <p:nvPr/>
        </p:nvSpPr>
        <p:spPr>
          <a:xfrm>
            <a:off x="5687568" y="2267712"/>
            <a:ext cx="64008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WHY THIS EXAMPLE, FOR EIGHTEEN MINUTES</a:t>
            </a:r>
            <a:endParaRPr lang="en-US" sz="1000" dirty="0"/>
          </a:p>
        </p:txBody>
      </p:sp>
      <p:sp>
        <p:nvSpPr>
          <p:cNvPr id="8" name="Text 6"/>
          <p:cNvSpPr/>
          <p:nvPr/>
        </p:nvSpPr>
        <p:spPr>
          <a:xfrm>
            <a:off x="5687568" y="2606040"/>
            <a:ext cx="5669280" cy="246888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rgbClr val="1E2127"/>
                </a:solidFill>
                <a:latin typeface="Calibri" pitchFamily="34" charset="0"/>
                <a:ea typeface="Calibri" pitchFamily="34" charset="-122"/>
                <a:cs typeface="Calibri" pitchFamily="34" charset="-120"/>
              </a:rPr>
              <a:t>It is not a toy — it is the single most common failure mode</a:t>
            </a:r>
            <a:endParaRPr lang="en-US" sz="1450" dirty="0"/>
          </a:p>
          <a:p>
            <a:pPr marL="342900" indent="-342900">
              <a:spcAft>
                <a:spcPts val="700"/>
              </a:spcAft>
              <a:buSzPct val="100000"/>
              <a:buChar char="•"/>
            </a:pPr>
            <a:r>
              <a:rPr lang="en-US" sz="1450" dirty="0">
                <a:solidFill>
                  <a:srgbClr val="1E2127"/>
                </a:solidFill>
                <a:latin typeface="Calibri" pitchFamily="34" charset="0"/>
                <a:ea typeface="Calibri" pitchFamily="34" charset="-122"/>
                <a:cs typeface="Calibri" pitchFamily="34" charset="-120"/>
              </a:rPr>
              <a:t>The cleanest path I know from physics → signal processing → machine learning → a business decision</a:t>
            </a:r>
            <a:endParaRPr lang="en-US" sz="1450" dirty="0"/>
          </a:p>
          <a:p>
            <a:pPr marL="342900" indent="-342900">
              <a:spcAft>
                <a:spcPts val="700"/>
              </a:spcAft>
              <a:buSzPct val="100000"/>
              <a:buChar char="•"/>
            </a:pPr>
            <a:r>
              <a:rPr lang="en-US" sz="1450" dirty="0">
                <a:solidFill>
                  <a:srgbClr val="1E2127"/>
                </a:solidFill>
                <a:latin typeface="Calibri" pitchFamily="34" charset="0"/>
                <a:ea typeface="Calibri" pitchFamily="34" charset="-122"/>
                <a:cs typeface="Calibri" pitchFamily="34" charset="-120"/>
              </a:rPr>
              <a:t>Everything is publicly verifiable: the bearing, the dataset, the arithmetic</a:t>
            </a:r>
            <a:endParaRPr lang="en-US" sz="1450" dirty="0"/>
          </a:p>
          <a:p>
            <a:pPr marL="342900" indent="-342900">
              <a:spcAft>
                <a:spcPts val="700"/>
              </a:spcAft>
              <a:buSzPct val="100000"/>
              <a:buChar char="•"/>
            </a:pPr>
            <a:r>
              <a:rPr lang="en-US" sz="1450" dirty="0">
                <a:solidFill>
                  <a:srgbClr val="1E2127"/>
                </a:solidFill>
                <a:latin typeface="Calibri" pitchFamily="34" charset="0"/>
                <a:ea typeface="Calibri" pitchFamily="34" charset="-122"/>
                <a:cs typeface="Calibri" pitchFamily="34" charset="-120"/>
              </a:rPr>
              <a:t>And it shows exactly where the AI is, and how small that part is</a:t>
            </a:r>
            <a:endParaRPr lang="en-US" sz="1450" dirty="0"/>
          </a:p>
        </p:txBody>
      </p:sp>
      <p:sp>
        <p:nvSpPr>
          <p:cNvPr id="9" name="Text 7"/>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11  ·  THE BEARING</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PART 2  ·  BEARING KINEMATICS</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The physics gives you the answer first</a:t>
            </a:r>
            <a:endParaRPr lang="en-US" sz="3400" dirty="0"/>
          </a:p>
        </p:txBody>
      </p:sp>
      <p:sp>
        <p:nvSpPr>
          <p:cNvPr id="4" name="Shape 2"/>
          <p:cNvSpPr/>
          <p:nvPr/>
        </p:nvSpPr>
        <p:spPr>
          <a:xfrm>
            <a:off x="566928" y="1783080"/>
            <a:ext cx="5394960" cy="3749040"/>
          </a:xfrm>
          <a:prstGeom prst="roundRect">
            <a:avLst>
              <a:gd name="adj" fmla="val 732"/>
            </a:avLst>
          </a:prstGeom>
          <a:solidFill>
            <a:srgbClr val="F3F4F6"/>
          </a:solidFill>
          <a:ln w="12700">
            <a:solidFill>
              <a:srgbClr val="E2E5E9"/>
            </a:solidFill>
            <a:prstDash val="solid"/>
          </a:ln>
        </p:spPr>
      </p:sp>
      <p:sp>
        <p:nvSpPr>
          <p:cNvPr id="5" name="Text 3"/>
          <p:cNvSpPr/>
          <p:nvPr/>
        </p:nvSpPr>
        <p:spPr>
          <a:xfrm>
            <a:off x="841248" y="2011680"/>
            <a:ext cx="4572000" cy="201168"/>
          </a:xfrm>
          <a:prstGeom prst="rect">
            <a:avLst/>
          </a:prstGeom>
          <a:noFill/>
          <a:ln/>
        </p:spPr>
        <p:txBody>
          <a:bodyPr wrap="square" lIns="0" tIns="0" rIns="0" bIns="0" rtlCol="0" anchor="ctr"/>
          <a:lstStyle/>
          <a:p>
            <a:pPr indent="0" marL="0">
              <a:buNone/>
            </a:pPr>
            <a:r>
              <a:rPr lang="en-US" sz="1000" spc="220" kern="0" dirty="0">
                <a:solidFill>
                  <a:srgbClr val="3FB6A8"/>
                </a:solidFill>
                <a:latin typeface="Courier New" pitchFamily="34" charset="0"/>
                <a:ea typeface="Courier New" pitchFamily="34" charset="-122"/>
                <a:cs typeface="Courier New" pitchFamily="34" charset="-120"/>
              </a:rPr>
              <a:t>THE CONSTRAINT</a:t>
            </a:r>
            <a:endParaRPr lang="en-US" sz="1000" dirty="0"/>
          </a:p>
        </p:txBody>
      </p:sp>
      <p:sp>
        <p:nvSpPr>
          <p:cNvPr id="6" name="Text 4"/>
          <p:cNvSpPr/>
          <p:nvPr/>
        </p:nvSpPr>
        <p:spPr>
          <a:xfrm>
            <a:off x="841248" y="2331720"/>
            <a:ext cx="4846320" cy="3017520"/>
          </a:xfrm>
          <a:prstGeom prst="rect">
            <a:avLst/>
          </a:prstGeom>
          <a:noFill/>
          <a:ln/>
        </p:spPr>
        <p:txBody>
          <a:bodyPr wrap="square" lIns="0" tIns="0" rIns="0" bIns="0" rtlCol="0" anchor="t"/>
          <a:lstStyle/>
          <a:p>
            <a:pPr indent="0" marL="0">
              <a:lnSpc>
                <a:spcPct val="115000"/>
              </a:lnSpc>
              <a:buNone/>
            </a:pPr>
            <a:r>
              <a:rPr lang="en-US" sz="1500" dirty="0">
                <a:solidFill>
                  <a:srgbClr val="1E2127"/>
                </a:solidFill>
                <a:latin typeface="Calibri" pitchFamily="34" charset="0"/>
                <a:ea typeface="Calibri" pitchFamily="34" charset="-122"/>
                <a:cs typeface="Calibri" pitchFamily="34" charset="-120"/>
              </a:rPr>
              <a:t>Balls roll rather than slide. That single constraint fixes the cage speed as a fraction of shaft speed. Everything else follows by counting how often a ball passes a defect.</a:t>
            </a:r>
            <a:endParaRPr lang="en-US" sz="1500" dirty="0"/>
          </a:p>
          <a:p>
            <a:pPr indent="0" marL="0">
              <a:lnSpc>
                <a:spcPct val="115000"/>
              </a:lnSpc>
              <a:buNone/>
            </a:pPr>
            <a:endParaRPr lang="en-US" sz="1500" dirty="0"/>
          </a:p>
          <a:p>
            <a:pPr indent="0" marL="0">
              <a:lnSpc>
                <a:spcPct val="115000"/>
              </a:lnSpc>
              <a:buNone/>
            </a:pPr>
            <a:r>
              <a:rPr lang="en-US" sz="1500" dirty="0">
                <a:solidFill>
                  <a:srgbClr val="1E2127"/>
                </a:solidFill>
                <a:latin typeface="Calibri" pitchFamily="34" charset="0"/>
                <a:ea typeface="Calibri" pitchFamily="34" charset="-122"/>
                <a:cs typeface="Calibri" pitchFamily="34" charset="-120"/>
              </a:rPr>
              <a:t>n = ball count   d = ball diameter</a:t>
            </a:r>
            <a:endParaRPr lang="en-US" sz="1500" dirty="0"/>
          </a:p>
          <a:p>
            <a:pPr indent="0" marL="0">
              <a:lnSpc>
                <a:spcPct val="115000"/>
              </a:lnSpc>
              <a:buNone/>
            </a:pPr>
            <a:r>
              <a:rPr lang="en-US" sz="1500" dirty="0">
                <a:solidFill>
                  <a:srgbClr val="1E2127"/>
                </a:solidFill>
                <a:latin typeface="Calibri" pitchFamily="34" charset="0"/>
                <a:ea typeface="Calibri" pitchFamily="34" charset="-122"/>
                <a:cs typeface="Calibri" pitchFamily="34" charset="-120"/>
              </a:rPr>
              <a:t>D = pitch diameter   θ = contact angle</a:t>
            </a:r>
            <a:endParaRPr lang="en-US" sz="1500" dirty="0"/>
          </a:p>
        </p:txBody>
      </p:sp>
      <p:sp>
        <p:nvSpPr>
          <p:cNvPr id="7" name="Shape 5"/>
          <p:cNvSpPr/>
          <p:nvPr/>
        </p:nvSpPr>
        <p:spPr>
          <a:xfrm>
            <a:off x="6236208" y="1783080"/>
            <a:ext cx="5358384" cy="1170432"/>
          </a:xfrm>
          <a:prstGeom prst="roundRect">
            <a:avLst>
              <a:gd name="adj" fmla="val 3125"/>
            </a:avLst>
          </a:prstGeom>
          <a:solidFill>
            <a:srgbClr val="16181C"/>
          </a:solidFill>
          <a:ln w="12700">
            <a:solidFill>
              <a:srgbClr val="343A44"/>
            </a:solidFill>
            <a:prstDash val="solid"/>
          </a:ln>
        </p:spPr>
      </p:sp>
      <p:sp>
        <p:nvSpPr>
          <p:cNvPr id="8" name="Text 6"/>
          <p:cNvSpPr/>
          <p:nvPr/>
        </p:nvSpPr>
        <p:spPr>
          <a:xfrm>
            <a:off x="6437376" y="1901952"/>
            <a:ext cx="914400" cy="274320"/>
          </a:xfrm>
          <a:prstGeom prst="rect">
            <a:avLst/>
          </a:prstGeom>
          <a:noFill/>
          <a:ln/>
        </p:spPr>
        <p:txBody>
          <a:bodyPr wrap="square" lIns="0" tIns="0" rIns="0" bIns="0" rtlCol="0" anchor="ctr"/>
          <a:lstStyle/>
          <a:p>
            <a:pPr indent="0" marL="0">
              <a:buNone/>
            </a:pPr>
            <a:r>
              <a:rPr lang="en-US" sz="1200" b="1" dirty="0">
                <a:solidFill>
                  <a:srgbClr val="8A7CC2"/>
                </a:solidFill>
                <a:latin typeface="Courier New" pitchFamily="34" charset="0"/>
                <a:ea typeface="Courier New" pitchFamily="34" charset="-122"/>
                <a:cs typeface="Courier New" pitchFamily="34" charset="-120"/>
              </a:rPr>
              <a:t>FTF</a:t>
            </a:r>
            <a:endParaRPr lang="en-US" sz="1200" dirty="0"/>
          </a:p>
        </p:txBody>
      </p:sp>
      <p:sp>
        <p:nvSpPr>
          <p:cNvPr id="9" name="Text 7"/>
          <p:cNvSpPr/>
          <p:nvPr/>
        </p:nvSpPr>
        <p:spPr>
          <a:xfrm>
            <a:off x="6437376" y="2185416"/>
            <a:ext cx="4937760" cy="32918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(f_r / 2) · (1 − (d/D)·cos θ)</a:t>
            </a:r>
            <a:endParaRPr lang="en-US" sz="1400" dirty="0"/>
          </a:p>
        </p:txBody>
      </p:sp>
      <p:sp>
        <p:nvSpPr>
          <p:cNvPr id="10" name="Text 8"/>
          <p:cNvSpPr/>
          <p:nvPr/>
        </p:nvSpPr>
        <p:spPr>
          <a:xfrm>
            <a:off x="6437376" y="2560320"/>
            <a:ext cx="4937760" cy="256032"/>
          </a:xfrm>
          <a:prstGeom prst="rect">
            <a:avLst/>
          </a:prstGeom>
          <a:noFill/>
          <a:ln/>
        </p:spPr>
        <p:txBody>
          <a:bodyPr wrap="square" lIns="0" tIns="0" rIns="0" bIns="0" rtlCol="0" anchor="ctr"/>
          <a:lstStyle/>
          <a:p>
            <a:pPr indent="0" marL="0">
              <a:buNone/>
            </a:pPr>
            <a:r>
              <a:rPr lang="en-US" sz="1150" dirty="0">
                <a:solidFill>
                  <a:srgbClr val="8A929C"/>
                </a:solidFill>
                <a:latin typeface="Calibri" pitchFamily="34" charset="0"/>
                <a:ea typeface="Calibri" pitchFamily="34" charset="-122"/>
                <a:cs typeface="Calibri" pitchFamily="34" charset="-120"/>
              </a:rPr>
              <a:t>cage rotation</a:t>
            </a:r>
            <a:endParaRPr lang="en-US" sz="1150" dirty="0"/>
          </a:p>
        </p:txBody>
      </p:sp>
      <p:sp>
        <p:nvSpPr>
          <p:cNvPr id="11" name="Shape 9"/>
          <p:cNvSpPr/>
          <p:nvPr/>
        </p:nvSpPr>
        <p:spPr>
          <a:xfrm>
            <a:off x="6236208" y="3072384"/>
            <a:ext cx="5358384" cy="1170432"/>
          </a:xfrm>
          <a:prstGeom prst="roundRect">
            <a:avLst>
              <a:gd name="adj" fmla="val 3125"/>
            </a:avLst>
          </a:prstGeom>
          <a:solidFill>
            <a:srgbClr val="16181C"/>
          </a:solidFill>
          <a:ln w="12700">
            <a:solidFill>
              <a:srgbClr val="343A44"/>
            </a:solidFill>
            <a:prstDash val="solid"/>
          </a:ln>
        </p:spPr>
      </p:sp>
      <p:sp>
        <p:nvSpPr>
          <p:cNvPr id="12" name="Text 10"/>
          <p:cNvSpPr/>
          <p:nvPr/>
        </p:nvSpPr>
        <p:spPr>
          <a:xfrm>
            <a:off x="6437376" y="3191256"/>
            <a:ext cx="914400" cy="274320"/>
          </a:xfrm>
          <a:prstGeom prst="rect">
            <a:avLst/>
          </a:prstGeom>
          <a:noFill/>
          <a:ln/>
        </p:spPr>
        <p:txBody>
          <a:bodyPr wrap="square" lIns="0" tIns="0" rIns="0" bIns="0" rtlCol="0" anchor="ctr"/>
          <a:lstStyle/>
          <a:p>
            <a:pPr indent="0" marL="0">
              <a:buNone/>
            </a:pPr>
            <a:r>
              <a:rPr lang="en-US" sz="1200" b="1" dirty="0">
                <a:solidFill>
                  <a:srgbClr val="E8A33D"/>
                </a:solidFill>
                <a:latin typeface="Courier New" pitchFamily="34" charset="0"/>
                <a:ea typeface="Courier New" pitchFamily="34" charset="-122"/>
                <a:cs typeface="Courier New" pitchFamily="34" charset="-120"/>
              </a:rPr>
              <a:t>BPFO</a:t>
            </a:r>
            <a:endParaRPr lang="en-US" sz="1200" dirty="0"/>
          </a:p>
        </p:txBody>
      </p:sp>
      <p:sp>
        <p:nvSpPr>
          <p:cNvPr id="13" name="Text 11"/>
          <p:cNvSpPr/>
          <p:nvPr/>
        </p:nvSpPr>
        <p:spPr>
          <a:xfrm>
            <a:off x="6437376" y="3474720"/>
            <a:ext cx="4937760" cy="32918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(n/2) · f_r · (1 − (d/D)·cos θ)</a:t>
            </a:r>
            <a:endParaRPr lang="en-US" sz="1400" dirty="0"/>
          </a:p>
        </p:txBody>
      </p:sp>
      <p:sp>
        <p:nvSpPr>
          <p:cNvPr id="14" name="Text 12"/>
          <p:cNvSpPr/>
          <p:nvPr/>
        </p:nvSpPr>
        <p:spPr>
          <a:xfrm>
            <a:off x="6437376" y="3849624"/>
            <a:ext cx="4937760" cy="256032"/>
          </a:xfrm>
          <a:prstGeom prst="rect">
            <a:avLst/>
          </a:prstGeom>
          <a:noFill/>
          <a:ln/>
        </p:spPr>
        <p:txBody>
          <a:bodyPr wrap="square" lIns="0" tIns="0" rIns="0" bIns="0" rtlCol="0" anchor="ctr"/>
          <a:lstStyle/>
          <a:p>
            <a:pPr indent="0" marL="0">
              <a:buNone/>
            </a:pPr>
            <a:r>
              <a:rPr lang="en-US" sz="1150" dirty="0">
                <a:solidFill>
                  <a:srgbClr val="8A929C"/>
                </a:solidFill>
                <a:latin typeface="Calibri" pitchFamily="34" charset="0"/>
                <a:ea typeface="Calibri" pitchFamily="34" charset="-122"/>
                <a:cs typeface="Calibri" pitchFamily="34" charset="-120"/>
              </a:rPr>
              <a:t>ball passes a fixed point on the outer race</a:t>
            </a:r>
            <a:endParaRPr lang="en-US" sz="1150" dirty="0"/>
          </a:p>
        </p:txBody>
      </p:sp>
      <p:sp>
        <p:nvSpPr>
          <p:cNvPr id="15" name="Shape 13"/>
          <p:cNvSpPr/>
          <p:nvPr/>
        </p:nvSpPr>
        <p:spPr>
          <a:xfrm>
            <a:off x="6236208" y="4361688"/>
            <a:ext cx="5358384" cy="1170432"/>
          </a:xfrm>
          <a:prstGeom prst="roundRect">
            <a:avLst>
              <a:gd name="adj" fmla="val 3125"/>
            </a:avLst>
          </a:prstGeom>
          <a:solidFill>
            <a:srgbClr val="16181C"/>
          </a:solidFill>
          <a:ln w="12700">
            <a:solidFill>
              <a:srgbClr val="343A44"/>
            </a:solidFill>
            <a:prstDash val="solid"/>
          </a:ln>
        </p:spPr>
      </p:sp>
      <p:sp>
        <p:nvSpPr>
          <p:cNvPr id="16" name="Text 14"/>
          <p:cNvSpPr/>
          <p:nvPr/>
        </p:nvSpPr>
        <p:spPr>
          <a:xfrm>
            <a:off x="6437376" y="4480560"/>
            <a:ext cx="914400" cy="274320"/>
          </a:xfrm>
          <a:prstGeom prst="rect">
            <a:avLst/>
          </a:prstGeom>
          <a:noFill/>
          <a:ln/>
        </p:spPr>
        <p:txBody>
          <a:bodyPr wrap="square" lIns="0" tIns="0" rIns="0" bIns="0" rtlCol="0" anchor="ctr"/>
          <a:lstStyle/>
          <a:p>
            <a:pPr indent="0" marL="0">
              <a:buNone/>
            </a:pPr>
            <a:r>
              <a:rPr lang="en-US" sz="1200" b="1" dirty="0">
                <a:solidFill>
                  <a:srgbClr val="C4483A"/>
                </a:solidFill>
                <a:latin typeface="Courier New" pitchFamily="34" charset="0"/>
                <a:ea typeface="Courier New" pitchFamily="34" charset="-122"/>
                <a:cs typeface="Courier New" pitchFamily="34" charset="-120"/>
              </a:rPr>
              <a:t>BPFI</a:t>
            </a:r>
            <a:endParaRPr lang="en-US" sz="1200" dirty="0"/>
          </a:p>
        </p:txBody>
      </p:sp>
      <p:sp>
        <p:nvSpPr>
          <p:cNvPr id="17" name="Text 15"/>
          <p:cNvSpPr/>
          <p:nvPr/>
        </p:nvSpPr>
        <p:spPr>
          <a:xfrm>
            <a:off x="6437376" y="4764024"/>
            <a:ext cx="4937760" cy="32918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(n/2) · f_r · (1 + (d/D)·cos θ)</a:t>
            </a:r>
            <a:endParaRPr lang="en-US" sz="1400" dirty="0"/>
          </a:p>
        </p:txBody>
      </p:sp>
      <p:sp>
        <p:nvSpPr>
          <p:cNvPr id="18" name="Text 16"/>
          <p:cNvSpPr/>
          <p:nvPr/>
        </p:nvSpPr>
        <p:spPr>
          <a:xfrm>
            <a:off x="6437376" y="5138928"/>
            <a:ext cx="4937760" cy="256032"/>
          </a:xfrm>
          <a:prstGeom prst="rect">
            <a:avLst/>
          </a:prstGeom>
          <a:noFill/>
          <a:ln/>
        </p:spPr>
        <p:txBody>
          <a:bodyPr wrap="square" lIns="0" tIns="0" rIns="0" bIns="0" rtlCol="0" anchor="ctr"/>
          <a:lstStyle/>
          <a:p>
            <a:pPr indent="0" marL="0">
              <a:buNone/>
            </a:pPr>
            <a:r>
              <a:rPr lang="en-US" sz="1150" dirty="0">
                <a:solidFill>
                  <a:srgbClr val="8A929C"/>
                </a:solidFill>
                <a:latin typeface="Calibri" pitchFamily="34" charset="0"/>
                <a:ea typeface="Calibri" pitchFamily="34" charset="-122"/>
                <a:cs typeface="Calibri" pitchFamily="34" charset="-120"/>
              </a:rPr>
              <a:t>…on the rotating inner race</a:t>
            </a:r>
            <a:endParaRPr lang="en-US" sz="1150" dirty="0"/>
          </a:p>
        </p:txBody>
      </p:sp>
      <p:sp>
        <p:nvSpPr>
          <p:cNvPr id="19" name="Text 17"/>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12  ·  THE BEARING</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PART 2  ·  WORKED NUMBERS</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SKF 6205 at 1797 rpm</a:t>
            </a:r>
            <a:endParaRPr lang="en-US" sz="3400" dirty="0"/>
          </a:p>
        </p:txBody>
      </p:sp>
      <p:sp>
        <p:nvSpPr>
          <p:cNvPr id="4" name="Text 2"/>
          <p:cNvSpPr/>
          <p:nvPr/>
        </p:nvSpPr>
        <p:spPr>
          <a:xfrm>
            <a:off x="566928" y="1572768"/>
            <a:ext cx="10515600" cy="320040"/>
          </a:xfrm>
          <a:prstGeom prst="rect">
            <a:avLst/>
          </a:prstGeom>
          <a:noFill/>
          <a:ln/>
        </p:spPr>
        <p:txBody>
          <a:bodyPr wrap="square" lIns="0" tIns="0" rIns="0" bIns="0" rtlCol="0" anchor="ctr"/>
          <a:lstStyle/>
          <a:p>
            <a:pPr indent="0" marL="0">
              <a:buNone/>
            </a:pPr>
            <a:r>
              <a:rPr lang="en-US" sz="1300" dirty="0">
                <a:solidFill>
                  <a:srgbClr val="6E757F"/>
                </a:solidFill>
                <a:latin typeface="Courier New" pitchFamily="34" charset="0"/>
                <a:ea typeface="Courier New" pitchFamily="34" charset="-122"/>
                <a:cs typeface="Courier New" pitchFamily="34" charset="-120"/>
              </a:rPr>
              <a:t>9 balls  ·  d = 7.94 mm  ·  D = 39.04 mm  ·  θ = 0  ·  d/D = 0.2034</a:t>
            </a:r>
            <a:endParaRPr lang="en-US" sz="1300" dirty="0"/>
          </a:p>
        </p:txBody>
      </p:sp>
      <p:sp>
        <p:nvSpPr>
          <p:cNvPr id="5" name="Shape 3"/>
          <p:cNvSpPr/>
          <p:nvPr/>
        </p:nvSpPr>
        <p:spPr>
          <a:xfrm>
            <a:off x="566928" y="2057400"/>
            <a:ext cx="2606040" cy="960120"/>
          </a:xfrm>
          <a:prstGeom prst="roundRect">
            <a:avLst>
              <a:gd name="adj" fmla="val 3810"/>
            </a:avLst>
          </a:prstGeom>
          <a:solidFill>
            <a:srgbClr val="16181C"/>
          </a:solidFill>
          <a:ln w="12700">
            <a:solidFill>
              <a:srgbClr val="343A44"/>
            </a:solidFill>
            <a:prstDash val="solid"/>
          </a:ln>
        </p:spPr>
      </p:sp>
      <p:sp>
        <p:nvSpPr>
          <p:cNvPr id="6" name="Text 4"/>
          <p:cNvSpPr/>
          <p:nvPr/>
        </p:nvSpPr>
        <p:spPr>
          <a:xfrm>
            <a:off x="713232" y="2167128"/>
            <a:ext cx="2313432" cy="219456"/>
          </a:xfrm>
          <a:prstGeom prst="rect">
            <a:avLst/>
          </a:prstGeom>
          <a:noFill/>
          <a:ln/>
        </p:spPr>
        <p:txBody>
          <a:bodyPr wrap="square" lIns="0" tIns="0" rIns="0" bIns="0" rtlCol="0" anchor="ctr"/>
          <a:lstStyle/>
          <a:p>
            <a:pPr indent="0" marL="0">
              <a:buNone/>
            </a:pPr>
            <a:r>
              <a:rPr lang="en-US" sz="900" spc="180" kern="0" dirty="0">
                <a:solidFill>
                  <a:srgbClr val="8A929C"/>
                </a:solidFill>
                <a:latin typeface="Courier New" pitchFamily="34" charset="0"/>
                <a:ea typeface="Courier New" pitchFamily="34" charset="-122"/>
                <a:cs typeface="Courier New" pitchFamily="34" charset="-120"/>
              </a:rPr>
              <a:t>SHAFT  f_r</a:t>
            </a:r>
            <a:endParaRPr lang="en-US" sz="900" dirty="0"/>
          </a:p>
        </p:txBody>
      </p:sp>
      <p:sp>
        <p:nvSpPr>
          <p:cNvPr id="7" name="Text 5"/>
          <p:cNvSpPr/>
          <p:nvPr/>
        </p:nvSpPr>
        <p:spPr>
          <a:xfrm>
            <a:off x="713232" y="2441448"/>
            <a:ext cx="2313432" cy="457200"/>
          </a:xfrm>
          <a:prstGeom prst="rect">
            <a:avLst/>
          </a:prstGeom>
          <a:noFill/>
          <a:ln/>
        </p:spPr>
        <p:txBody>
          <a:bodyPr wrap="square" lIns="0" tIns="0" rIns="0" bIns="0" rtlCol="0" anchor="ctr"/>
          <a:lstStyle/>
          <a:p>
            <a:pPr indent="0" marL="0">
              <a:buNone/>
            </a:pPr>
            <a:r>
              <a:rPr lang="en-US" sz="2400" dirty="0">
                <a:solidFill>
                  <a:srgbClr val="3FB6A8"/>
                </a:solidFill>
                <a:latin typeface="Courier New" pitchFamily="34" charset="0"/>
                <a:ea typeface="Courier New" pitchFamily="34" charset="-122"/>
                <a:cs typeface="Courier New" pitchFamily="34" charset="-120"/>
              </a:rPr>
              <a:t>29.95</a:t>
            </a:r>
            <a:pPr indent="0" marL="0">
              <a:buNone/>
            </a:pPr>
            <a:r>
              <a:rPr lang="en-US" sz="1200" dirty="0">
                <a:solidFill>
                  <a:srgbClr val="8A929C"/>
                </a:solidFill>
                <a:latin typeface="Courier New" pitchFamily="34" charset="0"/>
                <a:ea typeface="Courier New" pitchFamily="34" charset="-122"/>
                <a:cs typeface="Courier New" pitchFamily="34" charset="-120"/>
              </a:rPr>
              <a:t> Hz</a:t>
            </a:r>
            <a:endParaRPr lang="en-US" sz="2400" dirty="0"/>
          </a:p>
        </p:txBody>
      </p:sp>
      <p:sp>
        <p:nvSpPr>
          <p:cNvPr id="8" name="Shape 6"/>
          <p:cNvSpPr/>
          <p:nvPr/>
        </p:nvSpPr>
        <p:spPr>
          <a:xfrm>
            <a:off x="3355848" y="2057400"/>
            <a:ext cx="2606040" cy="960120"/>
          </a:xfrm>
          <a:prstGeom prst="roundRect">
            <a:avLst>
              <a:gd name="adj" fmla="val 3810"/>
            </a:avLst>
          </a:prstGeom>
          <a:solidFill>
            <a:srgbClr val="16181C"/>
          </a:solidFill>
          <a:ln w="12700">
            <a:solidFill>
              <a:srgbClr val="343A44"/>
            </a:solidFill>
            <a:prstDash val="solid"/>
          </a:ln>
        </p:spPr>
      </p:sp>
      <p:sp>
        <p:nvSpPr>
          <p:cNvPr id="9" name="Text 7"/>
          <p:cNvSpPr/>
          <p:nvPr/>
        </p:nvSpPr>
        <p:spPr>
          <a:xfrm>
            <a:off x="3502152" y="2167128"/>
            <a:ext cx="2313432" cy="219456"/>
          </a:xfrm>
          <a:prstGeom prst="rect">
            <a:avLst/>
          </a:prstGeom>
          <a:noFill/>
          <a:ln/>
        </p:spPr>
        <p:txBody>
          <a:bodyPr wrap="square" lIns="0" tIns="0" rIns="0" bIns="0" rtlCol="0" anchor="ctr"/>
          <a:lstStyle/>
          <a:p>
            <a:pPr indent="0" marL="0">
              <a:buNone/>
            </a:pPr>
            <a:r>
              <a:rPr lang="en-US" sz="900" spc="180" kern="0" dirty="0">
                <a:solidFill>
                  <a:srgbClr val="8A929C"/>
                </a:solidFill>
                <a:latin typeface="Courier New" pitchFamily="34" charset="0"/>
                <a:ea typeface="Courier New" pitchFamily="34" charset="-122"/>
                <a:cs typeface="Courier New" pitchFamily="34" charset="-120"/>
              </a:rPr>
              <a:t>CAGE  FTF</a:t>
            </a:r>
            <a:endParaRPr lang="en-US" sz="900" dirty="0"/>
          </a:p>
        </p:txBody>
      </p:sp>
      <p:sp>
        <p:nvSpPr>
          <p:cNvPr id="10" name="Text 8"/>
          <p:cNvSpPr/>
          <p:nvPr/>
        </p:nvSpPr>
        <p:spPr>
          <a:xfrm>
            <a:off x="3502152" y="2441448"/>
            <a:ext cx="2313432" cy="457200"/>
          </a:xfrm>
          <a:prstGeom prst="rect">
            <a:avLst/>
          </a:prstGeom>
          <a:noFill/>
          <a:ln/>
        </p:spPr>
        <p:txBody>
          <a:bodyPr wrap="square" lIns="0" tIns="0" rIns="0" bIns="0" rtlCol="0" anchor="ctr"/>
          <a:lstStyle/>
          <a:p>
            <a:pPr indent="0" marL="0">
              <a:buNone/>
            </a:pPr>
            <a:r>
              <a:rPr lang="en-US" sz="2400" dirty="0">
                <a:solidFill>
                  <a:srgbClr val="8A7CC2"/>
                </a:solidFill>
                <a:latin typeface="Courier New" pitchFamily="34" charset="0"/>
                <a:ea typeface="Courier New" pitchFamily="34" charset="-122"/>
                <a:cs typeface="Courier New" pitchFamily="34" charset="-120"/>
              </a:rPr>
              <a:t>11.93</a:t>
            </a:r>
            <a:pPr indent="0" marL="0">
              <a:buNone/>
            </a:pPr>
            <a:r>
              <a:rPr lang="en-US" sz="1200" dirty="0">
                <a:solidFill>
                  <a:srgbClr val="8A929C"/>
                </a:solidFill>
                <a:latin typeface="Courier New" pitchFamily="34" charset="0"/>
                <a:ea typeface="Courier New" pitchFamily="34" charset="-122"/>
                <a:cs typeface="Courier New" pitchFamily="34" charset="-120"/>
              </a:rPr>
              <a:t> Hz</a:t>
            </a:r>
            <a:endParaRPr lang="en-US" sz="2400" dirty="0"/>
          </a:p>
        </p:txBody>
      </p:sp>
      <p:sp>
        <p:nvSpPr>
          <p:cNvPr id="11" name="Shape 9"/>
          <p:cNvSpPr/>
          <p:nvPr/>
        </p:nvSpPr>
        <p:spPr>
          <a:xfrm>
            <a:off x="6144768" y="2057400"/>
            <a:ext cx="2606040" cy="960120"/>
          </a:xfrm>
          <a:prstGeom prst="roundRect">
            <a:avLst>
              <a:gd name="adj" fmla="val 3810"/>
            </a:avLst>
          </a:prstGeom>
          <a:solidFill>
            <a:srgbClr val="16181C"/>
          </a:solidFill>
          <a:ln w="12700">
            <a:solidFill>
              <a:srgbClr val="343A44"/>
            </a:solidFill>
            <a:prstDash val="solid"/>
          </a:ln>
        </p:spPr>
      </p:sp>
      <p:sp>
        <p:nvSpPr>
          <p:cNvPr id="12" name="Text 10"/>
          <p:cNvSpPr/>
          <p:nvPr/>
        </p:nvSpPr>
        <p:spPr>
          <a:xfrm>
            <a:off x="6291072" y="2167128"/>
            <a:ext cx="2313432" cy="219456"/>
          </a:xfrm>
          <a:prstGeom prst="rect">
            <a:avLst/>
          </a:prstGeom>
          <a:noFill/>
          <a:ln/>
        </p:spPr>
        <p:txBody>
          <a:bodyPr wrap="square" lIns="0" tIns="0" rIns="0" bIns="0" rtlCol="0" anchor="ctr"/>
          <a:lstStyle/>
          <a:p>
            <a:pPr indent="0" marL="0">
              <a:buNone/>
            </a:pPr>
            <a:r>
              <a:rPr lang="en-US" sz="900" spc="180" kern="0" dirty="0">
                <a:solidFill>
                  <a:srgbClr val="8A929C"/>
                </a:solidFill>
                <a:latin typeface="Courier New" pitchFamily="34" charset="0"/>
                <a:ea typeface="Courier New" pitchFamily="34" charset="-122"/>
                <a:cs typeface="Courier New" pitchFamily="34" charset="-120"/>
              </a:rPr>
              <a:t>OUTER  BPFO</a:t>
            </a:r>
            <a:endParaRPr lang="en-US" sz="900" dirty="0"/>
          </a:p>
        </p:txBody>
      </p:sp>
      <p:sp>
        <p:nvSpPr>
          <p:cNvPr id="13" name="Text 11"/>
          <p:cNvSpPr/>
          <p:nvPr/>
        </p:nvSpPr>
        <p:spPr>
          <a:xfrm>
            <a:off x="6291072" y="2441448"/>
            <a:ext cx="2313432" cy="457200"/>
          </a:xfrm>
          <a:prstGeom prst="rect">
            <a:avLst/>
          </a:prstGeom>
          <a:noFill/>
          <a:ln/>
        </p:spPr>
        <p:txBody>
          <a:bodyPr wrap="square" lIns="0" tIns="0" rIns="0" bIns="0" rtlCol="0" anchor="ctr"/>
          <a:lstStyle/>
          <a:p>
            <a:pPr indent="0" marL="0">
              <a:buNone/>
            </a:pPr>
            <a:r>
              <a:rPr lang="en-US" sz="2400" dirty="0">
                <a:solidFill>
                  <a:srgbClr val="E8A33D"/>
                </a:solidFill>
                <a:latin typeface="Courier New" pitchFamily="34" charset="0"/>
                <a:ea typeface="Courier New" pitchFamily="34" charset="-122"/>
                <a:cs typeface="Courier New" pitchFamily="34" charset="-120"/>
              </a:rPr>
              <a:t>107.4</a:t>
            </a:r>
            <a:pPr indent="0" marL="0">
              <a:buNone/>
            </a:pPr>
            <a:r>
              <a:rPr lang="en-US" sz="1200" dirty="0">
                <a:solidFill>
                  <a:srgbClr val="8A929C"/>
                </a:solidFill>
                <a:latin typeface="Courier New" pitchFamily="34" charset="0"/>
                <a:ea typeface="Courier New" pitchFamily="34" charset="-122"/>
                <a:cs typeface="Courier New" pitchFamily="34" charset="-120"/>
              </a:rPr>
              <a:t> Hz</a:t>
            </a:r>
            <a:endParaRPr lang="en-US" sz="2400" dirty="0"/>
          </a:p>
        </p:txBody>
      </p:sp>
      <p:sp>
        <p:nvSpPr>
          <p:cNvPr id="14" name="Shape 12"/>
          <p:cNvSpPr/>
          <p:nvPr/>
        </p:nvSpPr>
        <p:spPr>
          <a:xfrm>
            <a:off x="8933688" y="2057400"/>
            <a:ext cx="2606040" cy="960120"/>
          </a:xfrm>
          <a:prstGeom prst="roundRect">
            <a:avLst>
              <a:gd name="adj" fmla="val 3810"/>
            </a:avLst>
          </a:prstGeom>
          <a:solidFill>
            <a:srgbClr val="16181C"/>
          </a:solidFill>
          <a:ln w="12700">
            <a:solidFill>
              <a:srgbClr val="343A44"/>
            </a:solidFill>
            <a:prstDash val="solid"/>
          </a:ln>
        </p:spPr>
      </p:sp>
      <p:sp>
        <p:nvSpPr>
          <p:cNvPr id="15" name="Text 13"/>
          <p:cNvSpPr/>
          <p:nvPr/>
        </p:nvSpPr>
        <p:spPr>
          <a:xfrm>
            <a:off x="9079992" y="2167128"/>
            <a:ext cx="2313432" cy="219456"/>
          </a:xfrm>
          <a:prstGeom prst="rect">
            <a:avLst/>
          </a:prstGeom>
          <a:noFill/>
          <a:ln/>
        </p:spPr>
        <p:txBody>
          <a:bodyPr wrap="square" lIns="0" tIns="0" rIns="0" bIns="0" rtlCol="0" anchor="ctr"/>
          <a:lstStyle/>
          <a:p>
            <a:pPr indent="0" marL="0">
              <a:buNone/>
            </a:pPr>
            <a:r>
              <a:rPr lang="en-US" sz="900" spc="180" kern="0" dirty="0">
                <a:solidFill>
                  <a:srgbClr val="8A929C"/>
                </a:solidFill>
                <a:latin typeface="Courier New" pitchFamily="34" charset="0"/>
                <a:ea typeface="Courier New" pitchFamily="34" charset="-122"/>
                <a:cs typeface="Courier New" pitchFamily="34" charset="-120"/>
              </a:rPr>
              <a:t>INNER  BPFI</a:t>
            </a:r>
            <a:endParaRPr lang="en-US" sz="900" dirty="0"/>
          </a:p>
        </p:txBody>
      </p:sp>
      <p:sp>
        <p:nvSpPr>
          <p:cNvPr id="16" name="Text 14"/>
          <p:cNvSpPr/>
          <p:nvPr/>
        </p:nvSpPr>
        <p:spPr>
          <a:xfrm>
            <a:off x="9079992" y="2441448"/>
            <a:ext cx="2313432" cy="457200"/>
          </a:xfrm>
          <a:prstGeom prst="rect">
            <a:avLst/>
          </a:prstGeom>
          <a:noFill/>
          <a:ln/>
        </p:spPr>
        <p:txBody>
          <a:bodyPr wrap="square" lIns="0" tIns="0" rIns="0" bIns="0" rtlCol="0" anchor="ctr"/>
          <a:lstStyle/>
          <a:p>
            <a:pPr indent="0" marL="0">
              <a:buNone/>
            </a:pPr>
            <a:r>
              <a:rPr lang="en-US" sz="2400" dirty="0">
                <a:solidFill>
                  <a:srgbClr val="C4483A"/>
                </a:solidFill>
                <a:latin typeface="Courier New" pitchFamily="34" charset="0"/>
                <a:ea typeface="Courier New" pitchFamily="34" charset="-122"/>
                <a:cs typeface="Courier New" pitchFamily="34" charset="-120"/>
              </a:rPr>
              <a:t>162.2</a:t>
            </a:r>
            <a:pPr indent="0" marL="0">
              <a:buNone/>
            </a:pPr>
            <a:r>
              <a:rPr lang="en-US" sz="1200" dirty="0">
                <a:solidFill>
                  <a:srgbClr val="8A929C"/>
                </a:solidFill>
                <a:latin typeface="Courier New" pitchFamily="34" charset="0"/>
                <a:ea typeface="Courier New" pitchFamily="34" charset="-122"/>
                <a:cs typeface="Courier New" pitchFamily="34" charset="-120"/>
              </a:rPr>
              <a:t> Hz</a:t>
            </a:r>
            <a:endParaRPr lang="en-US" sz="2400" dirty="0"/>
          </a:p>
        </p:txBody>
      </p:sp>
      <p:sp>
        <p:nvSpPr>
          <p:cNvPr id="17" name="Shape 15"/>
          <p:cNvSpPr/>
          <p:nvPr/>
        </p:nvSpPr>
        <p:spPr>
          <a:xfrm>
            <a:off x="566928" y="3383280"/>
            <a:ext cx="11027664" cy="1371600"/>
          </a:xfrm>
          <a:prstGeom prst="roundRect">
            <a:avLst>
              <a:gd name="adj" fmla="val 2667"/>
            </a:avLst>
          </a:prstGeom>
          <a:solidFill>
            <a:srgbClr val="16181C"/>
          </a:solidFill>
          <a:ln w="19050">
            <a:solidFill>
              <a:srgbClr val="E8A33D"/>
            </a:solidFill>
            <a:prstDash val="solid"/>
          </a:ln>
        </p:spPr>
      </p:sp>
      <p:sp>
        <p:nvSpPr>
          <p:cNvPr id="18" name="Text 16"/>
          <p:cNvSpPr/>
          <p:nvPr/>
        </p:nvSpPr>
        <p:spPr>
          <a:xfrm>
            <a:off x="886968" y="3566160"/>
            <a:ext cx="10424160" cy="45720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We know the frequency the fault will announce itself at — before measuring anything.</a:t>
            </a:r>
            <a:endParaRPr lang="en-US" sz="2100" dirty="0"/>
          </a:p>
        </p:txBody>
      </p:sp>
      <p:sp>
        <p:nvSpPr>
          <p:cNvPr id="19" name="Text 17"/>
          <p:cNvSpPr/>
          <p:nvPr/>
        </p:nvSpPr>
        <p:spPr>
          <a:xfrm>
            <a:off x="886968" y="4041648"/>
            <a:ext cx="10424160" cy="548640"/>
          </a:xfrm>
          <a:prstGeom prst="rect">
            <a:avLst/>
          </a:prstGeom>
          <a:noFill/>
          <a:ln/>
        </p:spPr>
        <p:txBody>
          <a:bodyPr wrap="square" lIns="0" tIns="0" rIns="0" bIns="0" rtlCol="0" anchor="ctr"/>
          <a:lstStyle/>
          <a:p>
            <a:pPr indent="0" marL="0">
              <a:buNone/>
            </a:pPr>
            <a:r>
              <a:rPr lang="en-US" sz="1450" dirty="0">
                <a:solidFill>
                  <a:srgbClr val="8A929C"/>
                </a:solidFill>
                <a:latin typeface="Calibri" pitchFamily="34" charset="0"/>
                <a:ea typeface="Calibri" pitchFamily="34" charset="-122"/>
                <a:cs typeface="Calibri" pitchFamily="34" charset="-120"/>
              </a:rPr>
              <a:t>That is not machine learning. It is mechanics, and it is worth more than any model, because it turns an open-ended search into looking in one specific place.</a:t>
            </a:r>
            <a:endParaRPr lang="en-US" sz="1450" dirty="0"/>
          </a:p>
        </p:txBody>
      </p:sp>
      <p:sp>
        <p:nvSpPr>
          <p:cNvPr id="20" name="Shape 18"/>
          <p:cNvSpPr/>
          <p:nvPr/>
        </p:nvSpPr>
        <p:spPr>
          <a:xfrm>
            <a:off x="566928" y="4956048"/>
            <a:ext cx="11027664" cy="1005840"/>
          </a:xfrm>
          <a:prstGeom prst="roundRect">
            <a:avLst>
              <a:gd name="adj" fmla="val 2727"/>
            </a:avLst>
          </a:prstGeom>
          <a:solidFill>
            <a:srgbClr val="F3F4F6"/>
          </a:solidFill>
          <a:ln w="12700">
            <a:solidFill>
              <a:srgbClr val="E2E5E9"/>
            </a:solidFill>
            <a:prstDash val="solid"/>
          </a:ln>
        </p:spPr>
      </p:sp>
      <p:sp>
        <p:nvSpPr>
          <p:cNvPr id="21" name="Text 19"/>
          <p:cNvSpPr/>
          <p:nvPr/>
        </p:nvSpPr>
        <p:spPr>
          <a:xfrm>
            <a:off x="841248" y="5138928"/>
            <a:ext cx="10469880" cy="731520"/>
          </a:xfrm>
          <a:prstGeom prst="rect">
            <a:avLst/>
          </a:prstGeom>
          <a:noFill/>
          <a:ln/>
        </p:spPr>
        <p:txBody>
          <a:bodyPr wrap="square" lIns="0" tIns="0" rIns="0" bIns="0" rtlCol="0" anchor="t"/>
          <a:lstStyle/>
          <a:p>
            <a:pPr indent="0" marL="0">
              <a:lnSpc>
                <a:spcPct val="115000"/>
              </a:lnSpc>
              <a:buNone/>
            </a:pPr>
            <a:r>
              <a:rPr lang="en-US" sz="1400" dirty="0">
                <a:solidFill>
                  <a:srgbClr val="1E2127"/>
                </a:solidFill>
                <a:latin typeface="Calibri" pitchFamily="34" charset="0"/>
                <a:ea typeface="Calibri" pitchFamily="34" charset="-122"/>
                <a:cs typeface="Calibri" pitchFamily="34" charset="-120"/>
              </a:rPr>
              <a:t>One design detail worth noticing: BPFO is 3.585× shaft speed. Not 3, not 4. Manufacturers choose ball counts so defect frequencies are deliberately non-integer multiples — so faults cannot hide underneath shaft harmonics.</a:t>
            </a:r>
            <a:endParaRPr lang="en-US" sz="1400" dirty="0"/>
          </a:p>
        </p:txBody>
      </p:sp>
      <p:sp>
        <p:nvSpPr>
          <p:cNvPr id="22" name="Text 20"/>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13  ·  THE BEARING</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PART 2  ·  THE PROBLEM</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So why can't we just take an FFT?</a:t>
            </a:r>
            <a:endParaRPr lang="en-US" sz="3400" dirty="0"/>
          </a:p>
        </p:txBody>
      </p:sp>
      <p:sp>
        <p:nvSpPr>
          <p:cNvPr id="4" name="Shape 2"/>
          <p:cNvSpPr/>
          <p:nvPr/>
        </p:nvSpPr>
        <p:spPr>
          <a:xfrm>
            <a:off x="566928" y="1828800"/>
            <a:ext cx="3493008" cy="3017520"/>
          </a:xfrm>
          <a:prstGeom prst="roundRect">
            <a:avLst>
              <a:gd name="adj" fmla="val 909"/>
            </a:avLst>
          </a:prstGeom>
          <a:solidFill>
            <a:srgbClr val="F3F4F6"/>
          </a:solidFill>
          <a:ln w="12700">
            <a:solidFill>
              <a:srgbClr val="E2E5E9"/>
            </a:solidFill>
            <a:prstDash val="solid"/>
          </a:ln>
        </p:spPr>
      </p:sp>
      <p:sp>
        <p:nvSpPr>
          <p:cNvPr id="5" name="Shape 3"/>
          <p:cNvSpPr/>
          <p:nvPr/>
        </p:nvSpPr>
        <p:spPr>
          <a:xfrm>
            <a:off x="841248" y="2103120"/>
            <a:ext cx="182880" cy="182880"/>
          </a:xfrm>
          <a:prstGeom prst="ellipse">
            <a:avLst/>
          </a:prstGeom>
          <a:solidFill>
            <a:srgbClr val="C4483A"/>
          </a:solidFill>
          <a:ln w="12700">
            <a:solidFill>
              <a:srgbClr val="C4483A"/>
            </a:solidFill>
            <a:prstDash val="solid"/>
          </a:ln>
        </p:spPr>
      </p:sp>
      <p:sp>
        <p:nvSpPr>
          <p:cNvPr id="6" name="Text 4"/>
          <p:cNvSpPr/>
          <p:nvPr/>
        </p:nvSpPr>
        <p:spPr>
          <a:xfrm>
            <a:off x="841248" y="2395728"/>
            <a:ext cx="2926080" cy="640080"/>
          </a:xfrm>
          <a:prstGeom prst="rect">
            <a:avLst/>
          </a:prstGeom>
          <a:noFill/>
          <a:ln/>
        </p:spPr>
        <p:txBody>
          <a:bodyPr wrap="square" lIns="0" tIns="0" rIns="0" bIns="0" rtlCol="0" anchor="t"/>
          <a:lstStyle/>
          <a:p>
            <a:pPr indent="0" marL="0">
              <a:buNone/>
            </a:pPr>
            <a:r>
              <a:rPr lang="en-US" sz="1800" b="1" dirty="0">
                <a:solidFill>
                  <a:srgbClr val="1E2127"/>
                </a:solidFill>
                <a:latin typeface="Cambria" pitchFamily="34" charset="0"/>
                <a:ea typeface="Cambria" pitchFamily="34" charset="-122"/>
                <a:cs typeface="Cambria" pitchFamily="34" charset="-120"/>
              </a:rPr>
              <a:t>The fault is tiny</a:t>
            </a:r>
            <a:endParaRPr lang="en-US" sz="1800" dirty="0"/>
          </a:p>
        </p:txBody>
      </p:sp>
      <p:sp>
        <p:nvSpPr>
          <p:cNvPr id="7" name="Text 5"/>
          <p:cNvSpPr/>
          <p:nvPr/>
        </p:nvSpPr>
        <p:spPr>
          <a:xfrm>
            <a:off x="841248" y="3063240"/>
            <a:ext cx="2944368" cy="1645920"/>
          </a:xfrm>
          <a:prstGeom prst="rect">
            <a:avLst/>
          </a:prstGeom>
          <a:noFill/>
          <a:ln/>
        </p:spPr>
        <p:txBody>
          <a:bodyPr wrap="square" lIns="0" tIns="0" rIns="0" bIns="0" rtlCol="0" anchor="t"/>
          <a:lstStyle/>
          <a:p>
            <a:pPr indent="0" marL="0">
              <a:lnSpc>
                <a:spcPct val="115000"/>
              </a:lnSpc>
              <a:buNone/>
            </a:pPr>
            <a:r>
              <a:rPr lang="en-US" sz="1350" dirty="0">
                <a:solidFill>
                  <a:srgbClr val="6E757F"/>
                </a:solidFill>
                <a:latin typeface="Calibri" pitchFamily="34" charset="0"/>
                <a:ea typeface="Calibri" pitchFamily="34" charset="-122"/>
                <a:cs typeface="Calibri" pitchFamily="34" charset="-120"/>
              </a:rPr>
              <a:t>An early spall produces impacts of very low energy. In the demo, the 1× shaft line is about 170× larger than anything the defect puts at 107 Hz.</a:t>
            </a:r>
            <a:endParaRPr lang="en-US" sz="1350" dirty="0"/>
          </a:p>
        </p:txBody>
      </p:sp>
      <p:sp>
        <p:nvSpPr>
          <p:cNvPr id="8" name="Shape 6"/>
          <p:cNvSpPr/>
          <p:nvPr/>
        </p:nvSpPr>
        <p:spPr>
          <a:xfrm>
            <a:off x="4334256" y="1828800"/>
            <a:ext cx="3493008" cy="3017520"/>
          </a:xfrm>
          <a:prstGeom prst="roundRect">
            <a:avLst>
              <a:gd name="adj" fmla="val 909"/>
            </a:avLst>
          </a:prstGeom>
          <a:solidFill>
            <a:srgbClr val="F3F4F6"/>
          </a:solidFill>
          <a:ln w="12700">
            <a:solidFill>
              <a:srgbClr val="E2E5E9"/>
            </a:solidFill>
            <a:prstDash val="solid"/>
          </a:ln>
        </p:spPr>
      </p:sp>
      <p:sp>
        <p:nvSpPr>
          <p:cNvPr id="9" name="Shape 7"/>
          <p:cNvSpPr/>
          <p:nvPr/>
        </p:nvSpPr>
        <p:spPr>
          <a:xfrm>
            <a:off x="4608576" y="2103120"/>
            <a:ext cx="182880" cy="182880"/>
          </a:xfrm>
          <a:prstGeom prst="ellipse">
            <a:avLst/>
          </a:prstGeom>
          <a:solidFill>
            <a:srgbClr val="8A7CC2"/>
          </a:solidFill>
          <a:ln w="12700">
            <a:solidFill>
              <a:srgbClr val="8A7CC2"/>
            </a:solidFill>
            <a:prstDash val="solid"/>
          </a:ln>
        </p:spPr>
      </p:sp>
      <p:sp>
        <p:nvSpPr>
          <p:cNvPr id="10" name="Text 8"/>
          <p:cNvSpPr/>
          <p:nvPr/>
        </p:nvSpPr>
        <p:spPr>
          <a:xfrm>
            <a:off x="4608576" y="2395728"/>
            <a:ext cx="2926080" cy="640080"/>
          </a:xfrm>
          <a:prstGeom prst="rect">
            <a:avLst/>
          </a:prstGeom>
          <a:noFill/>
          <a:ln/>
        </p:spPr>
        <p:txBody>
          <a:bodyPr wrap="square" lIns="0" tIns="0" rIns="0" bIns="0" rtlCol="0" anchor="t"/>
          <a:lstStyle/>
          <a:p>
            <a:pPr indent="0" marL="0">
              <a:buNone/>
            </a:pPr>
            <a:r>
              <a:rPr lang="en-US" sz="1800" b="1" dirty="0">
                <a:solidFill>
                  <a:srgbClr val="1E2127"/>
                </a:solidFill>
                <a:latin typeface="Cambria" pitchFamily="34" charset="0"/>
                <a:ea typeface="Cambria" pitchFamily="34" charset="-122"/>
                <a:cs typeface="Cambria" pitchFamily="34" charset="-120"/>
              </a:rPr>
              <a:t>The fault is broadband</a:t>
            </a:r>
            <a:endParaRPr lang="en-US" sz="1800" dirty="0"/>
          </a:p>
        </p:txBody>
      </p:sp>
      <p:sp>
        <p:nvSpPr>
          <p:cNvPr id="11" name="Text 9"/>
          <p:cNvSpPr/>
          <p:nvPr/>
        </p:nvSpPr>
        <p:spPr>
          <a:xfrm>
            <a:off x="4608576" y="3063240"/>
            <a:ext cx="2944368" cy="1645920"/>
          </a:xfrm>
          <a:prstGeom prst="rect">
            <a:avLst/>
          </a:prstGeom>
          <a:noFill/>
          <a:ln/>
        </p:spPr>
        <p:txBody>
          <a:bodyPr wrap="square" lIns="0" tIns="0" rIns="0" bIns="0" rtlCol="0" anchor="t"/>
          <a:lstStyle/>
          <a:p>
            <a:pPr indent="0" marL="0">
              <a:lnSpc>
                <a:spcPct val="115000"/>
              </a:lnSpc>
              <a:buNone/>
            </a:pPr>
            <a:r>
              <a:rPr lang="en-US" sz="1350" dirty="0">
                <a:solidFill>
                  <a:srgbClr val="6E757F"/>
                </a:solidFill>
                <a:latin typeface="Calibri" pitchFamily="34" charset="0"/>
                <a:ea typeface="Calibri" pitchFamily="34" charset="-122"/>
                <a:cs typeface="Calibri" pitchFamily="34" charset="-120"/>
              </a:rPr>
              <a:t>A very short impact is not narrowband. It does not deposit energy at 107 Hz — it rings the housing resonance, typically 2–15 kHz, which then decays.</a:t>
            </a:r>
            <a:endParaRPr lang="en-US" sz="1350" dirty="0"/>
          </a:p>
        </p:txBody>
      </p:sp>
      <p:sp>
        <p:nvSpPr>
          <p:cNvPr id="12" name="Shape 10"/>
          <p:cNvSpPr/>
          <p:nvPr/>
        </p:nvSpPr>
        <p:spPr>
          <a:xfrm>
            <a:off x="8101584" y="1828800"/>
            <a:ext cx="3493008" cy="3017520"/>
          </a:xfrm>
          <a:prstGeom prst="roundRect">
            <a:avLst>
              <a:gd name="adj" fmla="val 909"/>
            </a:avLst>
          </a:prstGeom>
          <a:solidFill>
            <a:srgbClr val="F3F4F6"/>
          </a:solidFill>
          <a:ln w="12700">
            <a:solidFill>
              <a:srgbClr val="E2E5E9"/>
            </a:solidFill>
            <a:prstDash val="solid"/>
          </a:ln>
        </p:spPr>
      </p:sp>
      <p:sp>
        <p:nvSpPr>
          <p:cNvPr id="13" name="Shape 11"/>
          <p:cNvSpPr/>
          <p:nvPr/>
        </p:nvSpPr>
        <p:spPr>
          <a:xfrm>
            <a:off x="8375904" y="2103120"/>
            <a:ext cx="182880" cy="182880"/>
          </a:xfrm>
          <a:prstGeom prst="ellipse">
            <a:avLst/>
          </a:prstGeom>
          <a:solidFill>
            <a:srgbClr val="E8A33D"/>
          </a:solidFill>
          <a:ln w="12700">
            <a:solidFill>
              <a:srgbClr val="E8A33D"/>
            </a:solidFill>
            <a:prstDash val="solid"/>
          </a:ln>
        </p:spPr>
      </p:sp>
      <p:sp>
        <p:nvSpPr>
          <p:cNvPr id="14" name="Text 12"/>
          <p:cNvSpPr/>
          <p:nvPr/>
        </p:nvSpPr>
        <p:spPr>
          <a:xfrm>
            <a:off x="8375904" y="2395728"/>
            <a:ext cx="2926080" cy="640080"/>
          </a:xfrm>
          <a:prstGeom prst="rect">
            <a:avLst/>
          </a:prstGeom>
          <a:noFill/>
          <a:ln/>
        </p:spPr>
        <p:txBody>
          <a:bodyPr wrap="square" lIns="0" tIns="0" rIns="0" bIns="0" rtlCol="0" anchor="t"/>
          <a:lstStyle/>
          <a:p>
            <a:pPr indent="0" marL="0">
              <a:buNone/>
            </a:pPr>
            <a:r>
              <a:rPr lang="en-US" sz="1800" b="1" dirty="0">
                <a:solidFill>
                  <a:srgbClr val="1E2127"/>
                </a:solidFill>
                <a:latin typeface="Cambria" pitchFamily="34" charset="0"/>
                <a:ea typeface="Cambria" pitchFamily="34" charset="-122"/>
                <a:cs typeface="Cambria" pitchFamily="34" charset="-120"/>
              </a:rPr>
              <a:t>The information is the rate</a:t>
            </a:r>
            <a:endParaRPr lang="en-US" sz="1800" dirty="0"/>
          </a:p>
        </p:txBody>
      </p:sp>
      <p:sp>
        <p:nvSpPr>
          <p:cNvPr id="15" name="Text 13"/>
          <p:cNvSpPr/>
          <p:nvPr/>
        </p:nvSpPr>
        <p:spPr>
          <a:xfrm>
            <a:off x="8375904" y="3063240"/>
            <a:ext cx="2944368" cy="1645920"/>
          </a:xfrm>
          <a:prstGeom prst="rect">
            <a:avLst/>
          </a:prstGeom>
          <a:noFill/>
          <a:ln/>
        </p:spPr>
        <p:txBody>
          <a:bodyPr wrap="square" lIns="0" tIns="0" rIns="0" bIns="0" rtlCol="0" anchor="t"/>
          <a:lstStyle/>
          <a:p>
            <a:pPr indent="0" marL="0">
              <a:lnSpc>
                <a:spcPct val="115000"/>
              </a:lnSpc>
              <a:buNone/>
            </a:pPr>
            <a:r>
              <a:rPr lang="en-US" sz="1350" dirty="0">
                <a:solidFill>
                  <a:srgbClr val="6E757F"/>
                </a:solidFill>
                <a:latin typeface="Calibri" pitchFamily="34" charset="0"/>
                <a:ea typeface="Calibri" pitchFamily="34" charset="-122"/>
                <a:cs typeface="Calibri" pitchFamily="34" charset="-120"/>
              </a:rPr>
              <a:t>What carries the diagnosis is not the ringing frequency. It is how often the ringing repeats.</a:t>
            </a:r>
            <a:endParaRPr lang="en-US" sz="1350" dirty="0"/>
          </a:p>
        </p:txBody>
      </p:sp>
      <p:sp>
        <p:nvSpPr>
          <p:cNvPr id="16" name="Shape 14"/>
          <p:cNvSpPr/>
          <p:nvPr/>
        </p:nvSpPr>
        <p:spPr>
          <a:xfrm>
            <a:off x="566928" y="5074920"/>
            <a:ext cx="11027664" cy="960120"/>
          </a:xfrm>
          <a:prstGeom prst="roundRect">
            <a:avLst>
              <a:gd name="adj" fmla="val 3810"/>
            </a:avLst>
          </a:prstGeom>
          <a:solidFill>
            <a:srgbClr val="16181C"/>
          </a:solidFill>
          <a:ln w="12700">
            <a:solidFill>
              <a:srgbClr val="16181C"/>
            </a:solidFill>
            <a:prstDash val="solid"/>
          </a:ln>
        </p:spPr>
      </p:sp>
      <p:sp>
        <p:nvSpPr>
          <p:cNvPr id="17" name="Text 15"/>
          <p:cNvSpPr/>
          <p:nvPr/>
        </p:nvSpPr>
        <p:spPr>
          <a:xfrm>
            <a:off x="886968" y="5074920"/>
            <a:ext cx="10424160" cy="9601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This is amplitude modulation: the defect modulates, the resonance carries. Demodulation is not in your syllabus — so we are going to build it from scratch, and it takes four minutes.</a:t>
            </a:r>
            <a:endParaRPr lang="en-US" sz="1600" dirty="0"/>
          </a:p>
        </p:txBody>
      </p:sp>
      <p:sp>
        <p:nvSpPr>
          <p:cNvPr id="18" name="Text 16"/>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14  ·  THE BEARING</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PART 2  ·  NOT IN YOUR SYLLABUS</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Demodulation in four minutes</a:t>
            </a:r>
            <a:endParaRPr lang="en-US" sz="3400" dirty="0"/>
          </a:p>
        </p:txBody>
      </p:sp>
      <p:sp>
        <p:nvSpPr>
          <p:cNvPr id="4" name="Shape 2"/>
          <p:cNvSpPr/>
          <p:nvPr/>
        </p:nvSpPr>
        <p:spPr>
          <a:xfrm>
            <a:off x="566928" y="1901952"/>
            <a:ext cx="384048" cy="384048"/>
          </a:xfrm>
          <a:prstGeom prst="ellipse">
            <a:avLst/>
          </a:prstGeom>
          <a:solidFill>
            <a:srgbClr val="16181C"/>
          </a:solidFill>
          <a:ln w="12700">
            <a:solidFill>
              <a:srgbClr val="16181C"/>
            </a:solidFill>
            <a:prstDash val="solid"/>
          </a:ln>
        </p:spPr>
      </p:sp>
      <p:sp>
        <p:nvSpPr>
          <p:cNvPr id="5" name="Text 3"/>
          <p:cNvSpPr/>
          <p:nvPr/>
        </p:nvSpPr>
        <p:spPr>
          <a:xfrm>
            <a:off x="566928" y="1901952"/>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1</a:t>
            </a:r>
            <a:endParaRPr lang="en-US" sz="1300" dirty="0"/>
          </a:p>
        </p:txBody>
      </p:sp>
      <p:sp>
        <p:nvSpPr>
          <p:cNvPr id="6" name="Text 4"/>
          <p:cNvSpPr/>
          <p:nvPr/>
        </p:nvSpPr>
        <p:spPr>
          <a:xfrm>
            <a:off x="1188720" y="1828800"/>
            <a:ext cx="3291840" cy="502920"/>
          </a:xfrm>
          <a:prstGeom prst="rect">
            <a:avLst/>
          </a:prstGeom>
          <a:noFill/>
          <a:ln/>
        </p:spPr>
        <p:txBody>
          <a:bodyPr wrap="square" lIns="0" tIns="0" rIns="0" bIns="0" rtlCol="0" anchor="ctr"/>
          <a:lstStyle/>
          <a:p>
            <a:pPr indent="0" marL="0">
              <a:buNone/>
            </a:pPr>
            <a:r>
              <a:rPr lang="en-US" sz="1650" b="1" dirty="0">
                <a:solidFill>
                  <a:srgbClr val="1E2127"/>
                </a:solidFill>
                <a:latin typeface="Cambria" pitchFamily="34" charset="0"/>
                <a:ea typeface="Cambria" pitchFamily="34" charset="-122"/>
                <a:cs typeface="Cambria" pitchFamily="34" charset="-120"/>
              </a:rPr>
              <a:t>Take the DFT</a:t>
            </a:r>
            <a:endParaRPr lang="en-US" sz="1650" dirty="0"/>
          </a:p>
        </p:txBody>
      </p:sp>
      <p:sp>
        <p:nvSpPr>
          <p:cNvPr id="7" name="Text 5"/>
          <p:cNvSpPr/>
          <p:nvPr/>
        </p:nvSpPr>
        <p:spPr>
          <a:xfrm>
            <a:off x="4636008" y="1828800"/>
            <a:ext cx="6949440" cy="566928"/>
          </a:xfrm>
          <a:prstGeom prst="rect">
            <a:avLst/>
          </a:prstGeom>
          <a:noFill/>
          <a:ln/>
        </p:spPr>
        <p:txBody>
          <a:bodyPr wrap="square" lIns="0" tIns="0" rIns="0" bIns="0" rtlCol="0" anchor="ctr"/>
          <a:lstStyle/>
          <a:p>
            <a:pPr indent="0" marL="0">
              <a:buNone/>
            </a:pPr>
            <a:r>
              <a:rPr lang="en-US" sz="1300" dirty="0">
                <a:solidFill>
                  <a:srgbClr val="6E757F"/>
                </a:solidFill>
                <a:latin typeface="Calibri" pitchFamily="34" charset="0"/>
                <a:ea typeface="Calibri" pitchFamily="34" charset="-122"/>
                <a:cs typeface="Calibri" pitchFamily="34" charset="-120"/>
              </a:rPr>
              <a:t>The transform you compute with the FFT in DSP. For a real signal the spectrum is symmetric — the negative half mirrors the positive half and carries nothing new.</a:t>
            </a:r>
            <a:endParaRPr lang="en-US" sz="1300" dirty="0"/>
          </a:p>
        </p:txBody>
      </p:sp>
      <p:sp>
        <p:nvSpPr>
          <p:cNvPr id="8" name="Shape 6"/>
          <p:cNvSpPr/>
          <p:nvPr/>
        </p:nvSpPr>
        <p:spPr>
          <a:xfrm>
            <a:off x="566928" y="2706624"/>
            <a:ext cx="384048" cy="384048"/>
          </a:xfrm>
          <a:prstGeom prst="ellipse">
            <a:avLst/>
          </a:prstGeom>
          <a:solidFill>
            <a:srgbClr val="16181C"/>
          </a:solidFill>
          <a:ln w="12700">
            <a:solidFill>
              <a:srgbClr val="16181C"/>
            </a:solidFill>
            <a:prstDash val="solid"/>
          </a:ln>
        </p:spPr>
      </p:sp>
      <p:sp>
        <p:nvSpPr>
          <p:cNvPr id="9" name="Text 7"/>
          <p:cNvSpPr/>
          <p:nvPr/>
        </p:nvSpPr>
        <p:spPr>
          <a:xfrm>
            <a:off x="566928" y="2706624"/>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2</a:t>
            </a:r>
            <a:endParaRPr lang="en-US" sz="1300" dirty="0"/>
          </a:p>
        </p:txBody>
      </p:sp>
      <p:sp>
        <p:nvSpPr>
          <p:cNvPr id="10" name="Text 8"/>
          <p:cNvSpPr/>
          <p:nvPr/>
        </p:nvSpPr>
        <p:spPr>
          <a:xfrm>
            <a:off x="1188720" y="2633472"/>
            <a:ext cx="3291840" cy="502920"/>
          </a:xfrm>
          <a:prstGeom prst="rect">
            <a:avLst/>
          </a:prstGeom>
          <a:noFill/>
          <a:ln/>
        </p:spPr>
        <p:txBody>
          <a:bodyPr wrap="square" lIns="0" tIns="0" rIns="0" bIns="0" rtlCol="0" anchor="ctr"/>
          <a:lstStyle/>
          <a:p>
            <a:pPr indent="0" marL="0">
              <a:buNone/>
            </a:pPr>
            <a:r>
              <a:rPr lang="en-US" sz="1650" b="1" dirty="0">
                <a:solidFill>
                  <a:srgbClr val="1E2127"/>
                </a:solidFill>
                <a:latin typeface="Cambria" pitchFamily="34" charset="0"/>
                <a:ea typeface="Cambria" pitchFamily="34" charset="-122"/>
                <a:cs typeface="Cambria" pitchFamily="34" charset="-120"/>
              </a:rPr>
              <a:t>Delete the negative frequencies</a:t>
            </a:r>
            <a:endParaRPr lang="en-US" sz="1650" dirty="0"/>
          </a:p>
        </p:txBody>
      </p:sp>
      <p:sp>
        <p:nvSpPr>
          <p:cNvPr id="11" name="Text 9"/>
          <p:cNvSpPr/>
          <p:nvPr/>
        </p:nvSpPr>
        <p:spPr>
          <a:xfrm>
            <a:off x="4636008" y="2633472"/>
            <a:ext cx="6949440" cy="566928"/>
          </a:xfrm>
          <a:prstGeom prst="rect">
            <a:avLst/>
          </a:prstGeom>
          <a:noFill/>
          <a:ln/>
        </p:spPr>
        <p:txBody>
          <a:bodyPr wrap="square" lIns="0" tIns="0" rIns="0" bIns="0" rtlCol="0" anchor="ctr"/>
          <a:lstStyle/>
          <a:p>
            <a:pPr indent="0" marL="0">
              <a:buNone/>
            </a:pPr>
            <a:r>
              <a:rPr lang="en-US" sz="1300" dirty="0">
                <a:solidFill>
                  <a:srgbClr val="6E757F"/>
                </a:solidFill>
                <a:latin typeface="Calibri" pitchFamily="34" charset="0"/>
                <a:ea typeface="Calibri" pitchFamily="34" charset="-122"/>
                <a:cs typeface="Calibri" pitchFamily="34" charset="-120"/>
              </a:rPr>
              <a:t>Zero them. Double the positive ones so the energy still balances.</a:t>
            </a:r>
            <a:endParaRPr lang="en-US" sz="1300" dirty="0"/>
          </a:p>
        </p:txBody>
      </p:sp>
      <p:sp>
        <p:nvSpPr>
          <p:cNvPr id="12" name="Shape 10"/>
          <p:cNvSpPr/>
          <p:nvPr/>
        </p:nvSpPr>
        <p:spPr>
          <a:xfrm>
            <a:off x="566928" y="3511296"/>
            <a:ext cx="384048" cy="384048"/>
          </a:xfrm>
          <a:prstGeom prst="ellipse">
            <a:avLst/>
          </a:prstGeom>
          <a:solidFill>
            <a:srgbClr val="16181C"/>
          </a:solidFill>
          <a:ln w="12700">
            <a:solidFill>
              <a:srgbClr val="16181C"/>
            </a:solidFill>
            <a:prstDash val="solid"/>
          </a:ln>
        </p:spPr>
      </p:sp>
      <p:sp>
        <p:nvSpPr>
          <p:cNvPr id="13" name="Text 11"/>
          <p:cNvSpPr/>
          <p:nvPr/>
        </p:nvSpPr>
        <p:spPr>
          <a:xfrm>
            <a:off x="566928" y="3511296"/>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3</a:t>
            </a:r>
            <a:endParaRPr lang="en-US" sz="1300" dirty="0"/>
          </a:p>
        </p:txBody>
      </p:sp>
      <p:sp>
        <p:nvSpPr>
          <p:cNvPr id="14" name="Text 12"/>
          <p:cNvSpPr/>
          <p:nvPr/>
        </p:nvSpPr>
        <p:spPr>
          <a:xfrm>
            <a:off x="1188720" y="3438144"/>
            <a:ext cx="3291840" cy="502920"/>
          </a:xfrm>
          <a:prstGeom prst="rect">
            <a:avLst/>
          </a:prstGeom>
          <a:noFill/>
          <a:ln/>
        </p:spPr>
        <p:txBody>
          <a:bodyPr wrap="square" lIns="0" tIns="0" rIns="0" bIns="0" rtlCol="0" anchor="ctr"/>
          <a:lstStyle/>
          <a:p>
            <a:pPr indent="0" marL="0">
              <a:buNone/>
            </a:pPr>
            <a:r>
              <a:rPr lang="en-US" sz="1650" b="1" dirty="0">
                <a:solidFill>
                  <a:srgbClr val="1E2127"/>
                </a:solidFill>
                <a:latin typeface="Cambria" pitchFamily="34" charset="0"/>
                <a:ea typeface="Cambria" pitchFamily="34" charset="-122"/>
                <a:cs typeface="Cambria" pitchFamily="34" charset="-120"/>
              </a:rPr>
              <a:t>Transform back</a:t>
            </a:r>
            <a:endParaRPr lang="en-US" sz="1650" dirty="0"/>
          </a:p>
        </p:txBody>
      </p:sp>
      <p:sp>
        <p:nvSpPr>
          <p:cNvPr id="15" name="Text 13"/>
          <p:cNvSpPr/>
          <p:nvPr/>
        </p:nvSpPr>
        <p:spPr>
          <a:xfrm>
            <a:off x="4636008" y="3438144"/>
            <a:ext cx="6949440" cy="566928"/>
          </a:xfrm>
          <a:prstGeom prst="rect">
            <a:avLst/>
          </a:prstGeom>
          <a:noFill/>
          <a:ln/>
        </p:spPr>
        <p:txBody>
          <a:bodyPr wrap="square" lIns="0" tIns="0" rIns="0" bIns="0" rtlCol="0" anchor="ctr"/>
          <a:lstStyle/>
          <a:p>
            <a:pPr indent="0" marL="0">
              <a:buNone/>
            </a:pPr>
            <a:r>
              <a:rPr lang="en-US" sz="1300" dirty="0">
                <a:solidFill>
                  <a:srgbClr val="6E757F"/>
                </a:solidFill>
                <a:latin typeface="Calibri" pitchFamily="34" charset="0"/>
                <a:ea typeface="Calibri" pitchFamily="34" charset="-122"/>
                <a:cs typeface="Calibri" pitchFamily="34" charset="-120"/>
              </a:rPr>
              <a:t>What returns is complex-valued. This is the analytic signal, and the operation that produced it is the Hilbert transform.</a:t>
            </a:r>
            <a:endParaRPr lang="en-US" sz="1300" dirty="0"/>
          </a:p>
        </p:txBody>
      </p:sp>
      <p:sp>
        <p:nvSpPr>
          <p:cNvPr id="16" name="Shape 14"/>
          <p:cNvSpPr/>
          <p:nvPr/>
        </p:nvSpPr>
        <p:spPr>
          <a:xfrm>
            <a:off x="566928" y="4315968"/>
            <a:ext cx="384048" cy="384048"/>
          </a:xfrm>
          <a:prstGeom prst="ellipse">
            <a:avLst/>
          </a:prstGeom>
          <a:solidFill>
            <a:srgbClr val="E8A33D"/>
          </a:solidFill>
          <a:ln w="12700">
            <a:solidFill>
              <a:srgbClr val="E8A33D"/>
            </a:solidFill>
            <a:prstDash val="solid"/>
          </a:ln>
        </p:spPr>
      </p:sp>
      <p:sp>
        <p:nvSpPr>
          <p:cNvPr id="17" name="Text 15"/>
          <p:cNvSpPr/>
          <p:nvPr/>
        </p:nvSpPr>
        <p:spPr>
          <a:xfrm>
            <a:off x="566928" y="4315968"/>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4</a:t>
            </a:r>
            <a:endParaRPr lang="en-US" sz="1300" dirty="0"/>
          </a:p>
        </p:txBody>
      </p:sp>
      <p:sp>
        <p:nvSpPr>
          <p:cNvPr id="18" name="Text 16"/>
          <p:cNvSpPr/>
          <p:nvPr/>
        </p:nvSpPr>
        <p:spPr>
          <a:xfrm>
            <a:off x="1188720" y="4242816"/>
            <a:ext cx="3291840" cy="502920"/>
          </a:xfrm>
          <a:prstGeom prst="rect">
            <a:avLst/>
          </a:prstGeom>
          <a:noFill/>
          <a:ln/>
        </p:spPr>
        <p:txBody>
          <a:bodyPr wrap="square" lIns="0" tIns="0" rIns="0" bIns="0" rtlCol="0" anchor="ctr"/>
          <a:lstStyle/>
          <a:p>
            <a:pPr indent="0" marL="0">
              <a:buNone/>
            </a:pPr>
            <a:r>
              <a:rPr lang="en-US" sz="1650" b="1" dirty="0">
                <a:solidFill>
                  <a:srgbClr val="1E2127"/>
                </a:solidFill>
                <a:latin typeface="Cambria" pitchFamily="34" charset="0"/>
                <a:ea typeface="Cambria" pitchFamily="34" charset="-122"/>
                <a:cs typeface="Cambria" pitchFamily="34" charset="-120"/>
              </a:rPr>
              <a:t>Take the magnitude</a:t>
            </a:r>
            <a:endParaRPr lang="en-US" sz="1650" dirty="0"/>
          </a:p>
        </p:txBody>
      </p:sp>
      <p:sp>
        <p:nvSpPr>
          <p:cNvPr id="19" name="Text 17"/>
          <p:cNvSpPr/>
          <p:nvPr/>
        </p:nvSpPr>
        <p:spPr>
          <a:xfrm>
            <a:off x="4636008" y="4242816"/>
            <a:ext cx="6949440" cy="566928"/>
          </a:xfrm>
          <a:prstGeom prst="rect">
            <a:avLst/>
          </a:prstGeom>
          <a:noFill/>
          <a:ln/>
        </p:spPr>
        <p:txBody>
          <a:bodyPr wrap="square" lIns="0" tIns="0" rIns="0" bIns="0" rtlCol="0" anchor="ctr"/>
          <a:lstStyle/>
          <a:p>
            <a:pPr indent="0" marL="0">
              <a:buNone/>
            </a:pPr>
            <a:r>
              <a:rPr lang="en-US" sz="1300" dirty="0">
                <a:solidFill>
                  <a:srgbClr val="6E757F"/>
                </a:solidFill>
                <a:latin typeface="Calibri" pitchFamily="34" charset="0"/>
                <a:ea typeface="Calibri" pitchFamily="34" charset="-122"/>
                <a:cs typeface="Calibri" pitchFamily="34" charset="-120"/>
              </a:rPr>
              <a:t>Real squared plus imaginary squared, square rooted. The oscillation cancels and the outline survives. That outline is the envelope.</a:t>
            </a:r>
            <a:endParaRPr lang="en-US" sz="1300" dirty="0"/>
          </a:p>
        </p:txBody>
      </p:sp>
      <p:sp>
        <p:nvSpPr>
          <p:cNvPr id="20" name="Shape 18"/>
          <p:cNvSpPr/>
          <p:nvPr/>
        </p:nvSpPr>
        <p:spPr>
          <a:xfrm>
            <a:off x="566928" y="5166360"/>
            <a:ext cx="11027664" cy="960120"/>
          </a:xfrm>
          <a:prstGeom prst="roundRect">
            <a:avLst>
              <a:gd name="adj" fmla="val 3810"/>
            </a:avLst>
          </a:prstGeom>
          <a:solidFill>
            <a:srgbClr val="16181C"/>
          </a:solidFill>
          <a:ln w="12700">
            <a:solidFill>
              <a:srgbClr val="16181C"/>
            </a:solidFill>
            <a:prstDash val="solid"/>
          </a:ln>
        </p:spPr>
      </p:sp>
      <p:sp>
        <p:nvSpPr>
          <p:cNvPr id="21" name="Text 19"/>
          <p:cNvSpPr/>
          <p:nvPr/>
        </p:nvSpPr>
        <p:spPr>
          <a:xfrm>
            <a:off x="886968" y="5166360"/>
            <a:ext cx="10424160" cy="96012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Why the magnitude kills the wiggle: if you have sin(t) and cos(t), the magnitude is exactly 1, forever. You have traded an oscillation for its amplitude.</a:t>
            </a:r>
            <a:endParaRPr lang="en-US" sz="1500" dirty="0"/>
          </a:p>
        </p:txBody>
      </p:sp>
      <p:sp>
        <p:nvSpPr>
          <p:cNvPr id="22" name="Text 20"/>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15  ·  THE BEARING  ·  scipy.signal.hilbert()</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PART 2  ·  THE TECHNIQUE</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Envelope analysis</a:t>
            </a:r>
            <a:endParaRPr lang="en-US" sz="3400" dirty="0"/>
          </a:p>
        </p:txBody>
      </p:sp>
      <p:sp>
        <p:nvSpPr>
          <p:cNvPr id="4" name="Shape 2"/>
          <p:cNvSpPr/>
          <p:nvPr/>
        </p:nvSpPr>
        <p:spPr>
          <a:xfrm>
            <a:off x="566928" y="1965960"/>
            <a:ext cx="384048" cy="384048"/>
          </a:xfrm>
          <a:prstGeom prst="ellipse">
            <a:avLst/>
          </a:prstGeom>
          <a:solidFill>
            <a:srgbClr val="16181C"/>
          </a:solidFill>
          <a:ln w="12700">
            <a:solidFill>
              <a:srgbClr val="16181C"/>
            </a:solidFill>
            <a:prstDash val="solid"/>
          </a:ln>
        </p:spPr>
      </p:sp>
      <p:sp>
        <p:nvSpPr>
          <p:cNvPr id="5" name="Text 3"/>
          <p:cNvSpPr/>
          <p:nvPr/>
        </p:nvSpPr>
        <p:spPr>
          <a:xfrm>
            <a:off x="566928" y="1965960"/>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1</a:t>
            </a:r>
            <a:endParaRPr lang="en-US" sz="1300" dirty="0"/>
          </a:p>
        </p:txBody>
      </p:sp>
      <p:sp>
        <p:nvSpPr>
          <p:cNvPr id="6" name="Text 4"/>
          <p:cNvSpPr/>
          <p:nvPr/>
        </p:nvSpPr>
        <p:spPr>
          <a:xfrm>
            <a:off x="1188720" y="1874520"/>
            <a:ext cx="3566160" cy="502920"/>
          </a:xfrm>
          <a:prstGeom prst="rect">
            <a:avLst/>
          </a:prstGeom>
          <a:noFill/>
          <a:ln/>
        </p:spPr>
        <p:txBody>
          <a:bodyPr wrap="square" lIns="0" tIns="0" rIns="0" bIns="0" rtlCol="0" anchor="ctr"/>
          <a:lstStyle/>
          <a:p>
            <a:pPr indent="0" marL="0">
              <a:buNone/>
            </a:pPr>
            <a:r>
              <a:rPr lang="en-US" sz="1700" b="1" dirty="0">
                <a:solidFill>
                  <a:srgbClr val="1E2127"/>
                </a:solidFill>
                <a:latin typeface="Cambria" pitchFamily="34" charset="0"/>
                <a:ea typeface="Cambria" pitchFamily="34" charset="-122"/>
                <a:cs typeface="Cambria" pitchFamily="34" charset="-120"/>
              </a:rPr>
              <a:t>Band-pass the resonance</a:t>
            </a:r>
            <a:endParaRPr lang="en-US" sz="1700" dirty="0"/>
          </a:p>
        </p:txBody>
      </p:sp>
      <p:sp>
        <p:nvSpPr>
          <p:cNvPr id="7" name="Text 5"/>
          <p:cNvSpPr/>
          <p:nvPr/>
        </p:nvSpPr>
        <p:spPr>
          <a:xfrm>
            <a:off x="4864608" y="1874520"/>
            <a:ext cx="6720840" cy="566928"/>
          </a:xfrm>
          <a:prstGeom prst="rect">
            <a:avLst/>
          </a:prstGeom>
          <a:noFill/>
          <a:ln/>
        </p:spPr>
        <p:txBody>
          <a:bodyPr wrap="square" lIns="0" tIns="0" rIns="0" bIns="0" rtlCol="0" anchor="ctr"/>
          <a:lstStyle/>
          <a:p>
            <a:pPr indent="0" marL="0">
              <a:buNone/>
            </a:pPr>
            <a:r>
              <a:rPr lang="en-US" sz="1350" dirty="0">
                <a:solidFill>
                  <a:srgbClr val="6E757F"/>
                </a:solidFill>
                <a:latin typeface="Calibri" pitchFamily="34" charset="0"/>
                <a:ea typeface="Calibri" pitchFamily="34" charset="-122"/>
                <a:cs typeface="Calibri" pitchFamily="34" charset="-120"/>
              </a:rPr>
              <a:t>2.4–4.0 kHz. Throwing away the low end deletes the shaft imbalance that was drowning everything.</a:t>
            </a:r>
            <a:endParaRPr lang="en-US" sz="1350" dirty="0"/>
          </a:p>
        </p:txBody>
      </p:sp>
      <p:sp>
        <p:nvSpPr>
          <p:cNvPr id="8" name="Shape 6"/>
          <p:cNvSpPr/>
          <p:nvPr/>
        </p:nvSpPr>
        <p:spPr>
          <a:xfrm>
            <a:off x="566928" y="2752344"/>
            <a:ext cx="384048" cy="384048"/>
          </a:xfrm>
          <a:prstGeom prst="ellipse">
            <a:avLst/>
          </a:prstGeom>
          <a:solidFill>
            <a:srgbClr val="16181C"/>
          </a:solidFill>
          <a:ln w="12700">
            <a:solidFill>
              <a:srgbClr val="16181C"/>
            </a:solidFill>
            <a:prstDash val="solid"/>
          </a:ln>
        </p:spPr>
      </p:sp>
      <p:sp>
        <p:nvSpPr>
          <p:cNvPr id="9" name="Text 7"/>
          <p:cNvSpPr/>
          <p:nvPr/>
        </p:nvSpPr>
        <p:spPr>
          <a:xfrm>
            <a:off x="566928" y="2752344"/>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2</a:t>
            </a:r>
            <a:endParaRPr lang="en-US" sz="1300" dirty="0"/>
          </a:p>
        </p:txBody>
      </p:sp>
      <p:sp>
        <p:nvSpPr>
          <p:cNvPr id="10" name="Text 8"/>
          <p:cNvSpPr/>
          <p:nvPr/>
        </p:nvSpPr>
        <p:spPr>
          <a:xfrm>
            <a:off x="1188720" y="2660904"/>
            <a:ext cx="3566160" cy="502920"/>
          </a:xfrm>
          <a:prstGeom prst="rect">
            <a:avLst/>
          </a:prstGeom>
          <a:noFill/>
          <a:ln/>
        </p:spPr>
        <p:txBody>
          <a:bodyPr wrap="square" lIns="0" tIns="0" rIns="0" bIns="0" rtlCol="0" anchor="ctr"/>
          <a:lstStyle/>
          <a:p>
            <a:pPr indent="0" marL="0">
              <a:buNone/>
            </a:pPr>
            <a:r>
              <a:rPr lang="en-US" sz="1700" b="1" dirty="0">
                <a:solidFill>
                  <a:srgbClr val="1E2127"/>
                </a:solidFill>
                <a:latin typeface="Cambria" pitchFamily="34" charset="0"/>
                <a:ea typeface="Cambria" pitchFamily="34" charset="-122"/>
                <a:cs typeface="Cambria" pitchFamily="34" charset="-120"/>
              </a:rPr>
              <a:t>Take the analytic signal</a:t>
            </a:r>
            <a:endParaRPr lang="en-US" sz="1700" dirty="0"/>
          </a:p>
        </p:txBody>
      </p:sp>
      <p:sp>
        <p:nvSpPr>
          <p:cNvPr id="11" name="Text 9"/>
          <p:cNvSpPr/>
          <p:nvPr/>
        </p:nvSpPr>
        <p:spPr>
          <a:xfrm>
            <a:off x="4864608" y="2660904"/>
            <a:ext cx="6720840" cy="566928"/>
          </a:xfrm>
          <a:prstGeom prst="rect">
            <a:avLst/>
          </a:prstGeom>
          <a:noFill/>
          <a:ln/>
        </p:spPr>
        <p:txBody>
          <a:bodyPr wrap="square" lIns="0" tIns="0" rIns="0" bIns="0" rtlCol="0" anchor="ctr"/>
          <a:lstStyle/>
          <a:p>
            <a:pPr indent="0" marL="0">
              <a:buNone/>
            </a:pPr>
            <a:r>
              <a:rPr lang="en-US" sz="1350" dirty="0">
                <a:solidFill>
                  <a:srgbClr val="6E757F"/>
                </a:solidFill>
                <a:latin typeface="Calibri" pitchFamily="34" charset="0"/>
                <a:ea typeface="Calibri" pitchFamily="34" charset="-122"/>
                <a:cs typeface="Calibri" pitchFamily="34" charset="-120"/>
              </a:rPr>
              <a:t>Hilbert transform, then magnitude. Carrier stripped, envelope left.</a:t>
            </a:r>
            <a:endParaRPr lang="en-US" sz="1350" dirty="0"/>
          </a:p>
        </p:txBody>
      </p:sp>
      <p:sp>
        <p:nvSpPr>
          <p:cNvPr id="12" name="Shape 10"/>
          <p:cNvSpPr/>
          <p:nvPr/>
        </p:nvSpPr>
        <p:spPr>
          <a:xfrm>
            <a:off x="566928" y="3538728"/>
            <a:ext cx="384048" cy="384048"/>
          </a:xfrm>
          <a:prstGeom prst="ellipse">
            <a:avLst/>
          </a:prstGeom>
          <a:solidFill>
            <a:srgbClr val="16181C"/>
          </a:solidFill>
          <a:ln w="12700">
            <a:solidFill>
              <a:srgbClr val="16181C"/>
            </a:solidFill>
            <a:prstDash val="solid"/>
          </a:ln>
        </p:spPr>
      </p:sp>
      <p:sp>
        <p:nvSpPr>
          <p:cNvPr id="13" name="Text 11"/>
          <p:cNvSpPr/>
          <p:nvPr/>
        </p:nvSpPr>
        <p:spPr>
          <a:xfrm>
            <a:off x="566928" y="3538728"/>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3</a:t>
            </a:r>
            <a:endParaRPr lang="en-US" sz="1300" dirty="0"/>
          </a:p>
        </p:txBody>
      </p:sp>
      <p:sp>
        <p:nvSpPr>
          <p:cNvPr id="14" name="Text 12"/>
          <p:cNvSpPr/>
          <p:nvPr/>
        </p:nvSpPr>
        <p:spPr>
          <a:xfrm>
            <a:off x="1188720" y="3447288"/>
            <a:ext cx="3566160" cy="502920"/>
          </a:xfrm>
          <a:prstGeom prst="rect">
            <a:avLst/>
          </a:prstGeom>
          <a:noFill/>
          <a:ln/>
        </p:spPr>
        <p:txBody>
          <a:bodyPr wrap="square" lIns="0" tIns="0" rIns="0" bIns="0" rtlCol="0" anchor="ctr"/>
          <a:lstStyle/>
          <a:p>
            <a:pPr indent="0" marL="0">
              <a:buNone/>
            </a:pPr>
            <a:r>
              <a:rPr lang="en-US" sz="1700" b="1" dirty="0">
                <a:solidFill>
                  <a:srgbClr val="1E2127"/>
                </a:solidFill>
                <a:latin typeface="Cambria" pitchFamily="34" charset="0"/>
                <a:ea typeface="Cambria" pitchFamily="34" charset="-122"/>
                <a:cs typeface="Cambria" pitchFamily="34" charset="-120"/>
              </a:rPr>
              <a:t>Remove DC, then FFT again</a:t>
            </a:r>
            <a:endParaRPr lang="en-US" sz="1700" dirty="0"/>
          </a:p>
        </p:txBody>
      </p:sp>
      <p:sp>
        <p:nvSpPr>
          <p:cNvPr id="15" name="Text 13"/>
          <p:cNvSpPr/>
          <p:nvPr/>
        </p:nvSpPr>
        <p:spPr>
          <a:xfrm>
            <a:off x="4864608" y="3447288"/>
            <a:ext cx="6720840" cy="566928"/>
          </a:xfrm>
          <a:prstGeom prst="rect">
            <a:avLst/>
          </a:prstGeom>
          <a:noFill/>
          <a:ln/>
        </p:spPr>
        <p:txBody>
          <a:bodyPr wrap="square" lIns="0" tIns="0" rIns="0" bIns="0" rtlCol="0" anchor="ctr"/>
          <a:lstStyle/>
          <a:p>
            <a:pPr indent="0" marL="0">
              <a:buNone/>
            </a:pPr>
            <a:r>
              <a:rPr lang="en-US" sz="1350" dirty="0">
                <a:solidFill>
                  <a:srgbClr val="6E757F"/>
                </a:solidFill>
                <a:latin typeface="Calibri" pitchFamily="34" charset="0"/>
                <a:ea typeface="Calibri" pitchFamily="34" charset="-122"/>
                <a:cs typeface="Calibri" pitchFamily="34" charset="-120"/>
              </a:rPr>
              <a:t>Transform the envelope itself, not the original signal.</a:t>
            </a:r>
            <a:endParaRPr lang="en-US" sz="1350" dirty="0"/>
          </a:p>
        </p:txBody>
      </p:sp>
      <p:sp>
        <p:nvSpPr>
          <p:cNvPr id="16" name="Shape 14"/>
          <p:cNvSpPr/>
          <p:nvPr/>
        </p:nvSpPr>
        <p:spPr>
          <a:xfrm>
            <a:off x="566928" y="4325112"/>
            <a:ext cx="384048" cy="384048"/>
          </a:xfrm>
          <a:prstGeom prst="ellipse">
            <a:avLst/>
          </a:prstGeom>
          <a:solidFill>
            <a:srgbClr val="E8A33D"/>
          </a:solidFill>
          <a:ln w="12700">
            <a:solidFill>
              <a:srgbClr val="E8A33D"/>
            </a:solidFill>
            <a:prstDash val="solid"/>
          </a:ln>
        </p:spPr>
      </p:sp>
      <p:sp>
        <p:nvSpPr>
          <p:cNvPr id="17" name="Text 15"/>
          <p:cNvSpPr/>
          <p:nvPr/>
        </p:nvSpPr>
        <p:spPr>
          <a:xfrm>
            <a:off x="566928" y="4325112"/>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4</a:t>
            </a:r>
            <a:endParaRPr lang="en-US" sz="1300" dirty="0"/>
          </a:p>
        </p:txBody>
      </p:sp>
      <p:sp>
        <p:nvSpPr>
          <p:cNvPr id="18" name="Text 16"/>
          <p:cNvSpPr/>
          <p:nvPr/>
        </p:nvSpPr>
        <p:spPr>
          <a:xfrm>
            <a:off x="1188720" y="4233672"/>
            <a:ext cx="3566160" cy="502920"/>
          </a:xfrm>
          <a:prstGeom prst="rect">
            <a:avLst/>
          </a:prstGeom>
          <a:noFill/>
          <a:ln/>
        </p:spPr>
        <p:txBody>
          <a:bodyPr wrap="square" lIns="0" tIns="0" rIns="0" bIns="0" rtlCol="0" anchor="ctr"/>
          <a:lstStyle/>
          <a:p>
            <a:pPr indent="0" marL="0">
              <a:buNone/>
            </a:pPr>
            <a:r>
              <a:rPr lang="en-US" sz="1700" b="1" dirty="0">
                <a:solidFill>
                  <a:srgbClr val="1E2127"/>
                </a:solidFill>
                <a:latin typeface="Cambria" pitchFamily="34" charset="0"/>
                <a:ea typeface="Cambria" pitchFamily="34" charset="-122"/>
                <a:cs typeface="Cambria" pitchFamily="34" charset="-120"/>
              </a:rPr>
              <a:t>Look at 107.4 Hz</a:t>
            </a:r>
            <a:endParaRPr lang="en-US" sz="1700" dirty="0"/>
          </a:p>
        </p:txBody>
      </p:sp>
      <p:sp>
        <p:nvSpPr>
          <p:cNvPr id="19" name="Text 17"/>
          <p:cNvSpPr/>
          <p:nvPr/>
        </p:nvSpPr>
        <p:spPr>
          <a:xfrm>
            <a:off x="4864608" y="4233672"/>
            <a:ext cx="6720840" cy="566928"/>
          </a:xfrm>
          <a:prstGeom prst="rect">
            <a:avLst/>
          </a:prstGeom>
          <a:noFill/>
          <a:ln/>
        </p:spPr>
        <p:txBody>
          <a:bodyPr wrap="square" lIns="0" tIns="0" rIns="0" bIns="0" rtlCol="0" anchor="ctr"/>
          <a:lstStyle/>
          <a:p>
            <a:pPr indent="0" marL="0">
              <a:buNone/>
            </a:pPr>
            <a:r>
              <a:rPr lang="en-US" sz="1350" dirty="0">
                <a:solidFill>
                  <a:srgbClr val="6E757F"/>
                </a:solidFill>
                <a:latin typeface="Calibri" pitchFamily="34" charset="0"/>
                <a:ea typeface="Calibri" pitchFamily="34" charset="-122"/>
                <a:cs typeface="Calibri" pitchFamily="34" charset="-120"/>
              </a:rPr>
              <a:t>A clean line at BPFO, with harmonics. Exactly where geometry said.</a:t>
            </a:r>
            <a:endParaRPr lang="en-US" sz="1350" dirty="0"/>
          </a:p>
        </p:txBody>
      </p:sp>
      <p:sp>
        <p:nvSpPr>
          <p:cNvPr id="20" name="Shape 18"/>
          <p:cNvSpPr/>
          <p:nvPr/>
        </p:nvSpPr>
        <p:spPr>
          <a:xfrm>
            <a:off x="566928" y="5120640"/>
            <a:ext cx="11027664" cy="1051560"/>
          </a:xfrm>
          <a:prstGeom prst="roundRect">
            <a:avLst>
              <a:gd name="adj" fmla="val 2609"/>
            </a:avLst>
          </a:prstGeom>
          <a:solidFill>
            <a:srgbClr val="F3F4F6"/>
          </a:solidFill>
          <a:ln w="19050">
            <a:solidFill>
              <a:srgbClr val="E8A33D"/>
            </a:solidFill>
            <a:prstDash val="solid"/>
          </a:ln>
        </p:spPr>
      </p:sp>
      <p:sp>
        <p:nvSpPr>
          <p:cNvPr id="21" name="Text 19"/>
          <p:cNvSpPr/>
          <p:nvPr/>
        </p:nvSpPr>
        <p:spPr>
          <a:xfrm>
            <a:off x="886968" y="5120640"/>
            <a:ext cx="10424160" cy="1051560"/>
          </a:xfrm>
          <a:prstGeom prst="rect">
            <a:avLst/>
          </a:prstGeom>
          <a:noFill/>
          <a:ln/>
        </p:spPr>
        <p:txBody>
          <a:bodyPr wrap="square" lIns="0" tIns="0" rIns="0" bIns="0" rtlCol="0" anchor="ctr"/>
          <a:lstStyle/>
          <a:p>
            <a:pPr indent="0" marL="0">
              <a:buNone/>
            </a:pPr>
            <a:r>
              <a:rPr lang="en-US" sz="1450" dirty="0">
                <a:solidFill>
                  <a:srgbClr val="1E2127"/>
                </a:solidFill>
                <a:latin typeface="Calibri" pitchFamily="34" charset="0"/>
                <a:ea typeface="Calibri" pitchFamily="34" charset="-122"/>
                <a:cs typeface="Calibri" pitchFamily="34" charset="-120"/>
              </a:rPr>
              <a:t>We used domain knowledge to build a feature in which the fault is obvious. Throw raw vibration at a deep network instead and you are asking it to rediscover the Hilbert transform and bearing kinematics from data. It might. It will need vastly more data, and you will not be able to explain what it learned.</a:t>
            </a:r>
            <a:endParaRPr lang="en-US" sz="1450" dirty="0"/>
          </a:p>
        </p:txBody>
      </p:sp>
      <p:sp>
        <p:nvSpPr>
          <p:cNvPr id="22" name="Text 20"/>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16  ·  THE BEARING  ·  KNOWN SINCE THE 1970s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PART 2  ·  THE MODEL</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Now, finally, the machine learning</a:t>
            </a:r>
            <a:endParaRPr lang="en-US" sz="3400" dirty="0"/>
          </a:p>
        </p:txBody>
      </p:sp>
      <p:sp>
        <p:nvSpPr>
          <p:cNvPr id="4" name="Text 2"/>
          <p:cNvSpPr/>
          <p:nvPr/>
        </p:nvSpPr>
        <p:spPr>
          <a:xfrm>
            <a:off x="566928" y="1572768"/>
            <a:ext cx="10515600" cy="320040"/>
          </a:xfrm>
          <a:prstGeom prst="rect">
            <a:avLst/>
          </a:prstGeom>
          <a:noFill/>
          <a:ln/>
        </p:spPr>
        <p:txBody>
          <a:bodyPr wrap="square" lIns="0" tIns="0" rIns="0" bIns="0" rtlCol="0" anchor="ctr"/>
          <a:lstStyle/>
          <a:p>
            <a:pPr indent="0" marL="0">
              <a:buNone/>
            </a:pPr>
            <a:r>
              <a:rPr lang="en-US" sz="1450" i="1" dirty="0">
                <a:solidFill>
                  <a:srgbClr val="E8A33D"/>
                </a:solidFill>
                <a:latin typeface="Calibri" pitchFamily="34" charset="0"/>
                <a:ea typeface="Calibri" pitchFamily="34" charset="-122"/>
                <a:cs typeface="Calibri" pitchFamily="34" charset="-120"/>
              </a:rPr>
              <a:t>Notice how much smaller this section is than the signal processing. That ratio is correct.</a:t>
            </a:r>
            <a:endParaRPr lang="en-US" sz="1450" dirty="0"/>
          </a:p>
        </p:txBody>
      </p:sp>
      <p:sp>
        <p:nvSpPr>
          <p:cNvPr id="5" name="Shape 3"/>
          <p:cNvSpPr/>
          <p:nvPr/>
        </p:nvSpPr>
        <p:spPr>
          <a:xfrm>
            <a:off x="566928" y="2057400"/>
            <a:ext cx="3291840" cy="3566160"/>
          </a:xfrm>
          <a:prstGeom prst="roundRect">
            <a:avLst>
              <a:gd name="adj" fmla="val 833"/>
            </a:avLst>
          </a:prstGeom>
          <a:solidFill>
            <a:srgbClr val="F3F4F6"/>
          </a:solidFill>
          <a:ln w="12700">
            <a:solidFill>
              <a:srgbClr val="E2E5E9"/>
            </a:solidFill>
            <a:prstDash val="solid"/>
          </a:ln>
        </p:spPr>
      </p:sp>
      <p:sp>
        <p:nvSpPr>
          <p:cNvPr id="6" name="Text 4"/>
          <p:cNvSpPr/>
          <p:nvPr/>
        </p:nvSpPr>
        <p:spPr>
          <a:xfrm>
            <a:off x="822960" y="2286000"/>
            <a:ext cx="27432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FEATURES</a:t>
            </a:r>
            <a:endParaRPr lang="en-US" sz="1000" dirty="0"/>
          </a:p>
        </p:txBody>
      </p:sp>
      <p:sp>
        <p:nvSpPr>
          <p:cNvPr id="7" name="Text 5"/>
          <p:cNvSpPr/>
          <p:nvPr/>
        </p:nvSpPr>
        <p:spPr>
          <a:xfrm>
            <a:off x="822960" y="2606040"/>
            <a:ext cx="2788920" cy="283464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1E2127"/>
                </a:solidFill>
                <a:latin typeface="Calibri" pitchFamily="34" charset="0"/>
                <a:ea typeface="Calibri" pitchFamily="34" charset="-122"/>
                <a:cs typeface="Calibri" pitchFamily="34" charset="-120"/>
              </a:rPr>
              <a:t>RMS — total energy, rises late</a:t>
            </a:r>
            <a:endParaRPr lang="en-US" sz="1350" dirty="0"/>
          </a:p>
          <a:p>
            <a:pPr marL="342900" indent="-342900">
              <a:spcAft>
                <a:spcPts val="700"/>
              </a:spcAft>
              <a:buSzPct val="100000"/>
              <a:buChar char="•"/>
            </a:pPr>
            <a:r>
              <a:rPr lang="en-US" sz="1350" dirty="0">
                <a:solidFill>
                  <a:srgbClr val="1E2127"/>
                </a:solidFill>
                <a:latin typeface="Calibri" pitchFamily="34" charset="0"/>
                <a:ea typeface="Calibri" pitchFamily="34" charset="-122"/>
                <a:cs typeface="Calibri" pitchFamily="34" charset="-120"/>
              </a:rPr>
              <a:t>Kurtosis — 4th moment, measures impulsiveness, rises early</a:t>
            </a:r>
            <a:endParaRPr lang="en-US" sz="1350" dirty="0"/>
          </a:p>
          <a:p>
            <a:pPr marL="342900" indent="-342900">
              <a:spcAft>
                <a:spcPts val="700"/>
              </a:spcAft>
              <a:buSzPct val="100000"/>
              <a:buChar char="•"/>
            </a:pPr>
            <a:r>
              <a:rPr lang="en-US" sz="1350" dirty="0">
                <a:solidFill>
                  <a:srgbClr val="1E2127"/>
                </a:solidFill>
                <a:latin typeface="Calibri" pitchFamily="34" charset="0"/>
                <a:ea typeface="Calibri" pitchFamily="34" charset="-122"/>
                <a:cs typeface="Calibri" pitchFamily="34" charset="-120"/>
              </a:rPr>
              <a:t>Crest factor — peak / RMS</a:t>
            </a:r>
            <a:endParaRPr lang="en-US" sz="1350" dirty="0"/>
          </a:p>
          <a:p>
            <a:pPr marL="342900" indent="-342900">
              <a:spcAft>
                <a:spcPts val="700"/>
              </a:spcAft>
              <a:buSzPct val="100000"/>
              <a:buChar char="•"/>
            </a:pPr>
            <a:r>
              <a:rPr lang="en-US" sz="1350" dirty="0">
                <a:solidFill>
                  <a:srgbClr val="1E2127"/>
                </a:solidFill>
                <a:latin typeface="Calibri" pitchFamily="34" charset="0"/>
                <a:ea typeface="Calibri" pitchFamily="34" charset="-122"/>
                <a:cs typeface="Calibri" pitchFamily="34" charset="-120"/>
              </a:rPr>
              <a:t>Envelope band energy at BPFO and harmonics</a:t>
            </a:r>
            <a:endParaRPr lang="en-US" sz="1350" dirty="0"/>
          </a:p>
        </p:txBody>
      </p:sp>
      <p:sp>
        <p:nvSpPr>
          <p:cNvPr id="8" name="Shape 6"/>
          <p:cNvSpPr/>
          <p:nvPr/>
        </p:nvSpPr>
        <p:spPr>
          <a:xfrm>
            <a:off x="4133088" y="2057400"/>
            <a:ext cx="3657600" cy="3566160"/>
          </a:xfrm>
          <a:prstGeom prst="roundRect">
            <a:avLst>
              <a:gd name="adj" fmla="val 769"/>
            </a:avLst>
          </a:prstGeom>
          <a:solidFill>
            <a:srgbClr val="F3F4F6"/>
          </a:solidFill>
          <a:ln w="19050">
            <a:solidFill>
              <a:srgbClr val="C4483A"/>
            </a:solidFill>
            <a:prstDash val="solid"/>
          </a:ln>
        </p:spPr>
      </p:sp>
      <p:sp>
        <p:nvSpPr>
          <p:cNvPr id="9" name="Text 7"/>
          <p:cNvSpPr/>
          <p:nvPr/>
        </p:nvSpPr>
        <p:spPr>
          <a:xfrm>
            <a:off x="4389120" y="2286000"/>
            <a:ext cx="3657600" cy="201168"/>
          </a:xfrm>
          <a:prstGeom prst="rect">
            <a:avLst/>
          </a:prstGeom>
          <a:noFill/>
          <a:ln/>
        </p:spPr>
        <p:txBody>
          <a:bodyPr wrap="square" lIns="0" tIns="0" rIns="0" bIns="0" rtlCol="0" anchor="ctr"/>
          <a:lstStyle/>
          <a:p>
            <a:pPr indent="0" marL="0">
              <a:buNone/>
            </a:pPr>
            <a:r>
              <a:rPr lang="en-US" sz="1000" spc="220" kern="0" dirty="0">
                <a:solidFill>
                  <a:srgbClr val="C4483A"/>
                </a:solidFill>
                <a:latin typeface="Courier New" pitchFamily="34" charset="0"/>
                <a:ea typeface="Courier New" pitchFamily="34" charset="-122"/>
                <a:cs typeface="Courier New" pitchFamily="34" charset="-120"/>
              </a:rPr>
              <a:t>FRAMING A — SUPERVISED RUL</a:t>
            </a:r>
            <a:endParaRPr lang="en-US" sz="1000" dirty="0"/>
          </a:p>
        </p:txBody>
      </p:sp>
      <p:sp>
        <p:nvSpPr>
          <p:cNvPr id="10" name="Text 8"/>
          <p:cNvSpPr/>
          <p:nvPr/>
        </p:nvSpPr>
        <p:spPr>
          <a:xfrm>
            <a:off x="4389120" y="2606040"/>
            <a:ext cx="3154680" cy="2834640"/>
          </a:xfrm>
          <a:prstGeom prst="rect">
            <a:avLst/>
          </a:prstGeom>
          <a:noFill/>
          <a:ln/>
        </p:spPr>
        <p:txBody>
          <a:bodyPr wrap="square" lIns="0" tIns="0" rIns="0" bIns="0" rtlCol="0" anchor="t"/>
          <a:lstStyle/>
          <a:p>
            <a:pPr indent="0" marL="0">
              <a:lnSpc>
                <a:spcPct val="115000"/>
              </a:lnSpc>
              <a:buNone/>
            </a:pPr>
            <a:r>
              <a:rPr lang="en-US" sz="1300" dirty="0">
                <a:solidFill>
                  <a:srgbClr val="1E2127"/>
                </a:solidFill>
                <a:latin typeface="Calibri" pitchFamily="34" charset="0"/>
                <a:ea typeface="Calibri" pitchFamily="34" charset="-122"/>
                <a:cs typeface="Calibri" pitchFamily="34" charset="-120"/>
              </a:rPr>
              <a:t>"This bearing has 340 hours left."</a:t>
            </a:r>
            <a:endParaRPr lang="en-US" sz="1300" dirty="0"/>
          </a:p>
          <a:p>
            <a:pPr indent="0" marL="0">
              <a:lnSpc>
                <a:spcPct val="115000"/>
              </a:lnSpc>
              <a:buNone/>
            </a:pPr>
            <a:endParaRPr lang="en-US" sz="1300" dirty="0"/>
          </a:p>
          <a:p>
            <a:pPr indent="0" marL="0">
              <a:lnSpc>
                <a:spcPct val="115000"/>
              </a:lnSpc>
              <a:buNone/>
            </a:pPr>
            <a:r>
              <a:rPr lang="en-US" sz="1300" dirty="0">
                <a:solidFill>
                  <a:srgbClr val="1E2127"/>
                </a:solidFill>
                <a:latin typeface="Calibri" pitchFamily="34" charset="0"/>
                <a:ea typeface="Calibri" pitchFamily="34" charset="-122"/>
                <a:cs typeface="Calibri" pitchFamily="34" charset="-120"/>
              </a:rPr>
              <a:t>Needs run-to-failure data: machines deliberately instrumented and allowed to fail, repeatedly, across every mode you care about.</a:t>
            </a:r>
            <a:endParaRPr lang="en-US" sz="1300" dirty="0"/>
          </a:p>
          <a:p>
            <a:pPr indent="0" marL="0">
              <a:lnSpc>
                <a:spcPct val="115000"/>
              </a:lnSpc>
              <a:buNone/>
            </a:pPr>
            <a:endParaRPr lang="en-US" sz="1300" dirty="0"/>
          </a:p>
          <a:p>
            <a:pPr indent="0" marL="0">
              <a:lnSpc>
                <a:spcPct val="115000"/>
              </a:lnSpc>
              <a:buNone/>
            </a:pPr>
            <a:r>
              <a:rPr lang="en-US" sz="1300" dirty="0">
                <a:solidFill>
                  <a:srgbClr val="1E2127"/>
                </a:solidFill>
                <a:latin typeface="Calibri" pitchFamily="34" charset="0"/>
                <a:ea typeface="Calibri" pitchFamily="34" charset="-122"/>
                <a:cs typeface="Calibri" pitchFamily="34" charset="-120"/>
              </a:rPr>
              <a:t>Ask how many companies have destroyed a statistically useful number of their own machines.</a:t>
            </a:r>
            <a:endParaRPr lang="en-US" sz="1300" dirty="0"/>
          </a:p>
          <a:p>
            <a:pPr indent="0" marL="0">
              <a:lnSpc>
                <a:spcPct val="115000"/>
              </a:lnSpc>
              <a:buNone/>
            </a:pPr>
            <a:endParaRPr lang="en-US" sz="1300" dirty="0"/>
          </a:p>
          <a:p>
            <a:pPr indent="0" marL="0">
              <a:lnSpc>
                <a:spcPct val="115000"/>
              </a:lnSpc>
              <a:buNone/>
            </a:pPr>
            <a:r>
              <a:rPr lang="en-US" sz="1300" dirty="0">
                <a:solidFill>
                  <a:srgbClr val="1E2127"/>
                </a:solidFill>
                <a:latin typeface="Calibri" pitchFamily="34" charset="0"/>
                <a:ea typeface="Calibri" pitchFamily="34" charset="-122"/>
                <a:cs typeface="Calibri" pitchFamily="34" charset="-120"/>
              </a:rPr>
              <a:t>Essentially none. Which is why the same four public datasets appear in every paper.</a:t>
            </a:r>
            <a:endParaRPr lang="en-US" sz="1300" dirty="0"/>
          </a:p>
        </p:txBody>
      </p:sp>
      <p:sp>
        <p:nvSpPr>
          <p:cNvPr id="11" name="Shape 9"/>
          <p:cNvSpPr/>
          <p:nvPr/>
        </p:nvSpPr>
        <p:spPr>
          <a:xfrm>
            <a:off x="8065008" y="2057400"/>
            <a:ext cx="3529584" cy="3566160"/>
          </a:xfrm>
          <a:prstGeom prst="roundRect">
            <a:avLst>
              <a:gd name="adj" fmla="val 777"/>
            </a:avLst>
          </a:prstGeom>
          <a:solidFill>
            <a:srgbClr val="F3F4F6"/>
          </a:solidFill>
          <a:ln w="19050">
            <a:solidFill>
              <a:srgbClr val="3FB6A8"/>
            </a:solidFill>
            <a:prstDash val="solid"/>
          </a:ln>
        </p:spPr>
      </p:sp>
      <p:sp>
        <p:nvSpPr>
          <p:cNvPr id="12" name="Text 10"/>
          <p:cNvSpPr/>
          <p:nvPr/>
        </p:nvSpPr>
        <p:spPr>
          <a:xfrm>
            <a:off x="8321040" y="2286000"/>
            <a:ext cx="3657600" cy="201168"/>
          </a:xfrm>
          <a:prstGeom prst="rect">
            <a:avLst/>
          </a:prstGeom>
          <a:noFill/>
          <a:ln/>
        </p:spPr>
        <p:txBody>
          <a:bodyPr wrap="square" lIns="0" tIns="0" rIns="0" bIns="0" rtlCol="0" anchor="ctr"/>
          <a:lstStyle/>
          <a:p>
            <a:pPr indent="0" marL="0">
              <a:buNone/>
            </a:pPr>
            <a:r>
              <a:rPr lang="en-US" sz="1000" spc="220" kern="0" dirty="0">
                <a:solidFill>
                  <a:srgbClr val="3FB6A8"/>
                </a:solidFill>
                <a:latin typeface="Courier New" pitchFamily="34" charset="0"/>
                <a:ea typeface="Courier New" pitchFamily="34" charset="-122"/>
                <a:cs typeface="Courier New" pitchFamily="34" charset="-120"/>
              </a:rPr>
              <a:t>FRAMING B — ANOMALY DETECTION</a:t>
            </a:r>
            <a:endParaRPr lang="en-US" sz="1000" dirty="0"/>
          </a:p>
        </p:txBody>
      </p:sp>
      <p:sp>
        <p:nvSpPr>
          <p:cNvPr id="13" name="Text 11"/>
          <p:cNvSpPr/>
          <p:nvPr/>
        </p:nvSpPr>
        <p:spPr>
          <a:xfrm>
            <a:off x="8321040" y="2606040"/>
            <a:ext cx="3017520" cy="2834640"/>
          </a:xfrm>
          <a:prstGeom prst="rect">
            <a:avLst/>
          </a:prstGeom>
          <a:noFill/>
          <a:ln/>
        </p:spPr>
        <p:txBody>
          <a:bodyPr wrap="square" lIns="0" tIns="0" rIns="0" bIns="0" rtlCol="0" anchor="t"/>
          <a:lstStyle/>
          <a:p>
            <a:pPr indent="0" marL="0">
              <a:lnSpc>
                <a:spcPct val="115000"/>
              </a:lnSpc>
              <a:buNone/>
            </a:pPr>
            <a:r>
              <a:rPr lang="en-US" sz="1300" dirty="0">
                <a:solidFill>
                  <a:srgbClr val="1E2127"/>
                </a:solidFill>
                <a:latin typeface="Calibri" pitchFamily="34" charset="0"/>
                <a:ea typeface="Calibri" pitchFamily="34" charset="-122"/>
                <a:cs typeface="Calibri" pitchFamily="34" charset="-120"/>
              </a:rPr>
              <a:t>Train only on the healthy machine. Learn normal. Alarm on deviation.</a:t>
            </a:r>
            <a:endParaRPr lang="en-US" sz="1300" dirty="0"/>
          </a:p>
          <a:p>
            <a:pPr indent="0" marL="0">
              <a:lnSpc>
                <a:spcPct val="115000"/>
              </a:lnSpc>
              <a:buNone/>
            </a:pPr>
            <a:endParaRPr lang="en-US" sz="1300" dirty="0"/>
          </a:p>
          <a:p>
            <a:pPr indent="0" marL="0">
              <a:lnSpc>
                <a:spcPct val="115000"/>
              </a:lnSpc>
              <a:buNone/>
            </a:pPr>
            <a:r>
              <a:rPr lang="en-US" sz="1300" dirty="0">
                <a:solidFill>
                  <a:srgbClr val="1E2127"/>
                </a:solidFill>
                <a:latin typeface="Calibri" pitchFamily="34" charset="0"/>
                <a:ea typeface="Calibri" pitchFamily="34" charset="-122"/>
                <a:cs typeface="Calibri" pitchFamily="34" charset="-120"/>
              </a:rPr>
              <a:t>Autoencoder reconstruction error, one-class SVM, isolation forest — or honestly, a control chart on kurtosis.</a:t>
            </a:r>
            <a:endParaRPr lang="en-US" sz="1300" dirty="0"/>
          </a:p>
          <a:p>
            <a:pPr indent="0" marL="0">
              <a:lnSpc>
                <a:spcPct val="115000"/>
              </a:lnSpc>
              <a:buNone/>
            </a:pPr>
            <a:endParaRPr lang="en-US" sz="1300" dirty="0"/>
          </a:p>
          <a:p>
            <a:pPr indent="0" marL="0">
              <a:lnSpc>
                <a:spcPct val="115000"/>
              </a:lnSpc>
              <a:buNone/>
            </a:pPr>
            <a:r>
              <a:rPr lang="en-US" sz="1300" dirty="0">
                <a:solidFill>
                  <a:srgbClr val="1E2127"/>
                </a:solidFill>
                <a:latin typeface="Calibri" pitchFamily="34" charset="0"/>
                <a:ea typeface="Calibri" pitchFamily="34" charset="-122"/>
                <a:cs typeface="Calibri" pitchFamily="34" charset="-120"/>
              </a:rPr>
              <a:t>This is what actually gets deployed, because healthy data is the only thing you have a lot of.</a:t>
            </a:r>
            <a:endParaRPr lang="en-US" sz="1300" dirty="0"/>
          </a:p>
        </p:txBody>
      </p:sp>
      <p:sp>
        <p:nvSpPr>
          <p:cNvPr id="14" name="Text 12"/>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17  ·  THE BEARING</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PART 2  ·  NOT IN THE TEXTBOOK</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Why these projects fail</a:t>
            </a:r>
            <a:endParaRPr lang="en-US" sz="3400" dirty="0"/>
          </a:p>
        </p:txBody>
      </p:sp>
      <p:sp>
        <p:nvSpPr>
          <p:cNvPr id="4" name="Shape 2"/>
          <p:cNvSpPr/>
          <p:nvPr/>
        </p:nvSpPr>
        <p:spPr>
          <a:xfrm>
            <a:off x="566928" y="1828800"/>
            <a:ext cx="11027664" cy="758952"/>
          </a:xfrm>
          <a:prstGeom prst="roundRect">
            <a:avLst>
              <a:gd name="adj" fmla="val 3614"/>
            </a:avLst>
          </a:prstGeom>
          <a:solidFill>
            <a:srgbClr val="F3F4F6"/>
          </a:solidFill>
          <a:ln w="12700">
            <a:solidFill>
              <a:srgbClr val="E2E5E9"/>
            </a:solidFill>
            <a:prstDash val="solid"/>
          </a:ln>
        </p:spPr>
      </p:sp>
      <p:sp>
        <p:nvSpPr>
          <p:cNvPr id="5" name="Shape 3"/>
          <p:cNvSpPr/>
          <p:nvPr/>
        </p:nvSpPr>
        <p:spPr>
          <a:xfrm>
            <a:off x="841248" y="2121408"/>
            <a:ext cx="182880" cy="182880"/>
          </a:xfrm>
          <a:prstGeom prst="ellipse">
            <a:avLst/>
          </a:prstGeom>
          <a:solidFill>
            <a:srgbClr val="C4483A"/>
          </a:solidFill>
          <a:ln w="12700">
            <a:solidFill>
              <a:srgbClr val="C4483A"/>
            </a:solidFill>
            <a:prstDash val="solid"/>
          </a:ln>
        </p:spPr>
      </p:sp>
      <p:sp>
        <p:nvSpPr>
          <p:cNvPr id="6" name="Text 4"/>
          <p:cNvSpPr/>
          <p:nvPr/>
        </p:nvSpPr>
        <p:spPr>
          <a:xfrm>
            <a:off x="1188720" y="1828800"/>
            <a:ext cx="3200400" cy="758952"/>
          </a:xfrm>
          <a:prstGeom prst="rect">
            <a:avLst/>
          </a:prstGeom>
          <a:noFill/>
          <a:ln/>
        </p:spPr>
        <p:txBody>
          <a:bodyPr wrap="square" lIns="0" tIns="0" rIns="0" bIns="0" rtlCol="0" anchor="ctr"/>
          <a:lstStyle/>
          <a:p>
            <a:pPr indent="0" marL="0">
              <a:buNone/>
            </a:pPr>
            <a:r>
              <a:rPr lang="en-US" sz="1600" b="1" dirty="0">
                <a:solidFill>
                  <a:srgbClr val="1E2127"/>
                </a:solidFill>
                <a:latin typeface="Cambria" pitchFamily="34" charset="0"/>
                <a:ea typeface="Cambria" pitchFamily="34" charset="-122"/>
                <a:cs typeface="Cambria" pitchFamily="34" charset="-120"/>
              </a:rPr>
              <a:t>You have no labels</a:t>
            </a:r>
            <a:endParaRPr lang="en-US" sz="1600" dirty="0"/>
          </a:p>
        </p:txBody>
      </p:sp>
      <p:sp>
        <p:nvSpPr>
          <p:cNvPr id="7" name="Text 5"/>
          <p:cNvSpPr/>
          <p:nvPr/>
        </p:nvSpPr>
        <p:spPr>
          <a:xfrm>
            <a:off x="4498848" y="1828800"/>
            <a:ext cx="6903720" cy="758952"/>
          </a:xfrm>
          <a:prstGeom prst="rect">
            <a:avLst/>
          </a:prstGeom>
          <a:noFill/>
          <a:ln/>
        </p:spPr>
        <p:txBody>
          <a:bodyPr wrap="square" lIns="0" tIns="0" rIns="0" bIns="0" rtlCol="0" anchor="ctr"/>
          <a:lstStyle/>
          <a:p>
            <a:pPr indent="0" marL="0">
              <a:buNone/>
            </a:pPr>
            <a:r>
              <a:rPr lang="en-US" sz="1300" dirty="0">
                <a:solidFill>
                  <a:srgbClr val="6E757F"/>
                </a:solidFill>
                <a:latin typeface="Calibri" pitchFamily="34" charset="0"/>
                <a:ea typeface="Calibri" pitchFamily="34" charset="-122"/>
                <a:cs typeface="Calibri" pitchFamily="34" charset="-120"/>
              </a:rPr>
              <a:t>Not few. None. A thousand motors over five years might give you a dozen documented failures with usable data.</a:t>
            </a:r>
            <a:endParaRPr lang="en-US" sz="1300" dirty="0"/>
          </a:p>
        </p:txBody>
      </p:sp>
      <p:sp>
        <p:nvSpPr>
          <p:cNvPr id="8" name="Shape 6"/>
          <p:cNvSpPr/>
          <p:nvPr/>
        </p:nvSpPr>
        <p:spPr>
          <a:xfrm>
            <a:off x="566928" y="2688336"/>
            <a:ext cx="11027664" cy="758952"/>
          </a:xfrm>
          <a:prstGeom prst="roundRect">
            <a:avLst>
              <a:gd name="adj" fmla="val 3614"/>
            </a:avLst>
          </a:prstGeom>
          <a:solidFill>
            <a:srgbClr val="F3F4F6"/>
          </a:solidFill>
          <a:ln w="12700">
            <a:solidFill>
              <a:srgbClr val="E2E5E9"/>
            </a:solidFill>
            <a:prstDash val="solid"/>
          </a:ln>
        </p:spPr>
      </p:sp>
      <p:sp>
        <p:nvSpPr>
          <p:cNvPr id="9" name="Shape 7"/>
          <p:cNvSpPr/>
          <p:nvPr/>
        </p:nvSpPr>
        <p:spPr>
          <a:xfrm>
            <a:off x="841248" y="2980944"/>
            <a:ext cx="182880" cy="182880"/>
          </a:xfrm>
          <a:prstGeom prst="ellipse">
            <a:avLst/>
          </a:prstGeom>
          <a:solidFill>
            <a:srgbClr val="8A7CC2"/>
          </a:solidFill>
          <a:ln w="12700">
            <a:solidFill>
              <a:srgbClr val="8A7CC2"/>
            </a:solidFill>
            <a:prstDash val="solid"/>
          </a:ln>
        </p:spPr>
      </p:sp>
      <p:sp>
        <p:nvSpPr>
          <p:cNvPr id="10" name="Text 8"/>
          <p:cNvSpPr/>
          <p:nvPr/>
        </p:nvSpPr>
        <p:spPr>
          <a:xfrm>
            <a:off x="1188720" y="2688336"/>
            <a:ext cx="3200400" cy="758952"/>
          </a:xfrm>
          <a:prstGeom prst="rect">
            <a:avLst/>
          </a:prstGeom>
          <a:noFill/>
          <a:ln/>
        </p:spPr>
        <p:txBody>
          <a:bodyPr wrap="square" lIns="0" tIns="0" rIns="0" bIns="0" rtlCol="0" anchor="ctr"/>
          <a:lstStyle/>
          <a:p>
            <a:pPr indent="0" marL="0">
              <a:buNone/>
            </a:pPr>
            <a:r>
              <a:rPr lang="en-US" sz="1600" b="1" dirty="0">
                <a:solidFill>
                  <a:srgbClr val="1E2127"/>
                </a:solidFill>
                <a:latin typeface="Cambria" pitchFamily="34" charset="0"/>
                <a:ea typeface="Cambria" pitchFamily="34" charset="-122"/>
                <a:cs typeface="Cambria" pitchFamily="34" charset="-120"/>
              </a:rPr>
              <a:t>Models do not transfer</a:t>
            </a:r>
            <a:endParaRPr lang="en-US" sz="1600" dirty="0"/>
          </a:p>
        </p:txBody>
      </p:sp>
      <p:sp>
        <p:nvSpPr>
          <p:cNvPr id="11" name="Text 9"/>
          <p:cNvSpPr/>
          <p:nvPr/>
        </p:nvSpPr>
        <p:spPr>
          <a:xfrm>
            <a:off x="4498848" y="2688336"/>
            <a:ext cx="6903720" cy="758952"/>
          </a:xfrm>
          <a:prstGeom prst="rect">
            <a:avLst/>
          </a:prstGeom>
          <a:noFill/>
          <a:ln/>
        </p:spPr>
        <p:txBody>
          <a:bodyPr wrap="square" lIns="0" tIns="0" rIns="0" bIns="0" rtlCol="0" anchor="ctr"/>
          <a:lstStyle/>
          <a:p>
            <a:pPr indent="0" marL="0">
              <a:buNone/>
            </a:pPr>
            <a:r>
              <a:rPr lang="en-US" sz="1300" dirty="0">
                <a:solidFill>
                  <a:srgbClr val="6E757F"/>
                </a:solidFill>
                <a:latin typeface="Calibri" pitchFamily="34" charset="0"/>
                <a:ea typeface="Calibri" pitchFamily="34" charset="-122"/>
                <a:cs typeface="Calibri" pitchFamily="34" charset="-120"/>
              </a:rPr>
              <a:t>Different mounting stiffness moves the resonance. Domain shift is brutal. Note the physics transfers perfectly — BPFO is BPFO.</a:t>
            </a:r>
            <a:endParaRPr lang="en-US" sz="1300" dirty="0"/>
          </a:p>
        </p:txBody>
      </p:sp>
      <p:sp>
        <p:nvSpPr>
          <p:cNvPr id="12" name="Shape 10"/>
          <p:cNvSpPr/>
          <p:nvPr/>
        </p:nvSpPr>
        <p:spPr>
          <a:xfrm>
            <a:off x="566928" y="3547872"/>
            <a:ext cx="11027664" cy="758952"/>
          </a:xfrm>
          <a:prstGeom prst="roundRect">
            <a:avLst>
              <a:gd name="adj" fmla="val 3614"/>
            </a:avLst>
          </a:prstGeom>
          <a:solidFill>
            <a:srgbClr val="F3F4F6"/>
          </a:solidFill>
          <a:ln w="12700">
            <a:solidFill>
              <a:srgbClr val="E2E5E9"/>
            </a:solidFill>
            <a:prstDash val="solid"/>
          </a:ln>
        </p:spPr>
      </p:sp>
      <p:sp>
        <p:nvSpPr>
          <p:cNvPr id="13" name="Shape 11"/>
          <p:cNvSpPr/>
          <p:nvPr/>
        </p:nvSpPr>
        <p:spPr>
          <a:xfrm>
            <a:off x="841248" y="3840480"/>
            <a:ext cx="182880" cy="182880"/>
          </a:xfrm>
          <a:prstGeom prst="ellipse">
            <a:avLst/>
          </a:prstGeom>
          <a:solidFill>
            <a:srgbClr val="E8A33D"/>
          </a:solidFill>
          <a:ln w="12700">
            <a:solidFill>
              <a:srgbClr val="E8A33D"/>
            </a:solidFill>
            <a:prstDash val="solid"/>
          </a:ln>
        </p:spPr>
      </p:sp>
      <p:sp>
        <p:nvSpPr>
          <p:cNvPr id="14" name="Text 12"/>
          <p:cNvSpPr/>
          <p:nvPr/>
        </p:nvSpPr>
        <p:spPr>
          <a:xfrm>
            <a:off x="1188720" y="3547872"/>
            <a:ext cx="3200400" cy="758952"/>
          </a:xfrm>
          <a:prstGeom prst="rect">
            <a:avLst/>
          </a:prstGeom>
          <a:noFill/>
          <a:ln/>
        </p:spPr>
        <p:txBody>
          <a:bodyPr wrap="square" lIns="0" tIns="0" rIns="0" bIns="0" rtlCol="0" anchor="ctr"/>
          <a:lstStyle/>
          <a:p>
            <a:pPr indent="0" marL="0">
              <a:buNone/>
            </a:pPr>
            <a:r>
              <a:rPr lang="en-US" sz="1600" b="1" dirty="0">
                <a:solidFill>
                  <a:srgbClr val="1E2127"/>
                </a:solidFill>
                <a:latin typeface="Cambria" pitchFamily="34" charset="0"/>
                <a:ea typeface="Cambria" pitchFamily="34" charset="-122"/>
                <a:cs typeface="Cambria" pitchFamily="34" charset="-120"/>
              </a:rPr>
              <a:t>Sensor drift</a:t>
            </a:r>
            <a:endParaRPr lang="en-US" sz="1600" dirty="0"/>
          </a:p>
        </p:txBody>
      </p:sp>
      <p:sp>
        <p:nvSpPr>
          <p:cNvPr id="15" name="Text 13"/>
          <p:cNvSpPr/>
          <p:nvPr/>
        </p:nvSpPr>
        <p:spPr>
          <a:xfrm>
            <a:off x="4498848" y="3547872"/>
            <a:ext cx="6903720" cy="758952"/>
          </a:xfrm>
          <a:prstGeom prst="rect">
            <a:avLst/>
          </a:prstGeom>
          <a:noFill/>
          <a:ln/>
        </p:spPr>
        <p:txBody>
          <a:bodyPr wrap="square" lIns="0" tIns="0" rIns="0" bIns="0" rtlCol="0" anchor="ctr"/>
          <a:lstStyle/>
          <a:p>
            <a:pPr indent="0" marL="0">
              <a:buNone/>
            </a:pPr>
            <a:r>
              <a:rPr lang="en-US" sz="1300" dirty="0">
                <a:solidFill>
                  <a:srgbClr val="6E757F"/>
                </a:solidFill>
                <a:latin typeface="Calibri" pitchFamily="34" charset="0"/>
                <a:ea typeface="Calibri" pitchFamily="34" charset="-122"/>
                <a:cs typeface="Calibri" pitchFamily="34" charset="-120"/>
              </a:rPr>
              <a:t>Sensitivity shifts with temperature and age. A large share of anomaly alerts are instrumentation faults. Monitor your monitoring.</a:t>
            </a:r>
            <a:endParaRPr lang="en-US" sz="1300" dirty="0"/>
          </a:p>
        </p:txBody>
      </p:sp>
      <p:sp>
        <p:nvSpPr>
          <p:cNvPr id="16" name="Shape 14"/>
          <p:cNvSpPr/>
          <p:nvPr/>
        </p:nvSpPr>
        <p:spPr>
          <a:xfrm>
            <a:off x="566928" y="4407408"/>
            <a:ext cx="11027664" cy="758952"/>
          </a:xfrm>
          <a:prstGeom prst="roundRect">
            <a:avLst>
              <a:gd name="adj" fmla="val 3614"/>
            </a:avLst>
          </a:prstGeom>
          <a:solidFill>
            <a:srgbClr val="F3F4F6"/>
          </a:solidFill>
          <a:ln w="12700">
            <a:solidFill>
              <a:srgbClr val="E2E5E9"/>
            </a:solidFill>
            <a:prstDash val="solid"/>
          </a:ln>
        </p:spPr>
      </p:sp>
      <p:sp>
        <p:nvSpPr>
          <p:cNvPr id="17" name="Shape 15"/>
          <p:cNvSpPr/>
          <p:nvPr/>
        </p:nvSpPr>
        <p:spPr>
          <a:xfrm>
            <a:off x="841248" y="4700016"/>
            <a:ext cx="182880" cy="182880"/>
          </a:xfrm>
          <a:prstGeom prst="ellipse">
            <a:avLst/>
          </a:prstGeom>
          <a:solidFill>
            <a:srgbClr val="C4483A"/>
          </a:solidFill>
          <a:ln w="12700">
            <a:solidFill>
              <a:srgbClr val="C4483A"/>
            </a:solidFill>
            <a:prstDash val="solid"/>
          </a:ln>
        </p:spPr>
      </p:sp>
      <p:sp>
        <p:nvSpPr>
          <p:cNvPr id="18" name="Text 16"/>
          <p:cNvSpPr/>
          <p:nvPr/>
        </p:nvSpPr>
        <p:spPr>
          <a:xfrm>
            <a:off x="1188720" y="4407408"/>
            <a:ext cx="3200400" cy="758952"/>
          </a:xfrm>
          <a:prstGeom prst="rect">
            <a:avLst/>
          </a:prstGeom>
          <a:noFill/>
          <a:ln/>
        </p:spPr>
        <p:txBody>
          <a:bodyPr wrap="square" lIns="0" tIns="0" rIns="0" bIns="0" rtlCol="0" anchor="ctr"/>
          <a:lstStyle/>
          <a:p>
            <a:pPr indent="0" marL="0">
              <a:buNone/>
            </a:pPr>
            <a:r>
              <a:rPr lang="en-US" sz="1600" b="1" dirty="0">
                <a:solidFill>
                  <a:srgbClr val="1E2127"/>
                </a:solidFill>
                <a:latin typeface="Cambria" pitchFamily="34" charset="0"/>
                <a:ea typeface="Cambria" pitchFamily="34" charset="-122"/>
                <a:cs typeface="Cambria" pitchFamily="34" charset="-120"/>
              </a:rPr>
              <a:t>Alarm fatigue</a:t>
            </a:r>
            <a:endParaRPr lang="en-US" sz="1600" dirty="0"/>
          </a:p>
        </p:txBody>
      </p:sp>
      <p:sp>
        <p:nvSpPr>
          <p:cNvPr id="19" name="Text 17"/>
          <p:cNvSpPr/>
          <p:nvPr/>
        </p:nvSpPr>
        <p:spPr>
          <a:xfrm>
            <a:off x="4498848" y="4407408"/>
            <a:ext cx="6903720" cy="758952"/>
          </a:xfrm>
          <a:prstGeom prst="rect">
            <a:avLst/>
          </a:prstGeom>
          <a:noFill/>
          <a:ln/>
        </p:spPr>
        <p:txBody>
          <a:bodyPr wrap="square" lIns="0" tIns="0" rIns="0" bIns="0" rtlCol="0" anchor="ctr"/>
          <a:lstStyle/>
          <a:p>
            <a:pPr indent="0" marL="0">
              <a:buNone/>
            </a:pPr>
            <a:r>
              <a:rPr lang="en-US" sz="1300" dirty="0">
                <a:solidFill>
                  <a:srgbClr val="6E757F"/>
                </a:solidFill>
                <a:latin typeface="Calibri" pitchFamily="34" charset="0"/>
                <a:ea typeface="Calibri" pitchFamily="34" charset="-122"/>
                <a:cs typeface="Calibri" pitchFamily="34" charset="-120"/>
              </a:rPr>
              <a:t>The one that actually kills deployments. Next slide does the arithmetic.</a:t>
            </a:r>
            <a:endParaRPr lang="en-US" sz="1300" dirty="0"/>
          </a:p>
        </p:txBody>
      </p:sp>
      <p:sp>
        <p:nvSpPr>
          <p:cNvPr id="20" name="Shape 18"/>
          <p:cNvSpPr/>
          <p:nvPr/>
        </p:nvSpPr>
        <p:spPr>
          <a:xfrm>
            <a:off x="566928" y="5266944"/>
            <a:ext cx="11027664" cy="758952"/>
          </a:xfrm>
          <a:prstGeom prst="roundRect">
            <a:avLst>
              <a:gd name="adj" fmla="val 3614"/>
            </a:avLst>
          </a:prstGeom>
          <a:solidFill>
            <a:srgbClr val="F3F4F6"/>
          </a:solidFill>
          <a:ln w="12700">
            <a:solidFill>
              <a:srgbClr val="E2E5E9"/>
            </a:solidFill>
            <a:prstDash val="solid"/>
          </a:ln>
        </p:spPr>
      </p:sp>
      <p:sp>
        <p:nvSpPr>
          <p:cNvPr id="21" name="Shape 19"/>
          <p:cNvSpPr/>
          <p:nvPr/>
        </p:nvSpPr>
        <p:spPr>
          <a:xfrm>
            <a:off x="841248" y="5559552"/>
            <a:ext cx="182880" cy="182880"/>
          </a:xfrm>
          <a:prstGeom prst="ellipse">
            <a:avLst/>
          </a:prstGeom>
          <a:solidFill>
            <a:srgbClr val="3FB6A8"/>
          </a:solidFill>
          <a:ln w="12700">
            <a:solidFill>
              <a:srgbClr val="3FB6A8"/>
            </a:solidFill>
            <a:prstDash val="solid"/>
          </a:ln>
        </p:spPr>
      </p:sp>
      <p:sp>
        <p:nvSpPr>
          <p:cNvPr id="22" name="Text 20"/>
          <p:cNvSpPr/>
          <p:nvPr/>
        </p:nvSpPr>
        <p:spPr>
          <a:xfrm>
            <a:off x="1188720" y="5266944"/>
            <a:ext cx="3200400" cy="758952"/>
          </a:xfrm>
          <a:prstGeom prst="rect">
            <a:avLst/>
          </a:prstGeom>
          <a:noFill/>
          <a:ln/>
        </p:spPr>
        <p:txBody>
          <a:bodyPr wrap="square" lIns="0" tIns="0" rIns="0" bIns="0" rtlCol="0" anchor="ctr"/>
          <a:lstStyle/>
          <a:p>
            <a:pPr indent="0" marL="0">
              <a:buNone/>
            </a:pPr>
            <a:r>
              <a:rPr lang="en-US" sz="1600" b="1" dirty="0">
                <a:solidFill>
                  <a:srgbClr val="1E2127"/>
                </a:solidFill>
                <a:latin typeface="Cambria" pitchFamily="34" charset="0"/>
                <a:ea typeface="Cambria" pitchFamily="34" charset="-122"/>
                <a:cs typeface="Cambria" pitchFamily="34" charset="-120"/>
              </a:rPr>
              <a:t>Nobody set the threshold economically</a:t>
            </a:r>
            <a:endParaRPr lang="en-US" sz="1600" dirty="0"/>
          </a:p>
        </p:txBody>
      </p:sp>
      <p:sp>
        <p:nvSpPr>
          <p:cNvPr id="23" name="Text 21"/>
          <p:cNvSpPr/>
          <p:nvPr/>
        </p:nvSpPr>
        <p:spPr>
          <a:xfrm>
            <a:off x="4498848" y="5266944"/>
            <a:ext cx="6903720" cy="758952"/>
          </a:xfrm>
          <a:prstGeom prst="rect">
            <a:avLst/>
          </a:prstGeom>
          <a:noFill/>
          <a:ln/>
        </p:spPr>
        <p:txBody>
          <a:bodyPr wrap="square" lIns="0" tIns="0" rIns="0" bIns="0" rtlCol="0" anchor="ctr"/>
          <a:lstStyle/>
          <a:p>
            <a:pPr indent="0" marL="0">
              <a:buNone/>
            </a:pPr>
            <a:r>
              <a:rPr lang="en-US" sz="1300" dirty="0">
                <a:solidFill>
                  <a:srgbClr val="6E757F"/>
                </a:solidFill>
                <a:latin typeface="Calibri" pitchFamily="34" charset="0"/>
                <a:ea typeface="Calibri" pitchFamily="34" charset="-122"/>
                <a:cs typeface="Calibri" pitchFamily="34" charset="-120"/>
              </a:rPr>
              <a:t>It was set by optimizing F1 score instead of by costing out consequences.</a:t>
            </a:r>
            <a:endParaRPr lang="en-US" sz="1300" dirty="0"/>
          </a:p>
        </p:txBody>
      </p:sp>
      <p:sp>
        <p:nvSpPr>
          <p:cNvPr id="24" name="Text 22"/>
          <p:cNvSpPr/>
          <p:nvPr/>
        </p:nvSpPr>
        <p:spPr>
          <a:xfrm>
            <a:off x="566928" y="6126480"/>
            <a:ext cx="11027664" cy="365760"/>
          </a:xfrm>
          <a:prstGeom prst="rect">
            <a:avLst/>
          </a:prstGeom>
          <a:noFill/>
          <a:ln/>
        </p:spPr>
        <p:txBody>
          <a:bodyPr wrap="square" lIns="0" tIns="0" rIns="0" bIns="0" rtlCol="0" anchor="ctr"/>
          <a:lstStyle/>
          <a:p>
            <a:pPr indent="0" marL="0">
              <a:buNone/>
            </a:pPr>
            <a:r>
              <a:rPr lang="en-US" sz="1400" i="1" dirty="0">
                <a:solidFill>
                  <a:srgbClr val="E8A33D"/>
                </a:solidFill>
                <a:latin typeface="Calibri" pitchFamily="34" charset="0"/>
                <a:ea typeface="Calibri" pitchFamily="34" charset="-122"/>
                <a:cs typeface="Calibri" pitchFamily="34" charset="-120"/>
              </a:rPr>
              <a:t>The success stories are all in the vendor brochures. The failures are where the engineering is.</a:t>
            </a:r>
            <a:endParaRPr lang="en-US" sz="1400" dirty="0"/>
          </a:p>
        </p:txBody>
      </p:sp>
      <p:sp>
        <p:nvSpPr>
          <p:cNvPr id="25" name="Text 23"/>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18  ·  THE BEARING</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PART 2  ·  ALARM FATIGUE</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Do the arithmetic. Watch the number.</a:t>
            </a:r>
            <a:endParaRPr lang="en-US" sz="3400" dirty="0"/>
          </a:p>
        </p:txBody>
      </p:sp>
      <p:sp>
        <p:nvSpPr>
          <p:cNvPr id="4" name="Shape 2"/>
          <p:cNvSpPr/>
          <p:nvPr/>
        </p:nvSpPr>
        <p:spPr>
          <a:xfrm>
            <a:off x="566928" y="1874520"/>
            <a:ext cx="2606040" cy="960120"/>
          </a:xfrm>
          <a:prstGeom prst="roundRect">
            <a:avLst>
              <a:gd name="adj" fmla="val 3810"/>
            </a:avLst>
          </a:prstGeom>
          <a:solidFill>
            <a:srgbClr val="16181C"/>
          </a:solidFill>
          <a:ln w="12700">
            <a:solidFill>
              <a:srgbClr val="343A44"/>
            </a:solidFill>
            <a:prstDash val="solid"/>
          </a:ln>
        </p:spPr>
      </p:sp>
      <p:sp>
        <p:nvSpPr>
          <p:cNvPr id="5" name="Text 3"/>
          <p:cNvSpPr/>
          <p:nvPr/>
        </p:nvSpPr>
        <p:spPr>
          <a:xfrm>
            <a:off x="713232" y="1984248"/>
            <a:ext cx="2313432" cy="219456"/>
          </a:xfrm>
          <a:prstGeom prst="rect">
            <a:avLst/>
          </a:prstGeom>
          <a:noFill/>
          <a:ln/>
        </p:spPr>
        <p:txBody>
          <a:bodyPr wrap="square" lIns="0" tIns="0" rIns="0" bIns="0" rtlCol="0" anchor="ctr"/>
          <a:lstStyle/>
          <a:p>
            <a:pPr indent="0" marL="0">
              <a:buNone/>
            </a:pPr>
            <a:r>
              <a:rPr lang="en-US" sz="900" spc="180" kern="0" dirty="0">
                <a:solidFill>
                  <a:srgbClr val="8A929C"/>
                </a:solidFill>
                <a:latin typeface="Courier New" pitchFamily="34" charset="0"/>
                <a:ea typeface="Courier New" pitchFamily="34" charset="-122"/>
                <a:cs typeface="Courier New" pitchFamily="34" charset="-120"/>
              </a:rPr>
              <a:t>ASSETS MONITORED</a:t>
            </a:r>
            <a:endParaRPr lang="en-US" sz="900" dirty="0"/>
          </a:p>
        </p:txBody>
      </p:sp>
      <p:sp>
        <p:nvSpPr>
          <p:cNvPr id="6" name="Text 4"/>
          <p:cNvSpPr/>
          <p:nvPr/>
        </p:nvSpPr>
        <p:spPr>
          <a:xfrm>
            <a:off x="713232" y="2258568"/>
            <a:ext cx="2313432" cy="457200"/>
          </a:xfrm>
          <a:prstGeom prst="rect">
            <a:avLst/>
          </a:prstGeom>
          <a:noFill/>
          <a:ln/>
        </p:spPr>
        <p:txBody>
          <a:bodyPr wrap="square" lIns="0" tIns="0" rIns="0" bIns="0" rtlCol="0" anchor="ctr"/>
          <a:lstStyle/>
          <a:p>
            <a:pPr indent="0" marL="0">
              <a:buNone/>
            </a:pPr>
            <a:r>
              <a:rPr lang="en-US" sz="2400" dirty="0">
                <a:solidFill>
                  <a:srgbClr val="3FB6A8"/>
                </a:solidFill>
                <a:latin typeface="Courier New" pitchFamily="34" charset="0"/>
                <a:ea typeface="Courier New" pitchFamily="34" charset="-122"/>
                <a:cs typeface="Courier New" pitchFamily="34" charset="-120"/>
              </a:rPr>
              <a:t>500</a:t>
            </a:r>
            <a:pPr indent="0" marL="0">
              <a:buNone/>
            </a:pPr>
            <a:endParaRPr lang="en-US" sz="2400" dirty="0"/>
          </a:p>
        </p:txBody>
      </p:sp>
      <p:sp>
        <p:nvSpPr>
          <p:cNvPr id="7" name="Shape 5"/>
          <p:cNvSpPr/>
          <p:nvPr/>
        </p:nvSpPr>
        <p:spPr>
          <a:xfrm>
            <a:off x="3355848" y="1874520"/>
            <a:ext cx="2606040" cy="960120"/>
          </a:xfrm>
          <a:prstGeom prst="roundRect">
            <a:avLst>
              <a:gd name="adj" fmla="val 3810"/>
            </a:avLst>
          </a:prstGeom>
          <a:solidFill>
            <a:srgbClr val="16181C"/>
          </a:solidFill>
          <a:ln w="12700">
            <a:solidFill>
              <a:srgbClr val="343A44"/>
            </a:solidFill>
            <a:prstDash val="solid"/>
          </a:ln>
        </p:spPr>
      </p:sp>
      <p:sp>
        <p:nvSpPr>
          <p:cNvPr id="8" name="Text 6"/>
          <p:cNvSpPr/>
          <p:nvPr/>
        </p:nvSpPr>
        <p:spPr>
          <a:xfrm>
            <a:off x="3502152" y="1984248"/>
            <a:ext cx="2313432" cy="219456"/>
          </a:xfrm>
          <a:prstGeom prst="rect">
            <a:avLst/>
          </a:prstGeom>
          <a:noFill/>
          <a:ln/>
        </p:spPr>
        <p:txBody>
          <a:bodyPr wrap="square" lIns="0" tIns="0" rIns="0" bIns="0" rtlCol="0" anchor="ctr"/>
          <a:lstStyle/>
          <a:p>
            <a:pPr indent="0" marL="0">
              <a:buNone/>
            </a:pPr>
            <a:r>
              <a:rPr lang="en-US" sz="900" spc="180" kern="0" dirty="0">
                <a:solidFill>
                  <a:srgbClr val="8A929C"/>
                </a:solidFill>
                <a:latin typeface="Courier New" pitchFamily="34" charset="0"/>
                <a:ea typeface="Courier New" pitchFamily="34" charset="-122"/>
                <a:cs typeface="Courier New" pitchFamily="34" charset="-120"/>
              </a:rPr>
              <a:t>FALSE POSITIVE RATE</a:t>
            </a:r>
            <a:endParaRPr lang="en-US" sz="900" dirty="0"/>
          </a:p>
        </p:txBody>
      </p:sp>
      <p:sp>
        <p:nvSpPr>
          <p:cNvPr id="9" name="Text 7"/>
          <p:cNvSpPr/>
          <p:nvPr/>
        </p:nvSpPr>
        <p:spPr>
          <a:xfrm>
            <a:off x="3502152" y="2258568"/>
            <a:ext cx="2313432" cy="457200"/>
          </a:xfrm>
          <a:prstGeom prst="rect">
            <a:avLst/>
          </a:prstGeom>
          <a:noFill/>
          <a:ln/>
        </p:spPr>
        <p:txBody>
          <a:bodyPr wrap="square" lIns="0" tIns="0" rIns="0" bIns="0" rtlCol="0" anchor="ctr"/>
          <a:lstStyle/>
          <a:p>
            <a:pPr indent="0" marL="0">
              <a:buNone/>
            </a:pPr>
            <a:r>
              <a:rPr lang="en-US" sz="2400" dirty="0">
                <a:solidFill>
                  <a:srgbClr val="3FB6A8"/>
                </a:solidFill>
                <a:latin typeface="Courier New" pitchFamily="34" charset="0"/>
                <a:ea typeface="Courier New" pitchFamily="34" charset="-122"/>
                <a:cs typeface="Courier New" pitchFamily="34" charset="-120"/>
              </a:rPr>
              <a:t>1</a:t>
            </a:r>
            <a:pPr indent="0" marL="0">
              <a:buNone/>
            </a:pPr>
            <a:r>
              <a:rPr lang="en-US" sz="1200" dirty="0">
                <a:solidFill>
                  <a:srgbClr val="8A929C"/>
                </a:solidFill>
                <a:latin typeface="Courier New" pitchFamily="34" charset="0"/>
                <a:ea typeface="Courier New" pitchFamily="34" charset="-122"/>
                <a:cs typeface="Courier New" pitchFamily="34" charset="-120"/>
              </a:rPr>
              <a:t> %/day</a:t>
            </a:r>
            <a:endParaRPr lang="en-US" sz="2400" dirty="0"/>
          </a:p>
        </p:txBody>
      </p:sp>
      <p:sp>
        <p:nvSpPr>
          <p:cNvPr id="10" name="Shape 8"/>
          <p:cNvSpPr/>
          <p:nvPr/>
        </p:nvSpPr>
        <p:spPr>
          <a:xfrm>
            <a:off x="6144768" y="1874520"/>
            <a:ext cx="2606040" cy="960120"/>
          </a:xfrm>
          <a:prstGeom prst="roundRect">
            <a:avLst>
              <a:gd name="adj" fmla="val 3810"/>
            </a:avLst>
          </a:prstGeom>
          <a:solidFill>
            <a:srgbClr val="16181C"/>
          </a:solidFill>
          <a:ln w="12700">
            <a:solidFill>
              <a:srgbClr val="343A44"/>
            </a:solidFill>
            <a:prstDash val="solid"/>
          </a:ln>
        </p:spPr>
      </p:sp>
      <p:sp>
        <p:nvSpPr>
          <p:cNvPr id="11" name="Text 9"/>
          <p:cNvSpPr/>
          <p:nvPr/>
        </p:nvSpPr>
        <p:spPr>
          <a:xfrm>
            <a:off x="6291072" y="1984248"/>
            <a:ext cx="2313432" cy="219456"/>
          </a:xfrm>
          <a:prstGeom prst="rect">
            <a:avLst/>
          </a:prstGeom>
          <a:noFill/>
          <a:ln/>
        </p:spPr>
        <p:txBody>
          <a:bodyPr wrap="square" lIns="0" tIns="0" rIns="0" bIns="0" rtlCol="0" anchor="ctr"/>
          <a:lstStyle/>
          <a:p>
            <a:pPr indent="0" marL="0">
              <a:buNone/>
            </a:pPr>
            <a:r>
              <a:rPr lang="en-US" sz="900" spc="180" kern="0" dirty="0">
                <a:solidFill>
                  <a:srgbClr val="8A929C"/>
                </a:solidFill>
                <a:latin typeface="Courier New" pitchFamily="34" charset="0"/>
                <a:ea typeface="Courier New" pitchFamily="34" charset="-122"/>
                <a:cs typeface="Courier New" pitchFamily="34" charset="-120"/>
              </a:rPr>
              <a:t>FALSE ALARMS PER DAY</a:t>
            </a:r>
            <a:endParaRPr lang="en-US" sz="900" dirty="0"/>
          </a:p>
        </p:txBody>
      </p:sp>
      <p:sp>
        <p:nvSpPr>
          <p:cNvPr id="12" name="Text 10"/>
          <p:cNvSpPr/>
          <p:nvPr/>
        </p:nvSpPr>
        <p:spPr>
          <a:xfrm>
            <a:off x="6291072" y="2258568"/>
            <a:ext cx="2313432" cy="457200"/>
          </a:xfrm>
          <a:prstGeom prst="rect">
            <a:avLst/>
          </a:prstGeom>
          <a:noFill/>
          <a:ln/>
        </p:spPr>
        <p:txBody>
          <a:bodyPr wrap="square" lIns="0" tIns="0" rIns="0" bIns="0" rtlCol="0" anchor="ctr"/>
          <a:lstStyle/>
          <a:p>
            <a:pPr indent="0" marL="0">
              <a:buNone/>
            </a:pPr>
            <a:r>
              <a:rPr lang="en-US" sz="2400" dirty="0">
                <a:solidFill>
                  <a:srgbClr val="E8A33D"/>
                </a:solidFill>
                <a:latin typeface="Courier New" pitchFamily="34" charset="0"/>
                <a:ea typeface="Courier New" pitchFamily="34" charset="-122"/>
                <a:cs typeface="Courier New" pitchFamily="34" charset="-120"/>
              </a:rPr>
              <a:t>5</a:t>
            </a:r>
            <a:pPr indent="0" marL="0">
              <a:buNone/>
            </a:pPr>
            <a:endParaRPr lang="en-US" sz="2400" dirty="0"/>
          </a:p>
        </p:txBody>
      </p:sp>
      <p:sp>
        <p:nvSpPr>
          <p:cNvPr id="13" name="Shape 11"/>
          <p:cNvSpPr/>
          <p:nvPr/>
        </p:nvSpPr>
        <p:spPr>
          <a:xfrm>
            <a:off x="8933688" y="1874520"/>
            <a:ext cx="2606040" cy="960120"/>
          </a:xfrm>
          <a:prstGeom prst="roundRect">
            <a:avLst>
              <a:gd name="adj" fmla="val 3810"/>
            </a:avLst>
          </a:prstGeom>
          <a:solidFill>
            <a:srgbClr val="16181C"/>
          </a:solidFill>
          <a:ln w="12700">
            <a:solidFill>
              <a:srgbClr val="343A44"/>
            </a:solidFill>
            <a:prstDash val="solid"/>
          </a:ln>
        </p:spPr>
      </p:sp>
      <p:sp>
        <p:nvSpPr>
          <p:cNvPr id="14" name="Text 12"/>
          <p:cNvSpPr/>
          <p:nvPr/>
        </p:nvSpPr>
        <p:spPr>
          <a:xfrm>
            <a:off x="9079992" y="1984248"/>
            <a:ext cx="2313432" cy="219456"/>
          </a:xfrm>
          <a:prstGeom prst="rect">
            <a:avLst/>
          </a:prstGeom>
          <a:noFill/>
          <a:ln/>
        </p:spPr>
        <p:txBody>
          <a:bodyPr wrap="square" lIns="0" tIns="0" rIns="0" bIns="0" rtlCol="0" anchor="ctr"/>
          <a:lstStyle/>
          <a:p>
            <a:pPr indent="0" marL="0">
              <a:buNone/>
            </a:pPr>
            <a:r>
              <a:rPr lang="en-US" sz="900" spc="180" kern="0" dirty="0">
                <a:solidFill>
                  <a:srgbClr val="8A929C"/>
                </a:solidFill>
                <a:latin typeface="Courier New" pitchFamily="34" charset="0"/>
                <a:ea typeface="Courier New" pitchFamily="34" charset="-122"/>
                <a:cs typeface="Courier New" pitchFamily="34" charset="-120"/>
              </a:rPr>
              <a:t>INVESTIGATION LOAD</a:t>
            </a:r>
            <a:endParaRPr lang="en-US" sz="900" dirty="0"/>
          </a:p>
        </p:txBody>
      </p:sp>
      <p:sp>
        <p:nvSpPr>
          <p:cNvPr id="15" name="Text 13"/>
          <p:cNvSpPr/>
          <p:nvPr/>
        </p:nvSpPr>
        <p:spPr>
          <a:xfrm>
            <a:off x="9079992" y="2258568"/>
            <a:ext cx="2313432" cy="457200"/>
          </a:xfrm>
          <a:prstGeom prst="rect">
            <a:avLst/>
          </a:prstGeom>
          <a:noFill/>
          <a:ln/>
        </p:spPr>
        <p:txBody>
          <a:bodyPr wrap="square" lIns="0" tIns="0" rIns="0" bIns="0" rtlCol="0" anchor="ctr"/>
          <a:lstStyle/>
          <a:p>
            <a:pPr indent="0" marL="0">
              <a:buNone/>
            </a:pPr>
            <a:r>
              <a:rPr lang="en-US" sz="2400" dirty="0">
                <a:solidFill>
                  <a:srgbClr val="C4483A"/>
                </a:solidFill>
                <a:latin typeface="Courier New" pitchFamily="34" charset="0"/>
                <a:ea typeface="Courier New" pitchFamily="34" charset="-122"/>
                <a:cs typeface="Courier New" pitchFamily="34" charset="-120"/>
              </a:rPr>
              <a:t>15</a:t>
            </a:r>
            <a:pPr indent="0" marL="0">
              <a:buNone/>
            </a:pPr>
            <a:r>
              <a:rPr lang="en-US" sz="1200" dirty="0">
                <a:solidFill>
                  <a:srgbClr val="8A929C"/>
                </a:solidFill>
                <a:latin typeface="Courier New" pitchFamily="34" charset="0"/>
                <a:ea typeface="Courier New" pitchFamily="34" charset="-122"/>
                <a:cs typeface="Courier New" pitchFamily="34" charset="-120"/>
              </a:rPr>
              <a:t> hrs/day</a:t>
            </a:r>
            <a:endParaRPr lang="en-US" sz="2400" dirty="0"/>
          </a:p>
        </p:txBody>
      </p:sp>
      <p:sp>
        <p:nvSpPr>
          <p:cNvPr id="16" name="Shape 14"/>
          <p:cNvSpPr/>
          <p:nvPr/>
        </p:nvSpPr>
        <p:spPr>
          <a:xfrm>
            <a:off x="566928" y="3200400"/>
            <a:ext cx="5394960" cy="2377440"/>
          </a:xfrm>
          <a:prstGeom prst="roundRect">
            <a:avLst>
              <a:gd name="adj" fmla="val 1154"/>
            </a:avLst>
          </a:prstGeom>
          <a:solidFill>
            <a:srgbClr val="F3F4F6"/>
          </a:solidFill>
          <a:ln w="12700">
            <a:solidFill>
              <a:srgbClr val="E2E5E9"/>
            </a:solidFill>
            <a:prstDash val="solid"/>
          </a:ln>
        </p:spPr>
      </p:sp>
      <p:sp>
        <p:nvSpPr>
          <p:cNvPr id="17" name="Text 15"/>
          <p:cNvSpPr/>
          <p:nvPr/>
        </p:nvSpPr>
        <p:spPr>
          <a:xfrm>
            <a:off x="841248" y="3429000"/>
            <a:ext cx="4572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THE BUDGET YOU ARE SPENDING</a:t>
            </a:r>
            <a:endParaRPr lang="en-US" sz="1000" dirty="0"/>
          </a:p>
        </p:txBody>
      </p:sp>
      <p:sp>
        <p:nvSpPr>
          <p:cNvPr id="18" name="Text 16"/>
          <p:cNvSpPr/>
          <p:nvPr/>
        </p:nvSpPr>
        <p:spPr>
          <a:xfrm>
            <a:off x="841248" y="3749040"/>
            <a:ext cx="4846320" cy="1737360"/>
          </a:xfrm>
          <a:prstGeom prst="rect">
            <a:avLst/>
          </a:prstGeom>
          <a:noFill/>
          <a:ln/>
        </p:spPr>
        <p:txBody>
          <a:bodyPr wrap="square" lIns="0" tIns="0" rIns="0" bIns="0" rtlCol="0" anchor="t"/>
          <a:lstStyle/>
          <a:p>
            <a:pPr indent="0" marL="0">
              <a:lnSpc>
                <a:spcPct val="115000"/>
              </a:lnSpc>
              <a:buNone/>
            </a:pPr>
            <a:r>
              <a:rPr lang="en-US" sz="1400" dirty="0">
                <a:solidFill>
                  <a:srgbClr val="1E2127"/>
                </a:solidFill>
                <a:latin typeface="Calibri" pitchFamily="34" charset="0"/>
                <a:ea typeface="Calibri" pitchFamily="34" charset="-122"/>
                <a:cs typeface="Calibri" pitchFamily="34" charset="-120"/>
              </a:rPr>
              <a:t>EEMUA 191 guidance: an operator can absorb roughly one alarm every ten minutes in steady state — across all alarm sources. Your analytics system competes for that budget with every process alarm in the plant.</a:t>
            </a:r>
            <a:endParaRPr lang="en-US" sz="1400" dirty="0"/>
          </a:p>
        </p:txBody>
      </p:sp>
      <p:sp>
        <p:nvSpPr>
          <p:cNvPr id="19" name="Shape 17"/>
          <p:cNvSpPr/>
          <p:nvPr/>
        </p:nvSpPr>
        <p:spPr>
          <a:xfrm>
            <a:off x="6236208" y="3200400"/>
            <a:ext cx="5358384" cy="2377440"/>
          </a:xfrm>
          <a:prstGeom prst="roundRect">
            <a:avLst>
              <a:gd name="adj" fmla="val 1154"/>
            </a:avLst>
          </a:prstGeom>
          <a:solidFill>
            <a:srgbClr val="16181C"/>
          </a:solidFill>
          <a:ln w="19050">
            <a:solidFill>
              <a:srgbClr val="C4483A"/>
            </a:solidFill>
            <a:prstDash val="solid"/>
          </a:ln>
        </p:spPr>
      </p:sp>
      <p:sp>
        <p:nvSpPr>
          <p:cNvPr id="20" name="Text 18"/>
          <p:cNvSpPr/>
          <p:nvPr/>
        </p:nvSpPr>
        <p:spPr>
          <a:xfrm>
            <a:off x="6510528" y="3429000"/>
            <a:ext cx="4572000" cy="201168"/>
          </a:xfrm>
          <a:prstGeom prst="rect">
            <a:avLst/>
          </a:prstGeom>
          <a:noFill/>
          <a:ln/>
        </p:spPr>
        <p:txBody>
          <a:bodyPr wrap="square" lIns="0" tIns="0" rIns="0" bIns="0" rtlCol="0" anchor="ctr"/>
          <a:lstStyle/>
          <a:p>
            <a:pPr indent="0" marL="0">
              <a:buNone/>
            </a:pPr>
            <a:r>
              <a:rPr lang="en-US" sz="1000" spc="220" kern="0" dirty="0">
                <a:solidFill>
                  <a:srgbClr val="C4483A"/>
                </a:solidFill>
                <a:latin typeface="Courier New" pitchFamily="34" charset="0"/>
                <a:ea typeface="Courier New" pitchFamily="34" charset="-122"/>
                <a:cs typeface="Courier New" pitchFamily="34" charset="-120"/>
              </a:rPr>
              <a:t>WHAT ACTUALLY HAPPENS</a:t>
            </a:r>
            <a:endParaRPr lang="en-US" sz="1000" dirty="0"/>
          </a:p>
        </p:txBody>
      </p:sp>
      <p:sp>
        <p:nvSpPr>
          <p:cNvPr id="21" name="Text 19"/>
          <p:cNvSpPr/>
          <p:nvPr/>
        </p:nvSpPr>
        <p:spPr>
          <a:xfrm>
            <a:off x="6510528" y="3749040"/>
            <a:ext cx="4809744" cy="1737360"/>
          </a:xfrm>
          <a:prstGeom prst="rect">
            <a:avLst/>
          </a:prstGeom>
          <a:noFill/>
          <a:ln/>
        </p:spPr>
        <p:txBody>
          <a:bodyPr wrap="square" lIns="0" tIns="0" rIns="0" bIns="0" rtlCol="0" anchor="t"/>
          <a:lstStyle/>
          <a:p>
            <a:pPr indent="0" marL="0">
              <a:lnSpc>
                <a:spcPct val="115000"/>
              </a:lnSpc>
              <a:buNone/>
            </a:pPr>
            <a:r>
              <a:rPr lang="en-US" sz="1400" dirty="0">
                <a:solidFill>
                  <a:srgbClr val="FFFFFF"/>
                </a:solidFill>
                <a:latin typeface="Calibri" pitchFamily="34" charset="0"/>
                <a:ea typeface="Calibri" pitchFamily="34" charset="-122"/>
                <a:cs typeface="Calibri" pitchFamily="34" charset="-120"/>
              </a:rPr>
              <a:t>By week three the engineers have learned the system cries wolf, and stop opening tickets. Six months later a real failure is flagged, ignored, and the machine fails.</a:t>
            </a:r>
            <a:endParaRPr lang="en-US" sz="1400" dirty="0"/>
          </a:p>
          <a:p>
            <a:pPr indent="0" marL="0">
              <a:lnSpc>
                <a:spcPct val="115000"/>
              </a:lnSpc>
              <a:buNone/>
            </a:pPr>
            <a:endParaRPr lang="en-US" sz="1400" dirty="0"/>
          </a:p>
          <a:p>
            <a:pPr indent="0" marL="0">
              <a:lnSpc>
                <a:spcPct val="115000"/>
              </a:lnSpc>
              <a:buNone/>
            </a:pPr>
            <a:r>
              <a:rPr lang="en-US" sz="1400" dirty="0">
                <a:solidFill>
                  <a:srgbClr val="FFFFFF"/>
                </a:solidFill>
                <a:latin typeface="Calibri" pitchFamily="34" charset="0"/>
                <a:ea typeface="Calibri" pitchFamily="34" charset="-122"/>
                <a:cs typeface="Calibri" pitchFamily="34" charset="-120"/>
              </a:rPr>
              <a:t>The postmortem says the model was not accurate enough. The model was fine.</a:t>
            </a:r>
            <a:endParaRPr lang="en-US" sz="1400" dirty="0"/>
          </a:p>
        </p:txBody>
      </p:sp>
      <p:sp>
        <p:nvSpPr>
          <p:cNvPr id="22" name="Text 20"/>
          <p:cNvSpPr/>
          <p:nvPr/>
        </p:nvSpPr>
        <p:spPr>
          <a:xfrm>
            <a:off x="566928" y="5806440"/>
            <a:ext cx="11027664" cy="365760"/>
          </a:xfrm>
          <a:prstGeom prst="rect">
            <a:avLst/>
          </a:prstGeom>
          <a:noFill/>
          <a:ln/>
        </p:spPr>
        <p:txBody>
          <a:bodyPr wrap="square" lIns="0" tIns="0" rIns="0" bIns="0" rtlCol="0" anchor="ctr"/>
          <a:lstStyle/>
          <a:p>
            <a:pPr indent="0" marL="0">
              <a:buNone/>
            </a:pPr>
            <a:r>
              <a:rPr lang="en-US" sz="1500" b="1" dirty="0">
                <a:solidFill>
                  <a:srgbClr val="C4483A"/>
                </a:solidFill>
                <a:latin typeface="Calibri" pitchFamily="34" charset="0"/>
                <a:ea typeface="Calibri" pitchFamily="34" charset="-122"/>
                <a:cs typeface="Calibri" pitchFamily="34" charset="-120"/>
              </a:rPr>
              <a:t>The threshold was set by a data scientist optimizing F1 instead of by an engineer costing out consequences.</a:t>
            </a:r>
            <a:endParaRPr lang="en-US" sz="1500" dirty="0"/>
          </a:p>
        </p:txBody>
      </p:sp>
      <p:sp>
        <p:nvSpPr>
          <p:cNvPr id="23" name="Text 21"/>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19  ·  THE BEARING</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PART 2  ·  THE RIGHT WAY</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Set the threshold with a cost model</a:t>
            </a:r>
            <a:endParaRPr lang="en-US" sz="3400" dirty="0"/>
          </a:p>
        </p:txBody>
      </p:sp>
      <p:sp>
        <p:nvSpPr>
          <p:cNvPr id="4" name="Shape 2"/>
          <p:cNvSpPr/>
          <p:nvPr/>
        </p:nvSpPr>
        <p:spPr>
          <a:xfrm>
            <a:off x="566928" y="1920240"/>
            <a:ext cx="5394960" cy="1463040"/>
          </a:xfrm>
          <a:prstGeom prst="roundRect">
            <a:avLst>
              <a:gd name="adj" fmla="val 2500"/>
            </a:avLst>
          </a:prstGeom>
          <a:solidFill>
            <a:srgbClr val="16181C"/>
          </a:solidFill>
          <a:ln w="12700">
            <a:solidFill>
              <a:srgbClr val="343A44"/>
            </a:solidFill>
            <a:prstDash val="solid"/>
          </a:ln>
        </p:spPr>
      </p:sp>
      <p:sp>
        <p:nvSpPr>
          <p:cNvPr id="5" name="Text 3"/>
          <p:cNvSpPr/>
          <p:nvPr/>
        </p:nvSpPr>
        <p:spPr>
          <a:xfrm>
            <a:off x="841248" y="1920240"/>
            <a:ext cx="4846320" cy="1463040"/>
          </a:xfrm>
          <a:prstGeom prst="rect">
            <a:avLst/>
          </a:prstGeom>
          <a:noFill/>
          <a:ln/>
        </p:spPr>
        <p:txBody>
          <a:bodyPr wrap="square" lIns="0" tIns="0" rIns="0" bIns="0" rtlCol="0" anchor="ctr"/>
          <a:lstStyle/>
          <a:p>
            <a:pPr indent="0" marL="0">
              <a:buNone/>
            </a:pPr>
            <a:r>
              <a:rPr lang="en-US" sz="2200" dirty="0">
                <a:solidFill>
                  <a:srgbClr val="E8A33D"/>
                </a:solidFill>
                <a:latin typeface="Courier New" pitchFamily="34" charset="0"/>
                <a:ea typeface="Courier New" pitchFamily="34" charset="-122"/>
                <a:cs typeface="Courier New" pitchFamily="34" charset="-120"/>
              </a:rPr>
              <a:t>P*  =  C_FP / (C_FP + C_FN)</a:t>
            </a:r>
            <a:endParaRPr lang="en-US" sz="2200" dirty="0"/>
          </a:p>
        </p:txBody>
      </p:sp>
      <p:sp>
        <p:nvSpPr>
          <p:cNvPr id="6" name="Text 4"/>
          <p:cNvSpPr/>
          <p:nvPr/>
        </p:nvSpPr>
        <p:spPr>
          <a:xfrm>
            <a:off x="6236208" y="1920240"/>
            <a:ext cx="5358384" cy="1554480"/>
          </a:xfrm>
          <a:prstGeom prst="rect">
            <a:avLst/>
          </a:prstGeom>
          <a:noFill/>
          <a:ln/>
        </p:spPr>
        <p:txBody>
          <a:bodyPr wrap="square" lIns="0" tIns="0" rIns="0" bIns="0" rtlCol="0" anchor="t"/>
          <a:lstStyle/>
          <a:p>
            <a:pPr indent="0" marL="0">
              <a:lnSpc>
                <a:spcPct val="115000"/>
              </a:lnSpc>
              <a:buNone/>
            </a:pPr>
            <a:r>
              <a:rPr lang="en-US" sz="1550" dirty="0">
                <a:solidFill>
                  <a:srgbClr val="1E2127"/>
                </a:solidFill>
                <a:latin typeface="Calibri" pitchFamily="34" charset="0"/>
                <a:ea typeface="Calibri" pitchFamily="34" charset="-122"/>
                <a:cs typeface="Calibri" pitchFamily="34" charset="-120"/>
              </a:rPr>
              <a:t>Alarm when the expected cost of not acting exceeds the cost of acting. C_FP is an unnecessary inspection; C_FN is an unplanned failure.</a:t>
            </a:r>
            <a:endParaRPr lang="en-US" sz="1550" dirty="0"/>
          </a:p>
        </p:txBody>
      </p:sp>
      <p:sp>
        <p:nvSpPr>
          <p:cNvPr id="7" name="Shape 5"/>
          <p:cNvSpPr/>
          <p:nvPr/>
        </p:nvSpPr>
        <p:spPr>
          <a:xfrm>
            <a:off x="566928" y="3657600"/>
            <a:ext cx="3520440" cy="960120"/>
          </a:xfrm>
          <a:prstGeom prst="roundRect">
            <a:avLst>
              <a:gd name="adj" fmla="val 3810"/>
            </a:avLst>
          </a:prstGeom>
          <a:solidFill>
            <a:srgbClr val="16181C"/>
          </a:solidFill>
          <a:ln w="12700">
            <a:solidFill>
              <a:srgbClr val="343A44"/>
            </a:solidFill>
            <a:prstDash val="solid"/>
          </a:ln>
        </p:spPr>
      </p:sp>
      <p:sp>
        <p:nvSpPr>
          <p:cNvPr id="8" name="Text 6"/>
          <p:cNvSpPr/>
          <p:nvPr/>
        </p:nvSpPr>
        <p:spPr>
          <a:xfrm>
            <a:off x="713232" y="3767328"/>
            <a:ext cx="3227832" cy="219456"/>
          </a:xfrm>
          <a:prstGeom prst="rect">
            <a:avLst/>
          </a:prstGeom>
          <a:noFill/>
          <a:ln/>
        </p:spPr>
        <p:txBody>
          <a:bodyPr wrap="square" lIns="0" tIns="0" rIns="0" bIns="0" rtlCol="0" anchor="ctr"/>
          <a:lstStyle/>
          <a:p>
            <a:pPr indent="0" marL="0">
              <a:buNone/>
            </a:pPr>
            <a:r>
              <a:rPr lang="en-US" sz="900" spc="180" kern="0" dirty="0">
                <a:solidFill>
                  <a:srgbClr val="8A929C"/>
                </a:solidFill>
                <a:latin typeface="Courier New" pitchFamily="34" charset="0"/>
                <a:ea typeface="Courier New" pitchFamily="34" charset="-122"/>
                <a:cs typeface="Courier New" pitchFamily="34" charset="-120"/>
              </a:rPr>
              <a:t>INSPECTION COST  C_FP</a:t>
            </a:r>
            <a:endParaRPr lang="en-US" sz="900" dirty="0"/>
          </a:p>
        </p:txBody>
      </p:sp>
      <p:sp>
        <p:nvSpPr>
          <p:cNvPr id="9" name="Text 7"/>
          <p:cNvSpPr/>
          <p:nvPr/>
        </p:nvSpPr>
        <p:spPr>
          <a:xfrm>
            <a:off x="713232" y="4041648"/>
            <a:ext cx="3227832" cy="457200"/>
          </a:xfrm>
          <a:prstGeom prst="rect">
            <a:avLst/>
          </a:prstGeom>
          <a:noFill/>
          <a:ln/>
        </p:spPr>
        <p:txBody>
          <a:bodyPr wrap="square" lIns="0" tIns="0" rIns="0" bIns="0" rtlCol="0" anchor="ctr"/>
          <a:lstStyle/>
          <a:p>
            <a:pPr indent="0" marL="0">
              <a:buNone/>
            </a:pPr>
            <a:r>
              <a:rPr lang="en-US" sz="2400" dirty="0">
                <a:solidFill>
                  <a:srgbClr val="3FB6A8"/>
                </a:solidFill>
                <a:latin typeface="Courier New" pitchFamily="34" charset="0"/>
                <a:ea typeface="Courier New" pitchFamily="34" charset="-122"/>
                <a:cs typeface="Courier New" pitchFamily="34" charset="-120"/>
              </a:rPr>
              <a:t>$2k</a:t>
            </a:r>
            <a:pPr indent="0" marL="0">
              <a:buNone/>
            </a:pPr>
            <a:endParaRPr lang="en-US" sz="2400" dirty="0"/>
          </a:p>
        </p:txBody>
      </p:sp>
      <p:sp>
        <p:nvSpPr>
          <p:cNvPr id="10" name="Shape 8"/>
          <p:cNvSpPr/>
          <p:nvPr/>
        </p:nvSpPr>
        <p:spPr>
          <a:xfrm>
            <a:off x="4315968" y="3657600"/>
            <a:ext cx="3520440" cy="960120"/>
          </a:xfrm>
          <a:prstGeom prst="roundRect">
            <a:avLst>
              <a:gd name="adj" fmla="val 3810"/>
            </a:avLst>
          </a:prstGeom>
          <a:solidFill>
            <a:srgbClr val="16181C"/>
          </a:solidFill>
          <a:ln w="12700">
            <a:solidFill>
              <a:srgbClr val="343A44"/>
            </a:solidFill>
            <a:prstDash val="solid"/>
          </a:ln>
        </p:spPr>
      </p:sp>
      <p:sp>
        <p:nvSpPr>
          <p:cNvPr id="11" name="Text 9"/>
          <p:cNvSpPr/>
          <p:nvPr/>
        </p:nvSpPr>
        <p:spPr>
          <a:xfrm>
            <a:off x="4462272" y="3767328"/>
            <a:ext cx="3227832" cy="219456"/>
          </a:xfrm>
          <a:prstGeom prst="rect">
            <a:avLst/>
          </a:prstGeom>
          <a:noFill/>
          <a:ln/>
        </p:spPr>
        <p:txBody>
          <a:bodyPr wrap="square" lIns="0" tIns="0" rIns="0" bIns="0" rtlCol="0" anchor="ctr"/>
          <a:lstStyle/>
          <a:p>
            <a:pPr indent="0" marL="0">
              <a:buNone/>
            </a:pPr>
            <a:r>
              <a:rPr lang="en-US" sz="900" spc="180" kern="0" dirty="0">
                <a:solidFill>
                  <a:srgbClr val="8A929C"/>
                </a:solidFill>
                <a:latin typeface="Courier New" pitchFamily="34" charset="0"/>
                <a:ea typeface="Courier New" pitchFamily="34" charset="-122"/>
                <a:cs typeface="Courier New" pitchFamily="34" charset="-120"/>
              </a:rPr>
              <a:t>UNPLANNED FAILURE  C_FN</a:t>
            </a:r>
            <a:endParaRPr lang="en-US" sz="900" dirty="0"/>
          </a:p>
        </p:txBody>
      </p:sp>
      <p:sp>
        <p:nvSpPr>
          <p:cNvPr id="12" name="Text 10"/>
          <p:cNvSpPr/>
          <p:nvPr/>
        </p:nvSpPr>
        <p:spPr>
          <a:xfrm>
            <a:off x="4462272" y="4041648"/>
            <a:ext cx="3227832" cy="457200"/>
          </a:xfrm>
          <a:prstGeom prst="rect">
            <a:avLst/>
          </a:prstGeom>
          <a:noFill/>
          <a:ln/>
        </p:spPr>
        <p:txBody>
          <a:bodyPr wrap="square" lIns="0" tIns="0" rIns="0" bIns="0" rtlCol="0" anchor="ctr"/>
          <a:lstStyle/>
          <a:p>
            <a:pPr indent="0" marL="0">
              <a:buNone/>
            </a:pPr>
            <a:r>
              <a:rPr lang="en-US" sz="2400" dirty="0">
                <a:solidFill>
                  <a:srgbClr val="C4483A"/>
                </a:solidFill>
                <a:latin typeface="Courier New" pitchFamily="34" charset="0"/>
                <a:ea typeface="Courier New" pitchFamily="34" charset="-122"/>
                <a:cs typeface="Courier New" pitchFamily="34" charset="-120"/>
              </a:rPr>
              <a:t>$200k</a:t>
            </a:r>
            <a:pPr indent="0" marL="0">
              <a:buNone/>
            </a:pPr>
            <a:endParaRPr lang="en-US" sz="2400" dirty="0"/>
          </a:p>
        </p:txBody>
      </p:sp>
      <p:sp>
        <p:nvSpPr>
          <p:cNvPr id="13" name="Shape 11"/>
          <p:cNvSpPr/>
          <p:nvPr/>
        </p:nvSpPr>
        <p:spPr>
          <a:xfrm>
            <a:off x="8065008" y="3657600"/>
            <a:ext cx="3529584" cy="960120"/>
          </a:xfrm>
          <a:prstGeom prst="roundRect">
            <a:avLst>
              <a:gd name="adj" fmla="val 3810"/>
            </a:avLst>
          </a:prstGeom>
          <a:solidFill>
            <a:srgbClr val="16181C"/>
          </a:solidFill>
          <a:ln w="12700">
            <a:solidFill>
              <a:srgbClr val="343A44"/>
            </a:solidFill>
            <a:prstDash val="solid"/>
          </a:ln>
        </p:spPr>
      </p:sp>
      <p:sp>
        <p:nvSpPr>
          <p:cNvPr id="14" name="Text 12"/>
          <p:cNvSpPr/>
          <p:nvPr/>
        </p:nvSpPr>
        <p:spPr>
          <a:xfrm>
            <a:off x="8211312" y="3767328"/>
            <a:ext cx="3236976" cy="219456"/>
          </a:xfrm>
          <a:prstGeom prst="rect">
            <a:avLst/>
          </a:prstGeom>
          <a:noFill/>
          <a:ln/>
        </p:spPr>
        <p:txBody>
          <a:bodyPr wrap="square" lIns="0" tIns="0" rIns="0" bIns="0" rtlCol="0" anchor="ctr"/>
          <a:lstStyle/>
          <a:p>
            <a:pPr indent="0" marL="0">
              <a:buNone/>
            </a:pPr>
            <a:r>
              <a:rPr lang="en-US" sz="900" spc="180" kern="0" dirty="0">
                <a:solidFill>
                  <a:srgbClr val="8A929C"/>
                </a:solidFill>
                <a:latin typeface="Courier New" pitchFamily="34" charset="0"/>
                <a:ea typeface="Courier New" pitchFamily="34" charset="-122"/>
                <a:cs typeface="Courier New" pitchFamily="34" charset="-120"/>
              </a:rPr>
              <a:t>OPTIMAL THRESHOLD  P*</a:t>
            </a:r>
            <a:endParaRPr lang="en-US" sz="900" dirty="0"/>
          </a:p>
        </p:txBody>
      </p:sp>
      <p:sp>
        <p:nvSpPr>
          <p:cNvPr id="15" name="Text 13"/>
          <p:cNvSpPr/>
          <p:nvPr/>
        </p:nvSpPr>
        <p:spPr>
          <a:xfrm>
            <a:off x="8211312" y="4041648"/>
            <a:ext cx="3236976" cy="457200"/>
          </a:xfrm>
          <a:prstGeom prst="rect">
            <a:avLst/>
          </a:prstGeom>
          <a:noFill/>
          <a:ln/>
        </p:spPr>
        <p:txBody>
          <a:bodyPr wrap="square" lIns="0" tIns="0" rIns="0" bIns="0" rtlCol="0" anchor="ctr"/>
          <a:lstStyle/>
          <a:p>
            <a:pPr indent="0" marL="0">
              <a:buNone/>
            </a:pPr>
            <a:r>
              <a:rPr lang="en-US" sz="2400" dirty="0">
                <a:solidFill>
                  <a:srgbClr val="E8A33D"/>
                </a:solidFill>
                <a:latin typeface="Courier New" pitchFamily="34" charset="0"/>
                <a:ea typeface="Courier New" pitchFamily="34" charset="-122"/>
                <a:cs typeface="Courier New" pitchFamily="34" charset="-120"/>
              </a:rPr>
              <a:t>1</a:t>
            </a:r>
            <a:pPr indent="0" marL="0">
              <a:buNone/>
            </a:pPr>
            <a:r>
              <a:rPr lang="en-US" sz="1200" dirty="0">
                <a:solidFill>
                  <a:srgbClr val="8A929C"/>
                </a:solidFill>
                <a:latin typeface="Courier New" pitchFamily="34" charset="0"/>
                <a:ea typeface="Courier New" pitchFamily="34" charset="-122"/>
                <a:cs typeface="Courier New" pitchFamily="34" charset="-120"/>
              </a:rPr>
              <a:t> %</a:t>
            </a:r>
            <a:endParaRPr lang="en-US" sz="2400" dirty="0"/>
          </a:p>
        </p:txBody>
      </p:sp>
      <p:sp>
        <p:nvSpPr>
          <p:cNvPr id="16" name="Shape 14"/>
          <p:cNvSpPr/>
          <p:nvPr/>
        </p:nvSpPr>
        <p:spPr>
          <a:xfrm>
            <a:off x="566928" y="4937760"/>
            <a:ext cx="11027664" cy="1143000"/>
          </a:xfrm>
          <a:prstGeom prst="roundRect">
            <a:avLst>
              <a:gd name="adj" fmla="val 2400"/>
            </a:avLst>
          </a:prstGeom>
          <a:solidFill>
            <a:srgbClr val="F3F4F6"/>
          </a:solidFill>
          <a:ln w="19050">
            <a:solidFill>
              <a:srgbClr val="E8A33D"/>
            </a:solidFill>
            <a:prstDash val="solid"/>
          </a:ln>
        </p:spPr>
      </p:sp>
      <p:sp>
        <p:nvSpPr>
          <p:cNvPr id="17" name="Text 15"/>
          <p:cNvSpPr/>
          <p:nvPr/>
        </p:nvSpPr>
        <p:spPr>
          <a:xfrm>
            <a:off x="886968" y="4937760"/>
            <a:ext cx="10424160" cy="1143000"/>
          </a:xfrm>
          <a:prstGeom prst="rect">
            <a:avLst/>
          </a:prstGeom>
          <a:noFill/>
          <a:ln/>
        </p:spPr>
        <p:txBody>
          <a:bodyPr wrap="square" lIns="0" tIns="0" rIns="0" bIns="0" rtlCol="0" anchor="ctr"/>
          <a:lstStyle/>
          <a:p>
            <a:pPr indent="0" marL="0">
              <a:buNone/>
            </a:pPr>
            <a:r>
              <a:rPr lang="en-US" sz="1450" dirty="0">
                <a:solidFill>
                  <a:srgbClr val="1E2127"/>
                </a:solidFill>
                <a:latin typeface="Calibri" pitchFamily="34" charset="0"/>
                <a:ea typeface="Calibri" pitchFamily="34" charset="-122"/>
                <a:cs typeface="Calibri" pitchFamily="34" charset="-120"/>
              </a:rPr>
              <a:t>So you should alarm at 1% confidence and accept many false positives — but only if you have the inspection capacity to absorb them. If you do not, the binding constraint is how many investigations your team can run per week. The threshold is a capacity planning decision, not a modelling decision.</a:t>
            </a:r>
            <a:endParaRPr lang="en-US" sz="1450" dirty="0"/>
          </a:p>
        </p:txBody>
      </p:sp>
      <p:sp>
        <p:nvSpPr>
          <p:cNvPr id="18" name="Text 16"/>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20  ·  THE BEARING</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PART 2  ·  CONTROL</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Where AI goes in control (mostly: not in the loop)</a:t>
            </a:r>
            <a:endParaRPr lang="en-US" sz="3400" dirty="0"/>
          </a:p>
        </p:txBody>
      </p:sp>
      <p:sp>
        <p:nvSpPr>
          <p:cNvPr id="4" name="Shape 2"/>
          <p:cNvSpPr/>
          <p:nvPr/>
        </p:nvSpPr>
        <p:spPr>
          <a:xfrm>
            <a:off x="566928" y="1874520"/>
            <a:ext cx="5394960" cy="3200400"/>
          </a:xfrm>
          <a:prstGeom prst="roundRect">
            <a:avLst>
              <a:gd name="adj" fmla="val 857"/>
            </a:avLst>
          </a:prstGeom>
          <a:solidFill>
            <a:srgbClr val="F3F4F6"/>
          </a:solidFill>
          <a:ln w="12700">
            <a:solidFill>
              <a:srgbClr val="E2E5E9"/>
            </a:solidFill>
            <a:prstDash val="solid"/>
          </a:ln>
        </p:spPr>
      </p:sp>
      <p:sp>
        <p:nvSpPr>
          <p:cNvPr id="5" name="Text 3"/>
          <p:cNvSpPr/>
          <p:nvPr/>
        </p:nvSpPr>
        <p:spPr>
          <a:xfrm>
            <a:off x="841248" y="2103120"/>
            <a:ext cx="4572000" cy="201168"/>
          </a:xfrm>
          <a:prstGeom prst="rect">
            <a:avLst/>
          </a:prstGeom>
          <a:noFill/>
          <a:ln/>
        </p:spPr>
        <p:txBody>
          <a:bodyPr wrap="square" lIns="0" tIns="0" rIns="0" bIns="0" rtlCol="0" anchor="ctr"/>
          <a:lstStyle/>
          <a:p>
            <a:pPr indent="0" marL="0">
              <a:buNone/>
            </a:pPr>
            <a:r>
              <a:rPr lang="en-US" sz="1000" spc="220" kern="0" dirty="0">
                <a:solidFill>
                  <a:srgbClr val="3FB6A8"/>
                </a:solidFill>
                <a:latin typeface="Courier New" pitchFamily="34" charset="0"/>
                <a:ea typeface="Courier New" pitchFamily="34" charset="-122"/>
                <a:cs typeface="Courier New" pitchFamily="34" charset="-120"/>
              </a:rPr>
              <a:t>THE WORKHORSE — MPC</a:t>
            </a:r>
            <a:endParaRPr lang="en-US" sz="1000" dirty="0"/>
          </a:p>
        </p:txBody>
      </p:sp>
      <p:sp>
        <p:nvSpPr>
          <p:cNvPr id="6" name="Text 4"/>
          <p:cNvSpPr/>
          <p:nvPr/>
        </p:nvSpPr>
        <p:spPr>
          <a:xfrm>
            <a:off x="841248" y="2450592"/>
            <a:ext cx="4846320" cy="2377440"/>
          </a:xfrm>
          <a:prstGeom prst="rect">
            <a:avLst/>
          </a:prstGeom>
          <a:noFill/>
          <a:ln/>
        </p:spPr>
        <p:txBody>
          <a:bodyPr wrap="square" lIns="0" tIns="0" rIns="0" bIns="0" rtlCol="0" anchor="t"/>
          <a:lstStyle/>
          <a:p>
            <a:pPr indent="0" marL="0">
              <a:lnSpc>
                <a:spcPct val="115000"/>
              </a:lnSpc>
              <a:buNone/>
            </a:pPr>
            <a:r>
              <a:rPr lang="en-US" sz="1400" dirty="0">
                <a:solidFill>
                  <a:srgbClr val="1E2127"/>
                </a:solidFill>
                <a:latin typeface="Calibri" pitchFamily="34" charset="0"/>
                <a:ea typeface="Calibri" pitchFamily="34" charset="-122"/>
                <a:cs typeface="Calibri" pitchFamily="34" charset="-120"/>
              </a:rPr>
              <a:t>Model predictive control has been standard in refineries since the 1980s. It solves a constrained optimization at every step over a prediction horizon.</a:t>
            </a:r>
            <a:endParaRPr lang="en-US" sz="1400" dirty="0"/>
          </a:p>
          <a:p>
            <a:pPr indent="0" marL="0">
              <a:lnSpc>
                <a:spcPct val="115000"/>
              </a:lnSpc>
              <a:buNone/>
            </a:pPr>
            <a:endParaRPr lang="en-US" sz="1400" dirty="0"/>
          </a:p>
          <a:p>
            <a:pPr indent="0" marL="0">
              <a:lnSpc>
                <a:spcPct val="115000"/>
              </a:lnSpc>
              <a:buNone/>
            </a:pPr>
            <a:r>
              <a:rPr lang="en-US" sz="1400" dirty="0">
                <a:solidFill>
                  <a:srgbClr val="1E2127"/>
                </a:solidFill>
                <a:latin typeface="Calibri" pitchFamily="34" charset="0"/>
                <a:ea typeface="Calibri" pitchFamily="34" charset="-122"/>
                <a:cs typeface="Calibri" pitchFamily="34" charset="-120"/>
              </a:rPr>
              <a:t>It handles what PID cannot: interacting variables, hard constraints, dead time. It is not machine learning — though its internal model can be learned.</a:t>
            </a:r>
            <a:endParaRPr lang="en-US" sz="1400" dirty="0"/>
          </a:p>
        </p:txBody>
      </p:sp>
      <p:sp>
        <p:nvSpPr>
          <p:cNvPr id="7" name="Shape 5"/>
          <p:cNvSpPr/>
          <p:nvPr/>
        </p:nvSpPr>
        <p:spPr>
          <a:xfrm>
            <a:off x="6236208" y="1874520"/>
            <a:ext cx="5358384" cy="3200400"/>
          </a:xfrm>
          <a:prstGeom prst="roundRect">
            <a:avLst>
              <a:gd name="adj" fmla="val 857"/>
            </a:avLst>
          </a:prstGeom>
          <a:solidFill>
            <a:srgbClr val="F3F4F6"/>
          </a:solidFill>
          <a:ln w="19050">
            <a:solidFill>
              <a:srgbClr val="E8A33D"/>
            </a:solidFill>
            <a:prstDash val="solid"/>
          </a:ln>
        </p:spPr>
      </p:sp>
      <p:sp>
        <p:nvSpPr>
          <p:cNvPr id="8" name="Text 6"/>
          <p:cNvSpPr/>
          <p:nvPr/>
        </p:nvSpPr>
        <p:spPr>
          <a:xfrm>
            <a:off x="6510528" y="2103120"/>
            <a:ext cx="5486400" cy="201168"/>
          </a:xfrm>
          <a:prstGeom prst="rect">
            <a:avLst/>
          </a:prstGeom>
          <a:noFill/>
          <a:ln/>
        </p:spPr>
        <p:txBody>
          <a:bodyPr wrap="square" lIns="0" tIns="0" rIns="0" bIns="0" rtlCol="0" anchor="ctr"/>
          <a:lstStyle/>
          <a:p>
            <a:pPr indent="0" marL="0">
              <a:buNone/>
            </a:pPr>
            <a:r>
              <a:rPr lang="en-US" sz="1000" spc="220" kern="0" dirty="0">
                <a:solidFill>
                  <a:srgbClr val="E8A33D"/>
                </a:solidFill>
                <a:latin typeface="Courier New" pitchFamily="34" charset="0"/>
                <a:ea typeface="Courier New" pitchFamily="34" charset="-122"/>
                <a:cs typeface="Courier New" pitchFamily="34" charset="-120"/>
              </a:rPr>
              <a:t>REINFORCEMENT LEARNING — BE CAREFUL</a:t>
            </a:r>
            <a:endParaRPr lang="en-US" sz="1000" dirty="0"/>
          </a:p>
        </p:txBody>
      </p:sp>
      <p:sp>
        <p:nvSpPr>
          <p:cNvPr id="9" name="Text 7"/>
          <p:cNvSpPr/>
          <p:nvPr/>
        </p:nvSpPr>
        <p:spPr>
          <a:xfrm>
            <a:off x="6510528" y="2450592"/>
            <a:ext cx="4809744" cy="2377440"/>
          </a:xfrm>
          <a:prstGeom prst="rect">
            <a:avLst/>
          </a:prstGeom>
          <a:noFill/>
          <a:ln/>
        </p:spPr>
        <p:txBody>
          <a:bodyPr wrap="square" lIns="0" tIns="0" rIns="0" bIns="0" rtlCol="0" anchor="t"/>
          <a:lstStyle/>
          <a:p>
            <a:pPr indent="0" marL="0">
              <a:lnSpc>
                <a:spcPct val="115000"/>
              </a:lnSpc>
              <a:buNone/>
            </a:pPr>
            <a:r>
              <a:rPr lang="en-US" sz="1400" dirty="0">
                <a:solidFill>
                  <a:srgbClr val="1E2127"/>
                </a:solidFill>
                <a:latin typeface="Calibri" pitchFamily="34" charset="0"/>
                <a:ea typeface="Calibri" pitchFamily="34" charset="-122"/>
                <a:cs typeface="Calibri" pitchFamily="34" charset="-120"/>
              </a:rPr>
              <a:t>RL learns by trying things. In a live process, "trying things" means potentially driving a reactor somewhere it should not go.</a:t>
            </a:r>
            <a:endParaRPr lang="en-US" sz="1400" dirty="0"/>
          </a:p>
          <a:p>
            <a:pPr indent="0" marL="0">
              <a:lnSpc>
                <a:spcPct val="115000"/>
              </a:lnSpc>
              <a:buNone/>
            </a:pPr>
            <a:endParaRPr lang="en-US" sz="1400" dirty="0"/>
          </a:p>
          <a:p>
            <a:pPr indent="0" marL="0">
              <a:lnSpc>
                <a:spcPct val="115000"/>
              </a:lnSpc>
              <a:buNone/>
            </a:pPr>
            <a:r>
              <a:rPr lang="en-US" sz="1400" dirty="0">
                <a:solidFill>
                  <a:srgbClr val="1E2127"/>
                </a:solidFill>
                <a:latin typeface="Calibri" pitchFamily="34" charset="0"/>
                <a:ea typeface="Calibri" pitchFamily="34" charset="-122"/>
                <a:cs typeface="Calibri" pitchFamily="34" charset="-120"/>
              </a:rPr>
              <a:t>The well-known success is data centre cooling — and note how: advisory mode first, hard constraints, operator override at any time. A supervisory optimizer choosing setpoints, not a controller moving valves.</a:t>
            </a:r>
            <a:endParaRPr lang="en-US" sz="1400" dirty="0"/>
          </a:p>
        </p:txBody>
      </p:sp>
      <p:sp>
        <p:nvSpPr>
          <p:cNvPr id="10" name="Shape 8"/>
          <p:cNvSpPr/>
          <p:nvPr/>
        </p:nvSpPr>
        <p:spPr>
          <a:xfrm>
            <a:off x="566928" y="5349240"/>
            <a:ext cx="11027664" cy="777240"/>
          </a:xfrm>
          <a:prstGeom prst="roundRect">
            <a:avLst>
              <a:gd name="adj" fmla="val 4706"/>
            </a:avLst>
          </a:prstGeom>
          <a:solidFill>
            <a:srgbClr val="16181C"/>
          </a:solidFill>
          <a:ln w="12700">
            <a:solidFill>
              <a:srgbClr val="16181C"/>
            </a:solidFill>
            <a:prstDash val="solid"/>
          </a:ln>
        </p:spPr>
      </p:sp>
      <p:sp>
        <p:nvSpPr>
          <p:cNvPr id="11" name="Text 9"/>
          <p:cNvSpPr/>
          <p:nvPr/>
        </p:nvSpPr>
        <p:spPr>
          <a:xfrm>
            <a:off x="886968" y="5349240"/>
            <a:ext cx="10424160" cy="777240"/>
          </a:xfrm>
          <a:prstGeom prst="rect">
            <a:avLst/>
          </a:prstGeom>
          <a:noFill/>
          <a:ln/>
        </p:spPr>
        <p:txBody>
          <a:bodyPr wrap="square" lIns="0" tIns="0" rIns="0" bIns="0" rtlCol="0" anchor="ctr"/>
          <a:lstStyle/>
          <a:p>
            <a:pPr indent="0" marL="0">
              <a:buNone/>
            </a:pPr>
            <a:r>
              <a:rPr lang="en-US" sz="1900" b="1" dirty="0">
                <a:solidFill>
                  <a:srgbClr val="E8A33D"/>
                </a:solidFill>
                <a:latin typeface="Cambria" pitchFamily="34" charset="0"/>
                <a:ea typeface="Cambria" pitchFamily="34" charset="-122"/>
                <a:cs typeface="Cambria" pitchFamily="34" charset="-120"/>
              </a:rPr>
              <a:t>Honest state of the art:  RL sets targets. Conventional control hits them.</a:t>
            </a:r>
            <a:endParaRPr lang="en-US" sz="1900" dirty="0"/>
          </a:p>
        </p:txBody>
      </p:sp>
      <p:sp>
        <p:nvSpPr>
          <p:cNvPr id="12" name="Text 10"/>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21  ·  BEYOND THE BEARING</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181C"/>
        </a:solidFill>
      </p:bgPr>
    </p:bg>
    <p:spTree>
      <p:nvGrpSpPr>
        <p:cNvPr id="1" name=""/>
        <p:cNvGrpSpPr/>
        <p:nvPr/>
      </p:nvGrpSpPr>
      <p:grpSpPr>
        <a:xfrm>
          <a:off x="0" y="0"/>
          <a:ext cx="0" cy="0"/>
          <a:chOff x="0" y="0"/>
          <a:chExt cx="0" cy="0"/>
        </a:xfrm>
      </p:grpSpPr>
      <p:sp>
        <p:nvSpPr>
          <p:cNvPr id="2" name="Text 0"/>
          <p:cNvSpPr/>
          <p:nvPr/>
        </p:nvSpPr>
        <p:spPr>
          <a:xfrm>
            <a:off x="566928" y="685800"/>
            <a:ext cx="9144000" cy="201168"/>
          </a:xfrm>
          <a:prstGeom prst="rect">
            <a:avLst/>
          </a:prstGeom>
          <a:noFill/>
          <a:ln/>
        </p:spPr>
        <p:txBody>
          <a:bodyPr wrap="square" lIns="0" tIns="0" rIns="0" bIns="0" rtlCol="0" anchor="ctr"/>
          <a:lstStyle/>
          <a:p>
            <a:pPr indent="0" marL="0">
              <a:buNone/>
            </a:pPr>
            <a:r>
              <a:rPr lang="en-US" sz="1000" spc="220" kern="0" dirty="0">
                <a:solidFill>
                  <a:srgbClr val="E8A33D"/>
                </a:solidFill>
                <a:latin typeface="Courier New" pitchFamily="34" charset="0"/>
                <a:ea typeface="Courier New" pitchFamily="34" charset="-122"/>
                <a:cs typeface="Courier New" pitchFamily="34" charset="-120"/>
              </a:rPr>
              <a:t>IF YOU REMEMBER ONE THING FROM THIS HOUR</a:t>
            </a:r>
            <a:endParaRPr lang="en-US" sz="1000" dirty="0"/>
          </a:p>
        </p:txBody>
      </p:sp>
      <p:sp>
        <p:nvSpPr>
          <p:cNvPr id="3" name="Text 1"/>
          <p:cNvSpPr/>
          <p:nvPr/>
        </p:nvSpPr>
        <p:spPr>
          <a:xfrm>
            <a:off x="566928" y="1005840"/>
            <a:ext cx="10607040" cy="1554480"/>
          </a:xfrm>
          <a:prstGeom prst="rect">
            <a:avLst/>
          </a:prstGeom>
          <a:noFill/>
          <a:ln/>
        </p:spPr>
        <p:txBody>
          <a:bodyPr wrap="square" lIns="0" tIns="0" rIns="0" bIns="0" rtlCol="0" anchor="ctr"/>
          <a:lstStyle/>
          <a:p>
            <a:pPr indent="0" marL="0">
              <a:lnSpc>
                <a:spcPct val="105000"/>
              </a:lnSpc>
              <a:buNone/>
            </a:pPr>
            <a:r>
              <a:rPr lang="en-US" sz="3600" b="1" dirty="0">
                <a:solidFill>
                  <a:srgbClr val="FFFFFF"/>
                </a:solidFill>
                <a:latin typeface="Cambria" pitchFamily="34" charset="0"/>
                <a:ea typeface="Cambria" pitchFamily="34" charset="-122"/>
                <a:cs typeface="Cambria" pitchFamily="34" charset="-120"/>
              </a:rPr>
              <a:t>You cannot assign a SIL rating</a:t>
            </a:r>
            <a:endParaRPr lang="en-US" sz="3600" dirty="0"/>
          </a:p>
          <a:p>
            <a:pPr indent="0" marL="0">
              <a:lnSpc>
                <a:spcPct val="105000"/>
              </a:lnSpc>
              <a:buNone/>
            </a:pPr>
            <a:r>
              <a:rPr lang="en-US" sz="3600" b="1" dirty="0">
                <a:solidFill>
                  <a:srgbClr val="FFFFFF"/>
                </a:solidFill>
                <a:latin typeface="Cambria" pitchFamily="34" charset="0"/>
                <a:ea typeface="Cambria" pitchFamily="34" charset="-122"/>
                <a:cs typeface="Cambria" pitchFamily="34" charset="-120"/>
              </a:rPr>
              <a:t>to a neural network.</a:t>
            </a:r>
            <a:endParaRPr lang="en-US" sz="3600" dirty="0"/>
          </a:p>
        </p:txBody>
      </p:sp>
      <p:sp>
        <p:nvSpPr>
          <p:cNvPr id="4" name="Text 2"/>
          <p:cNvSpPr/>
          <p:nvPr/>
        </p:nvSpPr>
        <p:spPr>
          <a:xfrm>
            <a:off x="566928" y="2743200"/>
            <a:ext cx="10607040" cy="1371600"/>
          </a:xfrm>
          <a:prstGeom prst="rect">
            <a:avLst/>
          </a:prstGeom>
          <a:noFill/>
          <a:ln/>
        </p:spPr>
        <p:txBody>
          <a:bodyPr wrap="square" lIns="0" tIns="0" rIns="0" bIns="0" rtlCol="0" anchor="t"/>
          <a:lstStyle/>
          <a:p>
            <a:pPr indent="0" marL="0">
              <a:lnSpc>
                <a:spcPct val="115000"/>
              </a:lnSpc>
              <a:buNone/>
            </a:pPr>
            <a:r>
              <a:rPr lang="en-US" sz="1600" dirty="0">
                <a:solidFill>
                  <a:srgbClr val="8A929C"/>
                </a:solidFill>
                <a:latin typeface="Calibri" pitchFamily="34" charset="0"/>
                <a:ea typeface="Calibri" pitchFamily="34" charset="-122"/>
                <a:cs typeface="Calibri" pitchFamily="34" charset="-120"/>
              </a:rPr>
              <a:t>IEC 61508 and 61511 govern safety functions. A Safety Integrity Level is a claim about probability of dangerous failure on demand — SIL 3 means between 1 in 1,000 and 1 in 10,000. To claim it you must demonstrate that rate with evidence, across the whole lifecycle.</a:t>
            </a:r>
            <a:endParaRPr lang="en-US" sz="1600" dirty="0"/>
          </a:p>
        </p:txBody>
      </p:sp>
      <p:sp>
        <p:nvSpPr>
          <p:cNvPr id="5" name="Shape 3"/>
          <p:cNvSpPr/>
          <p:nvPr/>
        </p:nvSpPr>
        <p:spPr>
          <a:xfrm>
            <a:off x="566928" y="4114800"/>
            <a:ext cx="3493008" cy="868680"/>
          </a:xfrm>
          <a:prstGeom prst="roundRect">
            <a:avLst>
              <a:gd name="adj" fmla="val 3158"/>
            </a:avLst>
          </a:prstGeom>
          <a:solidFill>
            <a:srgbClr val="22262E"/>
          </a:solidFill>
          <a:ln w="12700">
            <a:solidFill>
              <a:srgbClr val="343A44"/>
            </a:solidFill>
            <a:prstDash val="solid"/>
          </a:ln>
        </p:spPr>
      </p:sp>
      <p:sp>
        <p:nvSpPr>
          <p:cNvPr id="6" name="Text 4"/>
          <p:cNvSpPr/>
          <p:nvPr/>
        </p:nvSpPr>
        <p:spPr>
          <a:xfrm>
            <a:off x="795528" y="4114800"/>
            <a:ext cx="3035808" cy="8686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You cannot enumerate its failure modes</a:t>
            </a:r>
            <a:endParaRPr lang="en-US" sz="1350" dirty="0"/>
          </a:p>
        </p:txBody>
      </p:sp>
      <p:sp>
        <p:nvSpPr>
          <p:cNvPr id="7" name="Shape 5"/>
          <p:cNvSpPr/>
          <p:nvPr/>
        </p:nvSpPr>
        <p:spPr>
          <a:xfrm>
            <a:off x="4334256" y="4114800"/>
            <a:ext cx="3493008" cy="868680"/>
          </a:xfrm>
          <a:prstGeom prst="roundRect">
            <a:avLst>
              <a:gd name="adj" fmla="val 3158"/>
            </a:avLst>
          </a:prstGeom>
          <a:solidFill>
            <a:srgbClr val="22262E"/>
          </a:solidFill>
          <a:ln w="12700">
            <a:solidFill>
              <a:srgbClr val="343A44"/>
            </a:solidFill>
            <a:prstDash val="solid"/>
          </a:ln>
        </p:spPr>
      </p:sp>
      <p:sp>
        <p:nvSpPr>
          <p:cNvPr id="8" name="Text 6"/>
          <p:cNvSpPr/>
          <p:nvPr/>
        </p:nvSpPr>
        <p:spPr>
          <a:xfrm>
            <a:off x="4562856" y="4114800"/>
            <a:ext cx="3035808" cy="8686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You cannot bound behaviour on untested inputs</a:t>
            </a:r>
            <a:endParaRPr lang="en-US" sz="1350" dirty="0"/>
          </a:p>
        </p:txBody>
      </p:sp>
      <p:sp>
        <p:nvSpPr>
          <p:cNvPr id="9" name="Shape 7"/>
          <p:cNvSpPr/>
          <p:nvPr/>
        </p:nvSpPr>
        <p:spPr>
          <a:xfrm>
            <a:off x="8101584" y="4114800"/>
            <a:ext cx="3493008" cy="868680"/>
          </a:xfrm>
          <a:prstGeom prst="roundRect">
            <a:avLst>
              <a:gd name="adj" fmla="val 3158"/>
            </a:avLst>
          </a:prstGeom>
          <a:solidFill>
            <a:srgbClr val="22262E"/>
          </a:solidFill>
          <a:ln w="12700">
            <a:solidFill>
              <a:srgbClr val="343A44"/>
            </a:solidFill>
            <a:prstDash val="solid"/>
          </a:ln>
        </p:spPr>
      </p:sp>
      <p:sp>
        <p:nvSpPr>
          <p:cNvPr id="10" name="Text 8"/>
          <p:cNvSpPr/>
          <p:nvPr/>
        </p:nvSpPr>
        <p:spPr>
          <a:xfrm>
            <a:off x="8330184" y="4114800"/>
            <a:ext cx="3035808" cy="8686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Its behaviour changes when you retrain it</a:t>
            </a:r>
            <a:endParaRPr lang="en-US" sz="1350" dirty="0"/>
          </a:p>
        </p:txBody>
      </p:sp>
      <p:sp>
        <p:nvSpPr>
          <p:cNvPr id="11" name="Text 9"/>
          <p:cNvSpPr/>
          <p:nvPr/>
        </p:nvSpPr>
        <p:spPr>
          <a:xfrm>
            <a:off x="566928" y="5257800"/>
            <a:ext cx="10607040" cy="822960"/>
          </a:xfrm>
          <a:prstGeom prst="rect">
            <a:avLst/>
          </a:prstGeom>
          <a:noFill/>
          <a:ln/>
        </p:spPr>
        <p:txBody>
          <a:bodyPr wrap="square" lIns="0" tIns="0" rIns="0" bIns="0" rtlCol="0" anchor="ctr"/>
          <a:lstStyle/>
          <a:p>
            <a:pPr indent="0" marL="0">
              <a:buNone/>
            </a:pPr>
            <a:r>
              <a:rPr lang="en-US" sz="1500" i="1" dirty="0">
                <a:solidFill>
                  <a:srgbClr val="E8A33D"/>
                </a:solidFill>
                <a:latin typeface="Calibri" pitchFamily="34" charset="0"/>
                <a:ea typeface="Calibri" pitchFamily="34" charset="-122"/>
                <a:cs typeface="Calibri" pitchFamily="34" charset="-120"/>
              </a:rPr>
              <a:t>Not AI pessimism. This is what mature safety engineering looks like — and the AI industry is slowly rediscovering it under the name "guardrails." You already have a discipline that solved this. Do not let anyone talk you out of it.</a:t>
            </a:r>
            <a:endParaRPr lang="en-US" sz="1500" dirty="0"/>
          </a:p>
        </p:txBody>
      </p:sp>
      <p:sp>
        <p:nvSpPr>
          <p:cNvPr id="12" name="Text 10"/>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8A929C"/>
                </a:solidFill>
                <a:latin typeface="Courier New" pitchFamily="34" charset="0"/>
                <a:ea typeface="Courier New" pitchFamily="34" charset="-122"/>
                <a:cs typeface="Courier New" pitchFamily="34" charset="-120"/>
              </a:rPr>
              <a:t>22  ·  IEC 61508 / 61511  ·  SECURITY EQUIVALENT: IEC 62443</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181C"/>
        </a:solidFill>
      </p:bgPr>
    </p:bg>
    <p:spTree>
      <p:nvGrpSpPr>
        <p:cNvPr id="1" name=""/>
        <p:cNvGrpSpPr/>
        <p:nvPr/>
      </p:nvGrpSpPr>
      <p:grpSpPr>
        <a:xfrm>
          <a:off x="0" y="0"/>
          <a:ext cx="0" cy="0"/>
          <a:chOff x="0" y="0"/>
          <a:chExt cx="0" cy="0"/>
        </a:xfrm>
      </p:grpSpPr>
      <p:sp>
        <p:nvSpPr>
          <p:cNvPr id="2" name="Text 0"/>
          <p:cNvSpPr/>
          <p:nvPr/>
        </p:nvSpPr>
        <p:spPr>
          <a:xfrm>
            <a:off x="566928" y="868680"/>
            <a:ext cx="7315200" cy="201168"/>
          </a:xfrm>
          <a:prstGeom prst="rect">
            <a:avLst/>
          </a:prstGeom>
          <a:noFill/>
          <a:ln/>
        </p:spPr>
        <p:txBody>
          <a:bodyPr wrap="square" lIns="0" tIns="0" rIns="0" bIns="0" rtlCol="0" anchor="ctr"/>
          <a:lstStyle/>
          <a:p>
            <a:pPr indent="0" marL="0">
              <a:buNone/>
            </a:pPr>
            <a:r>
              <a:rPr lang="en-US" sz="1000" spc="220" kern="0" dirty="0">
                <a:solidFill>
                  <a:srgbClr val="E8A33D"/>
                </a:solidFill>
                <a:latin typeface="Courier New" pitchFamily="34" charset="0"/>
                <a:ea typeface="Courier New" pitchFamily="34" charset="-122"/>
                <a:cs typeface="Courier New" pitchFamily="34" charset="-120"/>
              </a:rPr>
              <a:t>PART 3  ·  DEMO ONE</a:t>
            </a:r>
            <a:endParaRPr lang="en-US" sz="1000" dirty="0"/>
          </a:p>
        </p:txBody>
      </p:sp>
      <p:sp>
        <p:nvSpPr>
          <p:cNvPr id="3" name="Text 1"/>
          <p:cNvSpPr/>
          <p:nvPr/>
        </p:nvSpPr>
        <p:spPr>
          <a:xfrm>
            <a:off x="566928" y="1188720"/>
            <a:ext cx="676656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Bearing Fault Lab</a:t>
            </a:r>
            <a:endParaRPr lang="en-US" sz="4000" dirty="0"/>
          </a:p>
        </p:txBody>
      </p:sp>
      <p:sp>
        <p:nvSpPr>
          <p:cNvPr id="4" name="Text 2"/>
          <p:cNvSpPr/>
          <p:nvPr/>
        </p:nvSpPr>
        <p:spPr>
          <a:xfrm>
            <a:off x="566928" y="2148840"/>
            <a:ext cx="6766560" cy="365760"/>
          </a:xfrm>
          <a:prstGeom prst="rect">
            <a:avLst/>
          </a:prstGeom>
          <a:noFill/>
          <a:ln/>
        </p:spPr>
        <p:txBody>
          <a:bodyPr wrap="square" lIns="0" tIns="0" rIns="0" bIns="0" rtlCol="0" anchor="ctr"/>
          <a:lstStyle/>
          <a:p>
            <a:pPr indent="0" marL="0">
              <a:buNone/>
            </a:pPr>
            <a:r>
              <a:rPr lang="en-US" sz="1400" dirty="0">
                <a:solidFill>
                  <a:srgbClr val="E8A33D"/>
                </a:solidFill>
                <a:latin typeface="Courier New" pitchFamily="34" charset="0"/>
                <a:ea typeface="Courier New" pitchFamily="34" charset="-122"/>
                <a:cs typeface="Courier New" pitchFamily="34" charset="-120"/>
              </a:rPr>
              <a:t>kiranic.com/lecture/bearing-lab.html</a:t>
            </a:r>
            <a:endParaRPr lang="en-US" sz="1400" dirty="0"/>
          </a:p>
        </p:txBody>
      </p:sp>
      <p:sp>
        <p:nvSpPr>
          <p:cNvPr id="5" name="Text 3"/>
          <p:cNvSpPr/>
          <p:nvPr/>
        </p:nvSpPr>
        <p:spPr>
          <a:xfrm>
            <a:off x="566928" y="2651760"/>
            <a:ext cx="6583680" cy="822960"/>
          </a:xfrm>
          <a:prstGeom prst="rect">
            <a:avLst/>
          </a:prstGeom>
          <a:noFill/>
          <a:ln/>
        </p:spPr>
        <p:txBody>
          <a:bodyPr wrap="square" lIns="0" tIns="0" rIns="0" bIns="0" rtlCol="0" anchor="ctr"/>
          <a:lstStyle/>
          <a:p>
            <a:pPr indent="0" marL="0">
              <a:buNone/>
            </a:pPr>
            <a:r>
              <a:rPr lang="en-US" sz="1600" dirty="0">
                <a:solidFill>
                  <a:srgbClr val="8A929C"/>
                </a:solidFill>
                <a:latin typeface="Calibri" pitchFamily="34" charset="0"/>
                <a:ea typeface="Calibri" pitchFamily="34" charset="-122"/>
                <a:cs typeface="Calibri" pitchFamily="34" charset="-120"/>
              </a:rPr>
              <a:t>One measurement, taken apart. Raise the defect and watch where it shows up: barely in the raw spectrum, unmistakably in the envelope spectrum.</a:t>
            </a:r>
            <a:endParaRPr lang="en-US" sz="1600" dirty="0"/>
          </a:p>
        </p:txBody>
      </p:sp>
      <p:sp>
        <p:nvSpPr>
          <p:cNvPr id="6" name="Shape 4"/>
          <p:cNvSpPr/>
          <p:nvPr/>
        </p:nvSpPr>
        <p:spPr>
          <a:xfrm>
            <a:off x="7406640" y="1170432"/>
            <a:ext cx="4187952" cy="960120"/>
          </a:xfrm>
          <a:prstGeom prst="roundRect">
            <a:avLst>
              <a:gd name="adj" fmla="val 3810"/>
            </a:avLst>
          </a:prstGeom>
          <a:solidFill>
            <a:srgbClr val="16181C"/>
          </a:solidFill>
          <a:ln w="12700">
            <a:solidFill>
              <a:srgbClr val="343A44"/>
            </a:solidFill>
            <a:prstDash val="solid"/>
          </a:ln>
        </p:spPr>
      </p:sp>
      <p:sp>
        <p:nvSpPr>
          <p:cNvPr id="7" name="Text 5"/>
          <p:cNvSpPr/>
          <p:nvPr/>
        </p:nvSpPr>
        <p:spPr>
          <a:xfrm>
            <a:off x="7552944" y="1280160"/>
            <a:ext cx="3895344" cy="219456"/>
          </a:xfrm>
          <a:prstGeom prst="rect">
            <a:avLst/>
          </a:prstGeom>
          <a:noFill/>
          <a:ln/>
        </p:spPr>
        <p:txBody>
          <a:bodyPr wrap="square" lIns="0" tIns="0" rIns="0" bIns="0" rtlCol="0" anchor="ctr"/>
          <a:lstStyle/>
          <a:p>
            <a:pPr indent="0" marL="0">
              <a:buNone/>
            </a:pPr>
            <a:r>
              <a:rPr lang="en-US" sz="900" spc="180" kern="0" dirty="0">
                <a:solidFill>
                  <a:srgbClr val="8A929C"/>
                </a:solidFill>
                <a:latin typeface="Courier New" pitchFamily="34" charset="0"/>
                <a:ea typeface="Courier New" pitchFamily="34" charset="-122"/>
                <a:cs typeface="Courier New" pitchFamily="34" charset="-120"/>
              </a:rPr>
              <a:t>HEALTHY  —  BPFO INDEX</a:t>
            </a:r>
            <a:endParaRPr lang="en-US" sz="900" dirty="0"/>
          </a:p>
        </p:txBody>
      </p:sp>
      <p:sp>
        <p:nvSpPr>
          <p:cNvPr id="8" name="Text 6"/>
          <p:cNvSpPr/>
          <p:nvPr/>
        </p:nvSpPr>
        <p:spPr>
          <a:xfrm>
            <a:off x="7552944" y="1554480"/>
            <a:ext cx="3895344" cy="457200"/>
          </a:xfrm>
          <a:prstGeom prst="rect">
            <a:avLst/>
          </a:prstGeom>
          <a:noFill/>
          <a:ln/>
        </p:spPr>
        <p:txBody>
          <a:bodyPr wrap="square" lIns="0" tIns="0" rIns="0" bIns="0" rtlCol="0" anchor="ctr"/>
          <a:lstStyle/>
          <a:p>
            <a:pPr indent="0" marL="0">
              <a:buNone/>
            </a:pPr>
            <a:r>
              <a:rPr lang="en-US" sz="2400" dirty="0">
                <a:solidFill>
                  <a:srgbClr val="3FB6A8"/>
                </a:solidFill>
                <a:latin typeface="Courier New" pitchFamily="34" charset="0"/>
                <a:ea typeface="Courier New" pitchFamily="34" charset="-122"/>
                <a:cs typeface="Courier New" pitchFamily="34" charset="-120"/>
              </a:rPr>
              <a:t>0.3</a:t>
            </a:r>
            <a:pPr indent="0" marL="0">
              <a:buNone/>
            </a:pPr>
            <a:endParaRPr lang="en-US" sz="2400" dirty="0"/>
          </a:p>
        </p:txBody>
      </p:sp>
      <p:sp>
        <p:nvSpPr>
          <p:cNvPr id="9" name="Shape 7"/>
          <p:cNvSpPr/>
          <p:nvPr/>
        </p:nvSpPr>
        <p:spPr>
          <a:xfrm>
            <a:off x="7406640" y="2148840"/>
            <a:ext cx="4187952" cy="960120"/>
          </a:xfrm>
          <a:prstGeom prst="roundRect">
            <a:avLst>
              <a:gd name="adj" fmla="val 3810"/>
            </a:avLst>
          </a:prstGeom>
          <a:solidFill>
            <a:srgbClr val="16181C"/>
          </a:solidFill>
          <a:ln w="12700">
            <a:solidFill>
              <a:srgbClr val="343A44"/>
            </a:solidFill>
            <a:prstDash val="solid"/>
          </a:ln>
        </p:spPr>
      </p:sp>
      <p:sp>
        <p:nvSpPr>
          <p:cNvPr id="10" name="Text 8"/>
          <p:cNvSpPr/>
          <p:nvPr/>
        </p:nvSpPr>
        <p:spPr>
          <a:xfrm>
            <a:off x="7552944" y="2258568"/>
            <a:ext cx="3895344" cy="219456"/>
          </a:xfrm>
          <a:prstGeom prst="rect">
            <a:avLst/>
          </a:prstGeom>
          <a:noFill/>
          <a:ln/>
        </p:spPr>
        <p:txBody>
          <a:bodyPr wrap="square" lIns="0" tIns="0" rIns="0" bIns="0" rtlCol="0" anchor="ctr"/>
          <a:lstStyle/>
          <a:p>
            <a:pPr indent="0" marL="0">
              <a:buNone/>
            </a:pPr>
            <a:r>
              <a:rPr lang="en-US" sz="900" spc="180" kern="0" dirty="0">
                <a:solidFill>
                  <a:srgbClr val="8A929C"/>
                </a:solidFill>
                <a:latin typeface="Courier New" pitchFamily="34" charset="0"/>
                <a:ea typeface="Courier New" pitchFamily="34" charset="-122"/>
                <a:cs typeface="Courier New" pitchFamily="34" charset="-120"/>
              </a:rPr>
              <a:t>EARLY DEFECT  —  ALERT</a:t>
            </a:r>
            <a:endParaRPr lang="en-US" sz="900" dirty="0"/>
          </a:p>
        </p:txBody>
      </p:sp>
      <p:sp>
        <p:nvSpPr>
          <p:cNvPr id="11" name="Text 9"/>
          <p:cNvSpPr/>
          <p:nvPr/>
        </p:nvSpPr>
        <p:spPr>
          <a:xfrm>
            <a:off x="7552944" y="2532888"/>
            <a:ext cx="3895344" cy="457200"/>
          </a:xfrm>
          <a:prstGeom prst="rect">
            <a:avLst/>
          </a:prstGeom>
          <a:noFill/>
          <a:ln/>
        </p:spPr>
        <p:txBody>
          <a:bodyPr wrap="square" lIns="0" tIns="0" rIns="0" bIns="0" rtlCol="0" anchor="ctr"/>
          <a:lstStyle/>
          <a:p>
            <a:pPr indent="0" marL="0">
              <a:buNone/>
            </a:pPr>
            <a:r>
              <a:rPr lang="en-US" sz="2400" dirty="0">
                <a:solidFill>
                  <a:srgbClr val="E8A33D"/>
                </a:solidFill>
                <a:latin typeface="Courier New" pitchFamily="34" charset="0"/>
                <a:ea typeface="Courier New" pitchFamily="34" charset="-122"/>
                <a:cs typeface="Courier New" pitchFamily="34" charset="-120"/>
              </a:rPr>
              <a:t>3.1</a:t>
            </a:r>
            <a:pPr indent="0" marL="0">
              <a:buNone/>
            </a:pPr>
            <a:endParaRPr lang="en-US" sz="2400" dirty="0"/>
          </a:p>
        </p:txBody>
      </p:sp>
      <p:sp>
        <p:nvSpPr>
          <p:cNvPr id="12" name="Shape 10"/>
          <p:cNvSpPr/>
          <p:nvPr/>
        </p:nvSpPr>
        <p:spPr>
          <a:xfrm>
            <a:off x="7406640" y="3127248"/>
            <a:ext cx="4187952" cy="960120"/>
          </a:xfrm>
          <a:prstGeom prst="roundRect">
            <a:avLst>
              <a:gd name="adj" fmla="val 3810"/>
            </a:avLst>
          </a:prstGeom>
          <a:solidFill>
            <a:srgbClr val="16181C"/>
          </a:solidFill>
          <a:ln w="12700">
            <a:solidFill>
              <a:srgbClr val="343A44"/>
            </a:solidFill>
            <a:prstDash val="solid"/>
          </a:ln>
        </p:spPr>
      </p:sp>
      <p:sp>
        <p:nvSpPr>
          <p:cNvPr id="13" name="Text 11"/>
          <p:cNvSpPr/>
          <p:nvPr/>
        </p:nvSpPr>
        <p:spPr>
          <a:xfrm>
            <a:off x="7552944" y="3236976"/>
            <a:ext cx="3895344" cy="219456"/>
          </a:xfrm>
          <a:prstGeom prst="rect">
            <a:avLst/>
          </a:prstGeom>
          <a:noFill/>
          <a:ln/>
        </p:spPr>
        <p:txBody>
          <a:bodyPr wrap="square" lIns="0" tIns="0" rIns="0" bIns="0" rtlCol="0" anchor="ctr"/>
          <a:lstStyle/>
          <a:p>
            <a:pPr indent="0" marL="0">
              <a:buNone/>
            </a:pPr>
            <a:r>
              <a:rPr lang="en-US" sz="900" spc="180" kern="0" dirty="0">
                <a:solidFill>
                  <a:srgbClr val="8A929C"/>
                </a:solidFill>
                <a:latin typeface="Courier New" pitchFamily="34" charset="0"/>
                <a:ea typeface="Courier New" pitchFamily="34" charset="-122"/>
                <a:cs typeface="Courier New" pitchFamily="34" charset="-120"/>
              </a:rPr>
              <a:t>ADVANCED  —  FAULT</a:t>
            </a:r>
            <a:endParaRPr lang="en-US" sz="900" dirty="0"/>
          </a:p>
        </p:txBody>
      </p:sp>
      <p:sp>
        <p:nvSpPr>
          <p:cNvPr id="14" name="Text 12"/>
          <p:cNvSpPr/>
          <p:nvPr/>
        </p:nvSpPr>
        <p:spPr>
          <a:xfrm>
            <a:off x="7552944" y="3511296"/>
            <a:ext cx="3895344" cy="457200"/>
          </a:xfrm>
          <a:prstGeom prst="rect">
            <a:avLst/>
          </a:prstGeom>
          <a:noFill/>
          <a:ln/>
        </p:spPr>
        <p:txBody>
          <a:bodyPr wrap="square" lIns="0" tIns="0" rIns="0" bIns="0" rtlCol="0" anchor="ctr"/>
          <a:lstStyle/>
          <a:p>
            <a:pPr indent="0" marL="0">
              <a:buNone/>
            </a:pPr>
            <a:r>
              <a:rPr lang="en-US" sz="2400" dirty="0">
                <a:solidFill>
                  <a:srgbClr val="C4483A"/>
                </a:solidFill>
                <a:latin typeface="Courier New" pitchFamily="34" charset="0"/>
                <a:ea typeface="Courier New" pitchFamily="34" charset="-122"/>
                <a:cs typeface="Courier New" pitchFamily="34" charset="-120"/>
              </a:rPr>
              <a:t>7.6</a:t>
            </a:r>
            <a:pPr indent="0" marL="0">
              <a:buNone/>
            </a:pPr>
            <a:endParaRPr lang="en-US" sz="2400" dirty="0"/>
          </a:p>
        </p:txBody>
      </p:sp>
      <p:sp>
        <p:nvSpPr>
          <p:cNvPr id="15" name="Shape 13"/>
          <p:cNvSpPr/>
          <p:nvPr/>
        </p:nvSpPr>
        <p:spPr>
          <a:xfrm>
            <a:off x="7406640" y="4105656"/>
            <a:ext cx="4187952" cy="960120"/>
          </a:xfrm>
          <a:prstGeom prst="roundRect">
            <a:avLst>
              <a:gd name="adj" fmla="val 3810"/>
            </a:avLst>
          </a:prstGeom>
          <a:solidFill>
            <a:srgbClr val="16181C"/>
          </a:solidFill>
          <a:ln w="12700">
            <a:solidFill>
              <a:srgbClr val="343A44"/>
            </a:solidFill>
            <a:prstDash val="solid"/>
          </a:ln>
        </p:spPr>
      </p:sp>
      <p:sp>
        <p:nvSpPr>
          <p:cNvPr id="16" name="Text 14"/>
          <p:cNvSpPr/>
          <p:nvPr/>
        </p:nvSpPr>
        <p:spPr>
          <a:xfrm>
            <a:off x="7552944" y="4215384"/>
            <a:ext cx="3895344" cy="219456"/>
          </a:xfrm>
          <a:prstGeom prst="rect">
            <a:avLst/>
          </a:prstGeom>
          <a:noFill/>
          <a:ln/>
        </p:spPr>
        <p:txBody>
          <a:bodyPr wrap="square" lIns="0" tIns="0" rIns="0" bIns="0" rtlCol="0" anchor="ctr"/>
          <a:lstStyle/>
          <a:p>
            <a:pPr indent="0" marL="0">
              <a:buNone/>
            </a:pPr>
            <a:r>
              <a:rPr lang="en-US" sz="900" spc="180" kern="0" dirty="0">
                <a:solidFill>
                  <a:srgbClr val="8A929C"/>
                </a:solidFill>
                <a:latin typeface="Courier New" pitchFamily="34" charset="0"/>
                <a:ea typeface="Courier New" pitchFamily="34" charset="-122"/>
                <a:cs typeface="Courier New" pitchFamily="34" charset="-120"/>
              </a:rPr>
              <a:t>SAME DEFECT, NOISY PLANT</a:t>
            </a:r>
            <a:endParaRPr lang="en-US" sz="900" dirty="0"/>
          </a:p>
        </p:txBody>
      </p:sp>
      <p:sp>
        <p:nvSpPr>
          <p:cNvPr id="17" name="Text 15"/>
          <p:cNvSpPr/>
          <p:nvPr/>
        </p:nvSpPr>
        <p:spPr>
          <a:xfrm>
            <a:off x="7552944" y="4489704"/>
            <a:ext cx="3895344" cy="457200"/>
          </a:xfrm>
          <a:prstGeom prst="rect">
            <a:avLst/>
          </a:prstGeom>
          <a:noFill/>
          <a:ln/>
        </p:spPr>
        <p:txBody>
          <a:bodyPr wrap="square" lIns="0" tIns="0" rIns="0" bIns="0" rtlCol="0" anchor="ctr"/>
          <a:lstStyle/>
          <a:p>
            <a:pPr indent="0" marL="0">
              <a:buNone/>
            </a:pPr>
            <a:r>
              <a:rPr lang="en-US" sz="2400" dirty="0">
                <a:solidFill>
                  <a:srgbClr val="8A7CC2"/>
                </a:solidFill>
                <a:latin typeface="Courier New" pitchFamily="34" charset="0"/>
                <a:ea typeface="Courier New" pitchFamily="34" charset="-122"/>
                <a:cs typeface="Courier New" pitchFamily="34" charset="-120"/>
              </a:rPr>
              <a:t>1.6</a:t>
            </a:r>
            <a:pPr indent="0" marL="0">
              <a:buNone/>
            </a:pPr>
            <a:endParaRPr lang="en-US" sz="2400" dirty="0"/>
          </a:p>
        </p:txBody>
      </p:sp>
      <p:sp>
        <p:nvSpPr>
          <p:cNvPr id="18" name="Shape 16"/>
          <p:cNvSpPr/>
          <p:nvPr/>
        </p:nvSpPr>
        <p:spPr>
          <a:xfrm>
            <a:off x="566928" y="5257800"/>
            <a:ext cx="11027664" cy="960120"/>
          </a:xfrm>
          <a:prstGeom prst="roundRect">
            <a:avLst>
              <a:gd name="adj" fmla="val 3810"/>
            </a:avLst>
          </a:prstGeom>
          <a:solidFill>
            <a:srgbClr val="22262E"/>
          </a:solidFill>
          <a:ln w="19050">
            <a:solidFill>
              <a:srgbClr val="8A7CC2"/>
            </a:solidFill>
            <a:prstDash val="solid"/>
          </a:ln>
        </p:spPr>
      </p:sp>
      <p:sp>
        <p:nvSpPr>
          <p:cNvPr id="19" name="Text 17"/>
          <p:cNvSpPr/>
          <p:nvPr/>
        </p:nvSpPr>
        <p:spPr>
          <a:xfrm>
            <a:off x="886968" y="5257800"/>
            <a:ext cx="10424160" cy="96012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Noisy plant — the false negative. Same 22% defect, nothing changed about the bearing — the index falls to 1.6 and the annunciator returns to NORMAL. The fault is missed, and nobody is told. A false alarm is annoying and visible; a missed detection is silent.</a:t>
            </a:r>
            <a:endParaRPr lang="en-US" sz="1400" dirty="0"/>
          </a:p>
        </p:txBody>
      </p:sp>
      <p:sp>
        <p:nvSpPr>
          <p:cNvPr id="20" name="Text 18"/>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8A929C"/>
                </a:solidFill>
                <a:latin typeface="Courier New" pitchFamily="34" charset="0"/>
                <a:ea typeface="Courier New" pitchFamily="34" charset="-122"/>
                <a:cs typeface="Courier New" pitchFamily="34" charset="-120"/>
              </a:rPr>
              <a:t>23  ·  DEMO ONE</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PART 4  ·  DIGITAL TWINS</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What a digital twin actually is</a:t>
            </a:r>
            <a:endParaRPr lang="en-US" sz="3400" dirty="0"/>
          </a:p>
        </p:txBody>
      </p:sp>
      <p:sp>
        <p:nvSpPr>
          <p:cNvPr id="4" name="Shape 2"/>
          <p:cNvSpPr/>
          <p:nvPr/>
        </p:nvSpPr>
        <p:spPr>
          <a:xfrm>
            <a:off x="566928" y="1572768"/>
            <a:ext cx="11027664" cy="777240"/>
          </a:xfrm>
          <a:prstGeom prst="roundRect">
            <a:avLst>
              <a:gd name="adj" fmla="val 4706"/>
            </a:avLst>
          </a:prstGeom>
          <a:solidFill>
            <a:srgbClr val="16181C"/>
          </a:solidFill>
          <a:ln w="12700">
            <a:solidFill>
              <a:srgbClr val="16181C"/>
            </a:solidFill>
            <a:prstDash val="solid"/>
          </a:ln>
        </p:spPr>
      </p:sp>
      <p:sp>
        <p:nvSpPr>
          <p:cNvPr id="5" name="Text 3"/>
          <p:cNvSpPr/>
          <p:nvPr/>
        </p:nvSpPr>
        <p:spPr>
          <a:xfrm>
            <a:off x="886968" y="1572768"/>
            <a:ext cx="10424160" cy="77724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A model of a physical asset, kept current by that asset's own data, that you can ask questions of. Not current → it is a simulation. Cannot be questioned → it is a dashboard.</a:t>
            </a:r>
            <a:endParaRPr lang="en-US" sz="1550" dirty="0"/>
          </a:p>
        </p:txBody>
      </p:sp>
      <p:sp>
        <p:nvSpPr>
          <p:cNvPr id="6" name="Shape 4"/>
          <p:cNvSpPr/>
          <p:nvPr/>
        </p:nvSpPr>
        <p:spPr>
          <a:xfrm>
            <a:off x="566928" y="2560320"/>
            <a:ext cx="3493008" cy="2514600"/>
          </a:xfrm>
          <a:prstGeom prst="roundRect">
            <a:avLst>
              <a:gd name="adj" fmla="val 1091"/>
            </a:avLst>
          </a:prstGeom>
          <a:solidFill>
            <a:srgbClr val="F3F4F6"/>
          </a:solidFill>
          <a:ln w="12700">
            <a:solidFill>
              <a:srgbClr val="E2E5E9"/>
            </a:solidFill>
            <a:prstDash val="solid"/>
          </a:ln>
        </p:spPr>
      </p:sp>
      <p:sp>
        <p:nvSpPr>
          <p:cNvPr id="7" name="Shape 5"/>
          <p:cNvSpPr/>
          <p:nvPr/>
        </p:nvSpPr>
        <p:spPr>
          <a:xfrm>
            <a:off x="841248" y="2816352"/>
            <a:ext cx="384048" cy="384048"/>
          </a:xfrm>
          <a:prstGeom prst="ellipse">
            <a:avLst/>
          </a:prstGeom>
          <a:solidFill>
            <a:srgbClr val="3FB6A8"/>
          </a:solidFill>
          <a:ln w="12700">
            <a:solidFill>
              <a:srgbClr val="3FB6A8"/>
            </a:solidFill>
            <a:prstDash val="solid"/>
          </a:ln>
        </p:spPr>
      </p:sp>
      <p:sp>
        <p:nvSpPr>
          <p:cNvPr id="8" name="Text 6"/>
          <p:cNvSpPr/>
          <p:nvPr/>
        </p:nvSpPr>
        <p:spPr>
          <a:xfrm>
            <a:off x="841248" y="2816352"/>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1</a:t>
            </a:r>
            <a:endParaRPr lang="en-US" sz="1300" dirty="0"/>
          </a:p>
        </p:txBody>
      </p:sp>
      <p:sp>
        <p:nvSpPr>
          <p:cNvPr id="9" name="Text 7"/>
          <p:cNvSpPr/>
          <p:nvPr/>
        </p:nvSpPr>
        <p:spPr>
          <a:xfrm>
            <a:off x="841248" y="3337560"/>
            <a:ext cx="2926080" cy="411480"/>
          </a:xfrm>
          <a:prstGeom prst="rect">
            <a:avLst/>
          </a:prstGeom>
          <a:noFill/>
          <a:ln/>
        </p:spPr>
        <p:txBody>
          <a:bodyPr wrap="square" lIns="0" tIns="0" rIns="0" bIns="0" rtlCol="0" anchor="ctr"/>
          <a:lstStyle/>
          <a:p>
            <a:pPr indent="0" marL="0">
              <a:buNone/>
            </a:pPr>
            <a:r>
              <a:rPr lang="en-US" sz="1800" b="1" dirty="0">
                <a:solidFill>
                  <a:srgbClr val="1E2127"/>
                </a:solidFill>
                <a:latin typeface="Cambria" pitchFamily="34" charset="0"/>
                <a:ea typeface="Cambria" pitchFamily="34" charset="-122"/>
                <a:cs typeface="Cambria" pitchFamily="34" charset="-120"/>
              </a:rPr>
              <a:t>Physics model</a:t>
            </a:r>
            <a:endParaRPr lang="en-US" sz="1800" dirty="0"/>
          </a:p>
        </p:txBody>
      </p:sp>
      <p:sp>
        <p:nvSpPr>
          <p:cNvPr id="10" name="Text 8"/>
          <p:cNvSpPr/>
          <p:nvPr/>
        </p:nvSpPr>
        <p:spPr>
          <a:xfrm>
            <a:off x="841248" y="3794760"/>
            <a:ext cx="2944368" cy="1188720"/>
          </a:xfrm>
          <a:prstGeom prst="rect">
            <a:avLst/>
          </a:prstGeom>
          <a:noFill/>
          <a:ln/>
        </p:spPr>
        <p:txBody>
          <a:bodyPr wrap="square" lIns="0" tIns="0" rIns="0" bIns="0" rtlCol="0" anchor="t"/>
          <a:lstStyle/>
          <a:p>
            <a:pPr indent="0" marL="0">
              <a:lnSpc>
                <a:spcPct val="115000"/>
              </a:lnSpc>
              <a:buNone/>
            </a:pPr>
            <a:r>
              <a:rPr lang="en-US" sz="1300" dirty="0">
                <a:solidFill>
                  <a:srgbClr val="6E757F"/>
                </a:solidFill>
                <a:latin typeface="Calibri" pitchFamily="34" charset="0"/>
                <a:ea typeface="Calibri" pitchFamily="34" charset="-122"/>
                <a:cs typeface="Calibri" pitchFamily="34" charset="-120"/>
              </a:rPr>
              <a:t>First principles — differential equations, FEA, kinematics. Accurate exactly where your equations are right. Slow, and it needs someone who understands the machine.</a:t>
            </a:r>
            <a:endParaRPr lang="en-US" sz="1300" dirty="0"/>
          </a:p>
        </p:txBody>
      </p:sp>
      <p:sp>
        <p:nvSpPr>
          <p:cNvPr id="11" name="Shape 9"/>
          <p:cNvSpPr/>
          <p:nvPr/>
        </p:nvSpPr>
        <p:spPr>
          <a:xfrm>
            <a:off x="4334256" y="2560320"/>
            <a:ext cx="3493008" cy="2514600"/>
          </a:xfrm>
          <a:prstGeom prst="roundRect">
            <a:avLst>
              <a:gd name="adj" fmla="val 1091"/>
            </a:avLst>
          </a:prstGeom>
          <a:solidFill>
            <a:srgbClr val="F3F4F6"/>
          </a:solidFill>
          <a:ln w="12700">
            <a:solidFill>
              <a:srgbClr val="E2E5E9"/>
            </a:solidFill>
            <a:prstDash val="solid"/>
          </a:ln>
        </p:spPr>
      </p:sp>
      <p:sp>
        <p:nvSpPr>
          <p:cNvPr id="12" name="Shape 10"/>
          <p:cNvSpPr/>
          <p:nvPr/>
        </p:nvSpPr>
        <p:spPr>
          <a:xfrm>
            <a:off x="4608576" y="2816352"/>
            <a:ext cx="384048" cy="384048"/>
          </a:xfrm>
          <a:prstGeom prst="ellipse">
            <a:avLst/>
          </a:prstGeom>
          <a:solidFill>
            <a:srgbClr val="8A7CC2"/>
          </a:solidFill>
          <a:ln w="12700">
            <a:solidFill>
              <a:srgbClr val="8A7CC2"/>
            </a:solidFill>
            <a:prstDash val="solid"/>
          </a:ln>
        </p:spPr>
      </p:sp>
      <p:sp>
        <p:nvSpPr>
          <p:cNvPr id="13" name="Text 11"/>
          <p:cNvSpPr/>
          <p:nvPr/>
        </p:nvSpPr>
        <p:spPr>
          <a:xfrm>
            <a:off x="4608576" y="2816352"/>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2</a:t>
            </a:r>
            <a:endParaRPr lang="en-US" sz="1300" dirty="0"/>
          </a:p>
        </p:txBody>
      </p:sp>
      <p:sp>
        <p:nvSpPr>
          <p:cNvPr id="14" name="Text 12"/>
          <p:cNvSpPr/>
          <p:nvPr/>
        </p:nvSpPr>
        <p:spPr>
          <a:xfrm>
            <a:off x="4608576" y="3337560"/>
            <a:ext cx="2926080" cy="411480"/>
          </a:xfrm>
          <a:prstGeom prst="rect">
            <a:avLst/>
          </a:prstGeom>
          <a:noFill/>
          <a:ln/>
        </p:spPr>
        <p:txBody>
          <a:bodyPr wrap="square" lIns="0" tIns="0" rIns="0" bIns="0" rtlCol="0" anchor="ctr"/>
          <a:lstStyle/>
          <a:p>
            <a:pPr indent="0" marL="0">
              <a:buNone/>
            </a:pPr>
            <a:r>
              <a:rPr lang="en-US" sz="1800" b="1" dirty="0">
                <a:solidFill>
                  <a:srgbClr val="1E2127"/>
                </a:solidFill>
                <a:latin typeface="Cambria" pitchFamily="34" charset="0"/>
                <a:ea typeface="Cambria" pitchFamily="34" charset="-122"/>
                <a:cs typeface="Cambria" pitchFamily="34" charset="-120"/>
              </a:rPr>
              <a:t>Data-driven surrogate</a:t>
            </a:r>
            <a:endParaRPr lang="en-US" sz="1800" dirty="0"/>
          </a:p>
        </p:txBody>
      </p:sp>
      <p:sp>
        <p:nvSpPr>
          <p:cNvPr id="15" name="Text 13"/>
          <p:cNvSpPr/>
          <p:nvPr/>
        </p:nvSpPr>
        <p:spPr>
          <a:xfrm>
            <a:off x="4608576" y="3794760"/>
            <a:ext cx="2944368" cy="1188720"/>
          </a:xfrm>
          <a:prstGeom prst="rect">
            <a:avLst/>
          </a:prstGeom>
          <a:noFill/>
          <a:ln/>
        </p:spPr>
        <p:txBody>
          <a:bodyPr wrap="square" lIns="0" tIns="0" rIns="0" bIns="0" rtlCol="0" anchor="t"/>
          <a:lstStyle/>
          <a:p>
            <a:pPr indent="0" marL="0">
              <a:lnSpc>
                <a:spcPct val="115000"/>
              </a:lnSpc>
              <a:buNone/>
            </a:pPr>
            <a:r>
              <a:rPr lang="en-US" sz="1300" dirty="0">
                <a:solidFill>
                  <a:srgbClr val="6E757F"/>
                </a:solidFill>
                <a:latin typeface="Calibri" pitchFamily="34" charset="0"/>
                <a:ea typeface="Calibri" pitchFamily="34" charset="-122"/>
                <a:cs typeface="Calibri" pitchFamily="34" charset="-120"/>
              </a:rPr>
              <a:t>Trained to mimic the plant from its history. Fast. Interpolates well. Extrapolates terribly — hold that thought.</a:t>
            </a:r>
            <a:endParaRPr lang="en-US" sz="1300" dirty="0"/>
          </a:p>
        </p:txBody>
      </p:sp>
      <p:sp>
        <p:nvSpPr>
          <p:cNvPr id="16" name="Shape 14"/>
          <p:cNvSpPr/>
          <p:nvPr/>
        </p:nvSpPr>
        <p:spPr>
          <a:xfrm>
            <a:off x="8101584" y="2560320"/>
            <a:ext cx="3493008" cy="2514600"/>
          </a:xfrm>
          <a:prstGeom prst="roundRect">
            <a:avLst>
              <a:gd name="adj" fmla="val 1091"/>
            </a:avLst>
          </a:prstGeom>
          <a:solidFill>
            <a:srgbClr val="F3F4F6"/>
          </a:solidFill>
          <a:ln w="12700">
            <a:solidFill>
              <a:srgbClr val="E2E5E9"/>
            </a:solidFill>
            <a:prstDash val="solid"/>
          </a:ln>
        </p:spPr>
      </p:sp>
      <p:sp>
        <p:nvSpPr>
          <p:cNvPr id="17" name="Shape 15"/>
          <p:cNvSpPr/>
          <p:nvPr/>
        </p:nvSpPr>
        <p:spPr>
          <a:xfrm>
            <a:off x="8375904" y="2816352"/>
            <a:ext cx="384048" cy="384048"/>
          </a:xfrm>
          <a:prstGeom prst="ellipse">
            <a:avLst/>
          </a:prstGeom>
          <a:solidFill>
            <a:srgbClr val="E8A33D"/>
          </a:solidFill>
          <a:ln w="12700">
            <a:solidFill>
              <a:srgbClr val="E8A33D"/>
            </a:solidFill>
            <a:prstDash val="solid"/>
          </a:ln>
        </p:spPr>
      </p:sp>
      <p:sp>
        <p:nvSpPr>
          <p:cNvPr id="18" name="Text 16"/>
          <p:cNvSpPr/>
          <p:nvPr/>
        </p:nvSpPr>
        <p:spPr>
          <a:xfrm>
            <a:off x="8375904" y="2816352"/>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3</a:t>
            </a:r>
            <a:endParaRPr lang="en-US" sz="1300" dirty="0"/>
          </a:p>
        </p:txBody>
      </p:sp>
      <p:sp>
        <p:nvSpPr>
          <p:cNvPr id="19" name="Text 17"/>
          <p:cNvSpPr/>
          <p:nvPr/>
        </p:nvSpPr>
        <p:spPr>
          <a:xfrm>
            <a:off x="8375904" y="3337560"/>
            <a:ext cx="2926080" cy="411480"/>
          </a:xfrm>
          <a:prstGeom prst="rect">
            <a:avLst/>
          </a:prstGeom>
          <a:noFill/>
          <a:ln/>
        </p:spPr>
        <p:txBody>
          <a:bodyPr wrap="square" lIns="0" tIns="0" rIns="0" bIns="0" rtlCol="0" anchor="ctr"/>
          <a:lstStyle/>
          <a:p>
            <a:pPr indent="0" marL="0">
              <a:buNone/>
            </a:pPr>
            <a:r>
              <a:rPr lang="en-US" sz="1800" b="1" dirty="0">
                <a:solidFill>
                  <a:srgbClr val="1E2127"/>
                </a:solidFill>
                <a:latin typeface="Cambria" pitchFamily="34" charset="0"/>
                <a:ea typeface="Cambria" pitchFamily="34" charset="-122"/>
                <a:cs typeface="Cambria" pitchFamily="34" charset="-120"/>
              </a:rPr>
              <a:t>Hybrid</a:t>
            </a:r>
            <a:endParaRPr lang="en-US" sz="1800" dirty="0"/>
          </a:p>
        </p:txBody>
      </p:sp>
      <p:sp>
        <p:nvSpPr>
          <p:cNvPr id="20" name="Text 18"/>
          <p:cNvSpPr/>
          <p:nvPr/>
        </p:nvSpPr>
        <p:spPr>
          <a:xfrm>
            <a:off x="8375904" y="3794760"/>
            <a:ext cx="2944368" cy="1188720"/>
          </a:xfrm>
          <a:prstGeom prst="rect">
            <a:avLst/>
          </a:prstGeom>
          <a:noFill/>
          <a:ln/>
        </p:spPr>
        <p:txBody>
          <a:bodyPr wrap="square" lIns="0" tIns="0" rIns="0" bIns="0" rtlCol="0" anchor="t"/>
          <a:lstStyle/>
          <a:p>
            <a:pPr indent="0" marL="0">
              <a:lnSpc>
                <a:spcPct val="115000"/>
              </a:lnSpc>
              <a:buNone/>
            </a:pPr>
            <a:r>
              <a:rPr lang="en-US" sz="1300" dirty="0">
                <a:solidFill>
                  <a:srgbClr val="6E757F"/>
                </a:solidFill>
                <a:latin typeface="Calibri" pitchFamily="34" charset="0"/>
                <a:ea typeface="Calibri" pitchFamily="34" charset="-122"/>
                <a:cs typeface="Calibri" pitchFamily="34" charset="-120"/>
              </a:rPr>
              <a:t>Physics model whose parameters are continuously re-estimated from live data. The interesting one, and by far the hardest to build.</a:t>
            </a:r>
            <a:endParaRPr lang="en-US" sz="1300" dirty="0"/>
          </a:p>
        </p:txBody>
      </p:sp>
      <p:sp>
        <p:nvSpPr>
          <p:cNvPr id="21" name="Shape 19"/>
          <p:cNvSpPr/>
          <p:nvPr/>
        </p:nvSpPr>
        <p:spPr>
          <a:xfrm>
            <a:off x="566928" y="5257800"/>
            <a:ext cx="11027664" cy="868680"/>
          </a:xfrm>
          <a:prstGeom prst="roundRect">
            <a:avLst>
              <a:gd name="adj" fmla="val 3158"/>
            </a:avLst>
          </a:prstGeom>
          <a:solidFill>
            <a:srgbClr val="F3F4F6"/>
          </a:solidFill>
          <a:ln w="19050">
            <a:solidFill>
              <a:srgbClr val="3FB6A8"/>
            </a:solidFill>
            <a:prstDash val="solid"/>
          </a:ln>
        </p:spPr>
      </p:sp>
      <p:sp>
        <p:nvSpPr>
          <p:cNvPr id="22" name="Text 20"/>
          <p:cNvSpPr/>
          <p:nvPr/>
        </p:nvSpPr>
        <p:spPr>
          <a:xfrm>
            <a:off x="886968" y="5257800"/>
            <a:ext cx="10424160" cy="868680"/>
          </a:xfrm>
          <a:prstGeom prst="rect">
            <a:avLst/>
          </a:prstGeom>
          <a:noFill/>
          <a:ln/>
        </p:spPr>
        <p:txBody>
          <a:bodyPr wrap="square" lIns="0" tIns="0" rIns="0" bIns="0" rtlCol="0" anchor="ctr"/>
          <a:lstStyle/>
          <a:p>
            <a:pPr indent="0" marL="0">
              <a:buNone/>
            </a:pPr>
            <a:r>
              <a:rPr lang="en-US" sz="1450" dirty="0">
                <a:solidFill>
                  <a:srgbClr val="1E2127"/>
                </a:solidFill>
                <a:latin typeface="Calibri" pitchFamily="34" charset="0"/>
                <a:ea typeface="Calibri" pitchFamily="34" charset="-122"/>
                <a:cs typeface="Calibri" pitchFamily="34" charset="-120"/>
              </a:rPr>
              <a:t>You already built one this morning. When we derived BPFO from ball count and pitch diameter, we built a physics model of a bearing that predicts what the sensor will see. That is a twin component.</a:t>
            </a:r>
            <a:endParaRPr lang="en-US" sz="1450" dirty="0"/>
          </a:p>
        </p:txBody>
      </p:sp>
      <p:sp>
        <p:nvSpPr>
          <p:cNvPr id="23" name="Text 21"/>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24  ·  DIGITAL TWINS</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6181C"/>
        </a:solidFill>
      </p:bgPr>
    </p:bg>
    <p:spTree>
      <p:nvGrpSpPr>
        <p:cNvPr id="1" name=""/>
        <p:cNvGrpSpPr/>
        <p:nvPr/>
      </p:nvGrpSpPr>
      <p:grpSpPr>
        <a:xfrm>
          <a:off x="0" y="0"/>
          <a:ext cx="0" cy="0"/>
          <a:chOff x="0" y="0"/>
          <a:chExt cx="0" cy="0"/>
        </a:xfrm>
      </p:grpSpPr>
      <p:sp>
        <p:nvSpPr>
          <p:cNvPr id="2" name="Text 0"/>
          <p:cNvSpPr/>
          <p:nvPr/>
        </p:nvSpPr>
        <p:spPr>
          <a:xfrm>
            <a:off x="566928" y="1234440"/>
            <a:ext cx="7315200" cy="201168"/>
          </a:xfrm>
          <a:prstGeom prst="rect">
            <a:avLst/>
          </a:prstGeom>
          <a:noFill/>
          <a:ln/>
        </p:spPr>
        <p:txBody>
          <a:bodyPr wrap="square" lIns="0" tIns="0" rIns="0" bIns="0" rtlCol="0" anchor="ctr"/>
          <a:lstStyle/>
          <a:p>
            <a:pPr indent="0" marL="0">
              <a:buNone/>
            </a:pPr>
            <a:r>
              <a:rPr lang="en-US" sz="1000" spc="220" kern="0" dirty="0">
                <a:solidFill>
                  <a:srgbClr val="E8A33D"/>
                </a:solidFill>
                <a:latin typeface="Courier New" pitchFamily="34" charset="0"/>
                <a:ea typeface="Courier New" pitchFamily="34" charset="-122"/>
                <a:cs typeface="Courier New" pitchFamily="34" charset="-120"/>
              </a:rPr>
              <a:t>PART 4  ·  WRITE THIS ONE DOWN</a:t>
            </a:r>
            <a:endParaRPr lang="en-US" sz="1000" dirty="0"/>
          </a:p>
        </p:txBody>
      </p:sp>
      <p:sp>
        <p:nvSpPr>
          <p:cNvPr id="3" name="Text 1"/>
          <p:cNvSpPr/>
          <p:nvPr/>
        </p:nvSpPr>
        <p:spPr>
          <a:xfrm>
            <a:off x="566928" y="1572768"/>
            <a:ext cx="10607040" cy="2286000"/>
          </a:xfrm>
          <a:prstGeom prst="rect">
            <a:avLst/>
          </a:prstGeom>
          <a:noFill/>
          <a:ln/>
        </p:spPr>
        <p:txBody>
          <a:bodyPr wrap="square" lIns="0" tIns="0" rIns="0" bIns="0" rtlCol="0" anchor="ctr"/>
          <a:lstStyle/>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What does your twin predict</a:t>
            </a:r>
            <a:endParaRPr lang="en-US" sz="3400" dirty="0"/>
          </a:p>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that a human could not —</a:t>
            </a:r>
            <a:endParaRPr lang="en-US" sz="3400" dirty="0"/>
          </a:p>
          <a:p>
            <a:pPr indent="0" marL="0">
              <a:lnSpc>
                <a:spcPct val="110000"/>
              </a:lnSpc>
              <a:buNone/>
            </a:pPr>
            <a:r>
              <a:rPr lang="en-US" sz="3400" b="1" dirty="0">
                <a:solidFill>
                  <a:srgbClr val="FFFFFF"/>
                </a:solidFill>
                <a:latin typeface="Cambria" pitchFamily="34" charset="0"/>
                <a:ea typeface="Cambria" pitchFamily="34" charset="-122"/>
                <a:cs typeface="Cambria" pitchFamily="34" charset="-120"/>
              </a:rPr>
              <a:t>and how was that validated?</a:t>
            </a:r>
            <a:endParaRPr lang="en-US" sz="3400" dirty="0"/>
          </a:p>
        </p:txBody>
      </p:sp>
      <p:sp>
        <p:nvSpPr>
          <p:cNvPr id="4" name="Shape 2"/>
          <p:cNvSpPr/>
          <p:nvPr/>
        </p:nvSpPr>
        <p:spPr>
          <a:xfrm>
            <a:off x="566928" y="4069080"/>
            <a:ext cx="5358384" cy="1051560"/>
          </a:xfrm>
          <a:prstGeom prst="roundRect">
            <a:avLst>
              <a:gd name="adj" fmla="val 2609"/>
            </a:avLst>
          </a:prstGeom>
          <a:solidFill>
            <a:srgbClr val="22262E"/>
          </a:solidFill>
          <a:ln w="19050">
            <a:solidFill>
              <a:srgbClr val="8A7CC2"/>
            </a:solidFill>
            <a:prstDash val="solid"/>
          </a:ln>
        </p:spPr>
      </p:sp>
      <p:sp>
        <p:nvSpPr>
          <p:cNvPr id="5" name="Text 3"/>
          <p:cNvSpPr/>
          <p:nvPr/>
        </p:nvSpPr>
        <p:spPr>
          <a:xfrm>
            <a:off x="841248" y="4206240"/>
            <a:ext cx="4846320" cy="320040"/>
          </a:xfrm>
          <a:prstGeom prst="rect">
            <a:avLst/>
          </a:prstGeom>
          <a:noFill/>
          <a:ln/>
        </p:spPr>
        <p:txBody>
          <a:bodyPr wrap="square" lIns="0" tIns="0" rIns="0" bIns="0" rtlCol="0" anchor="ctr"/>
          <a:lstStyle/>
          <a:p>
            <a:pPr indent="0" marL="0">
              <a:buNone/>
            </a:pPr>
            <a:r>
              <a:rPr lang="en-US" sz="1100" dirty="0">
                <a:solidFill>
                  <a:srgbClr val="8A7CC2"/>
                </a:solidFill>
                <a:latin typeface="Courier New" pitchFamily="34" charset="0"/>
                <a:ea typeface="Courier New" pitchFamily="34" charset="-122"/>
                <a:cs typeface="Courier New" pitchFamily="34" charset="-120"/>
              </a:rPr>
              <a:t>No answer to the first half</a:t>
            </a:r>
            <a:endParaRPr lang="en-US" sz="1100" dirty="0"/>
          </a:p>
        </p:txBody>
      </p:sp>
      <p:sp>
        <p:nvSpPr>
          <p:cNvPr id="6" name="Text 4"/>
          <p:cNvSpPr/>
          <p:nvPr/>
        </p:nvSpPr>
        <p:spPr>
          <a:xfrm>
            <a:off x="841248" y="4526280"/>
            <a:ext cx="484632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It is a visualization.</a:t>
            </a:r>
            <a:endParaRPr lang="en-US" sz="1600" dirty="0"/>
          </a:p>
        </p:txBody>
      </p:sp>
      <p:sp>
        <p:nvSpPr>
          <p:cNvPr id="7" name="Shape 5"/>
          <p:cNvSpPr/>
          <p:nvPr/>
        </p:nvSpPr>
        <p:spPr>
          <a:xfrm>
            <a:off x="6236208" y="4069080"/>
            <a:ext cx="5358384" cy="1051560"/>
          </a:xfrm>
          <a:prstGeom prst="roundRect">
            <a:avLst>
              <a:gd name="adj" fmla="val 2609"/>
            </a:avLst>
          </a:prstGeom>
          <a:solidFill>
            <a:srgbClr val="22262E"/>
          </a:solidFill>
          <a:ln w="19050">
            <a:solidFill>
              <a:srgbClr val="C4483A"/>
            </a:solidFill>
            <a:prstDash val="solid"/>
          </a:ln>
        </p:spPr>
      </p:sp>
      <p:sp>
        <p:nvSpPr>
          <p:cNvPr id="8" name="Text 6"/>
          <p:cNvSpPr/>
          <p:nvPr/>
        </p:nvSpPr>
        <p:spPr>
          <a:xfrm>
            <a:off x="6510528" y="4206240"/>
            <a:ext cx="4846320" cy="320040"/>
          </a:xfrm>
          <a:prstGeom prst="rect">
            <a:avLst/>
          </a:prstGeom>
          <a:noFill/>
          <a:ln/>
        </p:spPr>
        <p:txBody>
          <a:bodyPr wrap="square" lIns="0" tIns="0" rIns="0" bIns="0" rtlCol="0" anchor="ctr"/>
          <a:lstStyle/>
          <a:p>
            <a:pPr indent="0" marL="0">
              <a:buNone/>
            </a:pPr>
            <a:r>
              <a:rPr lang="en-US" sz="1100" dirty="0">
                <a:solidFill>
                  <a:srgbClr val="C4483A"/>
                </a:solidFill>
                <a:latin typeface="Courier New" pitchFamily="34" charset="0"/>
                <a:ea typeface="Courier New" pitchFamily="34" charset="-122"/>
                <a:cs typeface="Courier New" pitchFamily="34" charset="-120"/>
              </a:rPr>
              <a:t>No answer to the second half</a:t>
            </a:r>
            <a:endParaRPr lang="en-US" sz="1100" dirty="0"/>
          </a:p>
        </p:txBody>
      </p:sp>
      <p:sp>
        <p:nvSpPr>
          <p:cNvPr id="9" name="Text 7"/>
          <p:cNvSpPr/>
          <p:nvPr/>
        </p:nvSpPr>
        <p:spPr>
          <a:xfrm>
            <a:off x="6510528" y="4526280"/>
            <a:ext cx="4846320" cy="4572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It is a guess with good graphics.</a:t>
            </a:r>
            <a:endParaRPr lang="en-US" sz="1600" dirty="0"/>
          </a:p>
        </p:txBody>
      </p:sp>
      <p:sp>
        <p:nvSpPr>
          <p:cNvPr id="10" name="Text 8"/>
          <p:cNvSpPr/>
          <p:nvPr/>
        </p:nvSpPr>
        <p:spPr>
          <a:xfrm>
            <a:off x="566928" y="5394960"/>
            <a:ext cx="10607040" cy="548640"/>
          </a:xfrm>
          <a:prstGeom prst="rect">
            <a:avLst/>
          </a:prstGeom>
          <a:noFill/>
          <a:ln/>
        </p:spPr>
        <p:txBody>
          <a:bodyPr wrap="square" lIns="0" tIns="0" rIns="0" bIns="0" rtlCol="0" anchor="ctr"/>
          <a:lstStyle/>
          <a:p>
            <a:pPr indent="0" marL="0">
              <a:buNone/>
            </a:pPr>
            <a:r>
              <a:rPr lang="en-US" sz="1500" i="1" dirty="0">
                <a:solidFill>
                  <a:srgbClr val="E8A33D"/>
                </a:solidFill>
                <a:latin typeface="Calibri" pitchFamily="34" charset="0"/>
                <a:ea typeface="Calibri" pitchFamily="34" charset="-122"/>
                <a:cs typeface="Calibri" pitchFamily="34" charset="-120"/>
              </a:rPr>
              <a:t>A 3D model with live values painted on it fails both. It may be genuinely useful. It is not a twin — it cannot answer "what happens if I raise the feed rate ten percent."</a:t>
            </a:r>
            <a:endParaRPr lang="en-US" sz="1500" dirty="0"/>
          </a:p>
        </p:txBody>
      </p:sp>
      <p:sp>
        <p:nvSpPr>
          <p:cNvPr id="11" name="Text 9"/>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8A929C"/>
                </a:solidFill>
                <a:latin typeface="Courier New" pitchFamily="34" charset="0"/>
                <a:ea typeface="Courier New" pitchFamily="34" charset="-122"/>
                <a:cs typeface="Courier New" pitchFamily="34" charset="-120"/>
              </a:rPr>
              <a:t>25  ·  DIGITAL TWINS  ·  THE VENDOR TEST</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PART 4  ·  THE INTELLECTUAL CORE</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The trap: a fault is extrapolation</a:t>
            </a:r>
            <a:endParaRPr lang="en-US" sz="3400" dirty="0"/>
          </a:p>
        </p:txBody>
      </p:sp>
      <p:sp>
        <p:nvSpPr>
          <p:cNvPr id="4" name="Shape 2"/>
          <p:cNvSpPr/>
          <p:nvPr/>
        </p:nvSpPr>
        <p:spPr>
          <a:xfrm>
            <a:off x="566928" y="1783080"/>
            <a:ext cx="11027664" cy="868680"/>
          </a:xfrm>
          <a:prstGeom prst="roundRect">
            <a:avLst>
              <a:gd name="adj" fmla="val 3158"/>
            </a:avLst>
          </a:prstGeom>
          <a:solidFill>
            <a:srgbClr val="F3F4F6"/>
          </a:solidFill>
          <a:ln w="12700">
            <a:solidFill>
              <a:srgbClr val="E2E5E9"/>
            </a:solidFill>
            <a:prstDash val="solid"/>
          </a:ln>
        </p:spPr>
      </p:sp>
      <p:sp>
        <p:nvSpPr>
          <p:cNvPr id="5" name="Shape 3"/>
          <p:cNvSpPr/>
          <p:nvPr/>
        </p:nvSpPr>
        <p:spPr>
          <a:xfrm>
            <a:off x="841248" y="2130552"/>
            <a:ext cx="182880" cy="182880"/>
          </a:xfrm>
          <a:prstGeom prst="ellipse">
            <a:avLst/>
          </a:prstGeom>
          <a:solidFill>
            <a:srgbClr val="3FB6A8"/>
          </a:solidFill>
          <a:ln w="12700">
            <a:solidFill>
              <a:srgbClr val="3FB6A8"/>
            </a:solidFill>
            <a:prstDash val="solid"/>
          </a:ln>
        </p:spPr>
      </p:sp>
      <p:sp>
        <p:nvSpPr>
          <p:cNvPr id="6" name="Text 4"/>
          <p:cNvSpPr/>
          <p:nvPr/>
        </p:nvSpPr>
        <p:spPr>
          <a:xfrm>
            <a:off x="1188720" y="1783080"/>
            <a:ext cx="4114800" cy="868680"/>
          </a:xfrm>
          <a:prstGeom prst="rect">
            <a:avLst/>
          </a:prstGeom>
          <a:noFill/>
          <a:ln/>
        </p:spPr>
        <p:txBody>
          <a:bodyPr wrap="square" lIns="0" tIns="0" rIns="0" bIns="0" rtlCol="0" anchor="ctr"/>
          <a:lstStyle/>
          <a:p>
            <a:pPr indent="0" marL="0">
              <a:buNone/>
            </a:pPr>
            <a:r>
              <a:rPr lang="en-US" sz="1600" b="1" dirty="0">
                <a:solidFill>
                  <a:srgbClr val="1E2127"/>
                </a:solidFill>
                <a:latin typeface="Cambria" pitchFamily="34" charset="0"/>
                <a:ea typeface="Cambria" pitchFamily="34" charset="-122"/>
                <a:cs typeface="Cambria" pitchFamily="34" charset="-120"/>
              </a:rPr>
              <a:t>Five years of historian data</a:t>
            </a:r>
            <a:endParaRPr lang="en-US" sz="1600" dirty="0"/>
          </a:p>
        </p:txBody>
      </p:sp>
      <p:sp>
        <p:nvSpPr>
          <p:cNvPr id="7" name="Text 5"/>
          <p:cNvSpPr/>
          <p:nvPr/>
        </p:nvSpPr>
        <p:spPr>
          <a:xfrm>
            <a:off x="5413248" y="1783080"/>
            <a:ext cx="5989320" cy="868680"/>
          </a:xfrm>
          <a:prstGeom prst="rect">
            <a:avLst/>
          </a:prstGeom>
          <a:noFill/>
          <a:ln/>
        </p:spPr>
        <p:txBody>
          <a:bodyPr wrap="square" lIns="0" tIns="0" rIns="0" bIns="0" rtlCol="0" anchor="ctr"/>
          <a:lstStyle/>
          <a:p>
            <a:pPr indent="0" marL="0">
              <a:buNone/>
            </a:pPr>
            <a:r>
              <a:rPr lang="en-US" sz="1300" dirty="0">
                <a:solidFill>
                  <a:srgbClr val="6E757F"/>
                </a:solidFill>
                <a:latin typeface="Calibri" pitchFamily="34" charset="0"/>
                <a:ea typeface="Calibri" pitchFamily="34" charset="-122"/>
                <a:cs typeface="Calibri" pitchFamily="34" charset="-120"/>
              </a:rPr>
              <a:t>Almost entirely normal operation. A plant that failed often enough to give you a rich failure dataset would be a scrapyard.</a:t>
            </a:r>
            <a:endParaRPr lang="en-US" sz="1300" dirty="0"/>
          </a:p>
        </p:txBody>
      </p:sp>
      <p:sp>
        <p:nvSpPr>
          <p:cNvPr id="8" name="Shape 6"/>
          <p:cNvSpPr/>
          <p:nvPr/>
        </p:nvSpPr>
        <p:spPr>
          <a:xfrm>
            <a:off x="566928" y="2752344"/>
            <a:ext cx="11027664" cy="868680"/>
          </a:xfrm>
          <a:prstGeom prst="roundRect">
            <a:avLst>
              <a:gd name="adj" fmla="val 3158"/>
            </a:avLst>
          </a:prstGeom>
          <a:solidFill>
            <a:srgbClr val="F3F4F6"/>
          </a:solidFill>
          <a:ln w="12700">
            <a:solidFill>
              <a:srgbClr val="E2E5E9"/>
            </a:solidFill>
            <a:prstDash val="solid"/>
          </a:ln>
        </p:spPr>
      </p:sp>
      <p:sp>
        <p:nvSpPr>
          <p:cNvPr id="9" name="Shape 7"/>
          <p:cNvSpPr/>
          <p:nvPr/>
        </p:nvSpPr>
        <p:spPr>
          <a:xfrm>
            <a:off x="841248" y="3099816"/>
            <a:ext cx="182880" cy="182880"/>
          </a:xfrm>
          <a:prstGeom prst="ellipse">
            <a:avLst/>
          </a:prstGeom>
          <a:solidFill>
            <a:srgbClr val="8A7CC2"/>
          </a:solidFill>
          <a:ln w="12700">
            <a:solidFill>
              <a:srgbClr val="8A7CC2"/>
            </a:solidFill>
            <a:prstDash val="solid"/>
          </a:ln>
        </p:spPr>
      </p:sp>
      <p:sp>
        <p:nvSpPr>
          <p:cNvPr id="10" name="Text 8"/>
          <p:cNvSpPr/>
          <p:nvPr/>
        </p:nvSpPr>
        <p:spPr>
          <a:xfrm>
            <a:off x="1188720" y="2752344"/>
            <a:ext cx="4114800" cy="868680"/>
          </a:xfrm>
          <a:prstGeom prst="rect">
            <a:avLst/>
          </a:prstGeom>
          <a:noFill/>
          <a:ln/>
        </p:spPr>
        <p:txBody>
          <a:bodyPr wrap="square" lIns="0" tIns="0" rIns="0" bIns="0" rtlCol="0" anchor="ctr"/>
          <a:lstStyle/>
          <a:p>
            <a:pPr indent="0" marL="0">
              <a:buNone/>
            </a:pPr>
            <a:r>
              <a:rPr lang="en-US" sz="1600" b="1" dirty="0">
                <a:solidFill>
                  <a:srgbClr val="1E2127"/>
                </a:solidFill>
                <a:latin typeface="Cambria" pitchFamily="34" charset="0"/>
                <a:ea typeface="Cambria" pitchFamily="34" charset="-122"/>
                <a:cs typeface="Cambria" pitchFamily="34" charset="-120"/>
              </a:rPr>
              <a:t>The surrogate learns the healthy region</a:t>
            </a:r>
            <a:endParaRPr lang="en-US" sz="1600" dirty="0"/>
          </a:p>
        </p:txBody>
      </p:sp>
      <p:sp>
        <p:nvSpPr>
          <p:cNvPr id="11" name="Text 9"/>
          <p:cNvSpPr/>
          <p:nvPr/>
        </p:nvSpPr>
        <p:spPr>
          <a:xfrm>
            <a:off x="5413248" y="2752344"/>
            <a:ext cx="5989320" cy="868680"/>
          </a:xfrm>
          <a:prstGeom prst="rect">
            <a:avLst/>
          </a:prstGeom>
          <a:noFill/>
          <a:ln/>
        </p:spPr>
        <p:txBody>
          <a:bodyPr wrap="square" lIns="0" tIns="0" rIns="0" bIns="0" rtlCol="0" anchor="ctr"/>
          <a:lstStyle/>
          <a:p>
            <a:pPr indent="0" marL="0">
              <a:buNone/>
            </a:pPr>
            <a:r>
              <a:rPr lang="en-US" sz="1300" dirty="0">
                <a:solidFill>
                  <a:srgbClr val="6E757F"/>
                </a:solidFill>
                <a:latin typeface="Calibri" pitchFamily="34" charset="0"/>
                <a:ea typeface="Calibri" pitchFamily="34" charset="-122"/>
                <a:cs typeface="Calibri" pitchFamily="34" charset="-120"/>
              </a:rPr>
              <a:t>Inside it, the model interpolates — and interpolation is what these models are genuinely good at.</a:t>
            </a:r>
            <a:endParaRPr lang="en-US" sz="1300" dirty="0"/>
          </a:p>
        </p:txBody>
      </p:sp>
      <p:sp>
        <p:nvSpPr>
          <p:cNvPr id="12" name="Shape 10"/>
          <p:cNvSpPr/>
          <p:nvPr/>
        </p:nvSpPr>
        <p:spPr>
          <a:xfrm>
            <a:off x="566928" y="3721608"/>
            <a:ext cx="11027664" cy="868680"/>
          </a:xfrm>
          <a:prstGeom prst="roundRect">
            <a:avLst>
              <a:gd name="adj" fmla="val 3158"/>
            </a:avLst>
          </a:prstGeom>
          <a:solidFill>
            <a:srgbClr val="F3F4F6"/>
          </a:solidFill>
          <a:ln w="12700">
            <a:solidFill>
              <a:srgbClr val="E2E5E9"/>
            </a:solidFill>
            <a:prstDash val="solid"/>
          </a:ln>
        </p:spPr>
      </p:sp>
      <p:sp>
        <p:nvSpPr>
          <p:cNvPr id="13" name="Shape 11"/>
          <p:cNvSpPr/>
          <p:nvPr/>
        </p:nvSpPr>
        <p:spPr>
          <a:xfrm>
            <a:off x="841248" y="4069080"/>
            <a:ext cx="182880" cy="182880"/>
          </a:xfrm>
          <a:prstGeom prst="ellipse">
            <a:avLst/>
          </a:prstGeom>
          <a:solidFill>
            <a:srgbClr val="C4483A"/>
          </a:solidFill>
          <a:ln w="12700">
            <a:solidFill>
              <a:srgbClr val="C4483A"/>
            </a:solidFill>
            <a:prstDash val="solid"/>
          </a:ln>
        </p:spPr>
      </p:sp>
      <p:sp>
        <p:nvSpPr>
          <p:cNvPr id="14" name="Text 12"/>
          <p:cNvSpPr/>
          <p:nvPr/>
        </p:nvSpPr>
        <p:spPr>
          <a:xfrm>
            <a:off x="1188720" y="3721608"/>
            <a:ext cx="4114800" cy="868680"/>
          </a:xfrm>
          <a:prstGeom prst="rect">
            <a:avLst/>
          </a:prstGeom>
          <a:noFill/>
          <a:ln/>
        </p:spPr>
        <p:txBody>
          <a:bodyPr wrap="square" lIns="0" tIns="0" rIns="0" bIns="0" rtlCol="0" anchor="ctr"/>
          <a:lstStyle/>
          <a:p>
            <a:pPr indent="0" marL="0">
              <a:buNone/>
            </a:pPr>
            <a:r>
              <a:rPr lang="en-US" sz="1600" b="1" dirty="0">
                <a:solidFill>
                  <a:srgbClr val="1E2127"/>
                </a:solidFill>
                <a:latin typeface="Cambria" pitchFamily="34" charset="0"/>
                <a:ea typeface="Cambria" pitchFamily="34" charset="-122"/>
                <a:cs typeface="Cambria" pitchFamily="34" charset="-120"/>
              </a:rPr>
              <a:t>A fault is the machine leaving that region</a:t>
            </a:r>
            <a:endParaRPr lang="en-US" sz="1600" dirty="0"/>
          </a:p>
        </p:txBody>
      </p:sp>
      <p:sp>
        <p:nvSpPr>
          <p:cNvPr id="15" name="Text 13"/>
          <p:cNvSpPr/>
          <p:nvPr/>
        </p:nvSpPr>
        <p:spPr>
          <a:xfrm>
            <a:off x="5413248" y="3721608"/>
            <a:ext cx="5989320" cy="868680"/>
          </a:xfrm>
          <a:prstGeom prst="rect">
            <a:avLst/>
          </a:prstGeom>
          <a:noFill/>
          <a:ln/>
        </p:spPr>
        <p:txBody>
          <a:bodyPr wrap="square" lIns="0" tIns="0" rIns="0" bIns="0" rtlCol="0" anchor="ctr"/>
          <a:lstStyle/>
          <a:p>
            <a:pPr indent="0" marL="0">
              <a:buNone/>
            </a:pPr>
            <a:r>
              <a:rPr lang="en-US" sz="1300" dirty="0">
                <a:solidFill>
                  <a:srgbClr val="6E757F"/>
                </a:solidFill>
                <a:latin typeface="Calibri" pitchFamily="34" charset="0"/>
                <a:ea typeface="Calibri" pitchFamily="34" charset="-122"/>
                <a:cs typeface="Calibri" pitchFamily="34" charset="-120"/>
              </a:rPr>
              <a:t>By definition. A fault is the machine doing something it has not done before. That is what the word means.</a:t>
            </a:r>
            <a:endParaRPr lang="en-US" sz="1300" dirty="0"/>
          </a:p>
        </p:txBody>
      </p:sp>
      <p:sp>
        <p:nvSpPr>
          <p:cNvPr id="16" name="Shape 14"/>
          <p:cNvSpPr/>
          <p:nvPr/>
        </p:nvSpPr>
        <p:spPr>
          <a:xfrm>
            <a:off x="566928" y="4754880"/>
            <a:ext cx="11027664" cy="658368"/>
          </a:xfrm>
          <a:prstGeom prst="roundRect">
            <a:avLst>
              <a:gd name="adj" fmla="val 5556"/>
            </a:avLst>
          </a:prstGeom>
          <a:solidFill>
            <a:srgbClr val="16181C"/>
          </a:solidFill>
          <a:ln w="12700">
            <a:solidFill>
              <a:srgbClr val="16181C"/>
            </a:solidFill>
            <a:prstDash val="solid"/>
          </a:ln>
        </p:spPr>
      </p:sp>
      <p:sp>
        <p:nvSpPr>
          <p:cNvPr id="17" name="Text 15"/>
          <p:cNvSpPr/>
          <p:nvPr/>
        </p:nvSpPr>
        <p:spPr>
          <a:xfrm>
            <a:off x="886968" y="4754880"/>
            <a:ext cx="10424160" cy="658368"/>
          </a:xfrm>
          <a:prstGeom prst="rect">
            <a:avLst/>
          </a:prstGeom>
          <a:noFill/>
          <a:ln/>
        </p:spPr>
        <p:txBody>
          <a:bodyPr wrap="square" lIns="0" tIns="0" rIns="0" bIns="0" rtlCol="0" anchor="ctr"/>
          <a:lstStyle/>
          <a:p>
            <a:pPr indent="0" marL="0">
              <a:buNone/>
            </a:pPr>
            <a:r>
              <a:rPr lang="en-US" sz="1900" b="1" dirty="0">
                <a:solidFill>
                  <a:srgbClr val="E8A33D"/>
                </a:solidFill>
                <a:latin typeface="Cambria" pitchFamily="34" charset="0"/>
                <a:ea typeface="Cambria" pitchFamily="34" charset="-122"/>
                <a:cs typeface="Cambria" pitchFamily="34" charset="-120"/>
              </a:rPr>
              <a:t>So the model is excellent everywhere except the one place you bought it for.</a:t>
            </a:r>
            <a:endParaRPr lang="en-US" sz="1900" dirty="0"/>
          </a:p>
        </p:txBody>
      </p:sp>
      <p:sp>
        <p:nvSpPr>
          <p:cNvPr id="18" name="Shape 16"/>
          <p:cNvSpPr/>
          <p:nvPr/>
        </p:nvSpPr>
        <p:spPr>
          <a:xfrm>
            <a:off x="566928" y="5532120"/>
            <a:ext cx="11027664" cy="868680"/>
          </a:xfrm>
          <a:prstGeom prst="roundRect">
            <a:avLst>
              <a:gd name="adj" fmla="val 3158"/>
            </a:avLst>
          </a:prstGeom>
          <a:solidFill>
            <a:srgbClr val="F3F4F6"/>
          </a:solidFill>
          <a:ln w="19050">
            <a:solidFill>
              <a:srgbClr val="C4483A"/>
            </a:solidFill>
            <a:prstDash val="solid"/>
          </a:ln>
        </p:spPr>
      </p:sp>
      <p:sp>
        <p:nvSpPr>
          <p:cNvPr id="19" name="Text 17"/>
          <p:cNvSpPr/>
          <p:nvPr/>
        </p:nvSpPr>
        <p:spPr>
          <a:xfrm>
            <a:off x="886968" y="5532120"/>
            <a:ext cx="10424160" cy="868680"/>
          </a:xfrm>
          <a:prstGeom prst="rect">
            <a:avLst/>
          </a:prstGeom>
          <a:noFill/>
          <a:ln/>
        </p:spPr>
        <p:txBody>
          <a:bodyPr wrap="square" lIns="0" tIns="0" rIns="0" bIns="0" rtlCol="0" anchor="ctr"/>
          <a:lstStyle/>
          <a:p>
            <a:pPr indent="0" marL="0">
              <a:buNone/>
            </a:pPr>
            <a:r>
              <a:rPr lang="en-US" sz="1400" dirty="0">
                <a:solidFill>
                  <a:srgbClr val="1E2127"/>
                </a:solidFill>
                <a:latin typeface="Calibri" pitchFamily="34" charset="0"/>
                <a:ea typeface="Calibri" pitchFamily="34" charset="-122"/>
                <a:cs typeface="Calibri" pitchFamily="34" charset="-120"/>
              </a:rPr>
              <a:t>And your validation set is also normal. Hold out 20% of five years of healthy data, test on it, R² comes back 0.99 — the metric that tells you it works is computed on the data that cannot tell you it works. That is structural. No architecture fixes it.</a:t>
            </a:r>
            <a:endParaRPr lang="en-US" sz="1400" dirty="0"/>
          </a:p>
        </p:txBody>
      </p:sp>
      <p:sp>
        <p:nvSpPr>
          <p:cNvPr id="20" name="Text 18"/>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26  ·  DIGITAL TWINS  ·  THE TRAP</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6181C"/>
        </a:solidFill>
      </p:bgPr>
    </p:bg>
    <p:spTree>
      <p:nvGrpSpPr>
        <p:cNvPr id="1" name=""/>
        <p:cNvGrpSpPr/>
        <p:nvPr/>
      </p:nvGrpSpPr>
      <p:grpSpPr>
        <a:xfrm>
          <a:off x="0" y="0"/>
          <a:ext cx="0" cy="0"/>
          <a:chOff x="0" y="0"/>
          <a:chExt cx="0" cy="0"/>
        </a:xfrm>
      </p:grpSpPr>
      <p:sp>
        <p:nvSpPr>
          <p:cNvPr id="2" name="Text 0"/>
          <p:cNvSpPr/>
          <p:nvPr/>
        </p:nvSpPr>
        <p:spPr>
          <a:xfrm>
            <a:off x="566928" y="822960"/>
            <a:ext cx="9144000" cy="201168"/>
          </a:xfrm>
          <a:prstGeom prst="rect">
            <a:avLst/>
          </a:prstGeom>
          <a:noFill/>
          <a:ln/>
        </p:spPr>
        <p:txBody>
          <a:bodyPr wrap="square" lIns="0" tIns="0" rIns="0" bIns="0" rtlCol="0" anchor="ctr"/>
          <a:lstStyle/>
          <a:p>
            <a:pPr indent="0" marL="0">
              <a:buNone/>
            </a:pPr>
            <a:r>
              <a:rPr lang="en-US" sz="1000" spc="220" kern="0" dirty="0">
                <a:solidFill>
                  <a:srgbClr val="E8A33D"/>
                </a:solidFill>
                <a:latin typeface="Courier New" pitchFamily="34" charset="0"/>
                <a:ea typeface="Courier New" pitchFamily="34" charset="-122"/>
                <a:cs typeface="Courier New" pitchFamily="34" charset="-120"/>
              </a:rPr>
              <a:t>PART 4  ·  DEMO TWO — A TWIN, HELD TO ITS OWN TEST</a:t>
            </a:r>
            <a:endParaRPr lang="en-US" sz="1000" dirty="0"/>
          </a:p>
        </p:txBody>
      </p:sp>
      <p:sp>
        <p:nvSpPr>
          <p:cNvPr id="3" name="Text 1"/>
          <p:cNvSpPr/>
          <p:nvPr/>
        </p:nvSpPr>
        <p:spPr>
          <a:xfrm>
            <a:off x="566928" y="1143000"/>
            <a:ext cx="768096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Live Condition Monitoring</a:t>
            </a:r>
            <a:endParaRPr lang="en-US" sz="3800" dirty="0"/>
          </a:p>
        </p:txBody>
      </p:sp>
      <p:sp>
        <p:nvSpPr>
          <p:cNvPr id="4" name="Text 2"/>
          <p:cNvSpPr/>
          <p:nvPr/>
        </p:nvSpPr>
        <p:spPr>
          <a:xfrm>
            <a:off x="566928" y="2103120"/>
            <a:ext cx="6766560" cy="365760"/>
          </a:xfrm>
          <a:prstGeom prst="rect">
            <a:avLst/>
          </a:prstGeom>
          <a:noFill/>
          <a:ln/>
        </p:spPr>
        <p:txBody>
          <a:bodyPr wrap="square" lIns="0" tIns="0" rIns="0" bIns="0" rtlCol="0" anchor="ctr"/>
          <a:lstStyle/>
          <a:p>
            <a:pPr indent="0" marL="0">
              <a:buNone/>
            </a:pPr>
            <a:r>
              <a:rPr lang="en-US" sz="1400" dirty="0">
                <a:solidFill>
                  <a:srgbClr val="E8A33D"/>
                </a:solidFill>
                <a:latin typeface="Courier New" pitchFamily="34" charset="0"/>
                <a:ea typeface="Courier New" pitchFamily="34" charset="-122"/>
                <a:cs typeface="Courier New" pitchFamily="34" charset="-120"/>
              </a:rPr>
              <a:t>kiranic.com/lecture/live-monitor.html</a:t>
            </a:r>
            <a:endParaRPr lang="en-US" sz="1400" dirty="0"/>
          </a:p>
        </p:txBody>
      </p:sp>
      <p:sp>
        <p:nvSpPr>
          <p:cNvPr id="5" name="Text 3"/>
          <p:cNvSpPr/>
          <p:nvPr/>
        </p:nvSpPr>
        <p:spPr>
          <a:xfrm>
            <a:off x="566928" y="2606040"/>
            <a:ext cx="6675120" cy="1234440"/>
          </a:xfrm>
          <a:prstGeom prst="rect">
            <a:avLst/>
          </a:prstGeom>
          <a:noFill/>
          <a:ln/>
        </p:spPr>
        <p:txBody>
          <a:bodyPr wrap="square" lIns="0" tIns="0" rIns="0" bIns="0" rtlCol="0" anchor="ctr"/>
          <a:lstStyle/>
          <a:p>
            <a:pPr indent="0" marL="0">
              <a:buNone/>
            </a:pPr>
            <a:r>
              <a:rPr lang="en-US" sz="1500" dirty="0">
                <a:solidFill>
                  <a:srgbClr val="8A929C"/>
                </a:solidFill>
                <a:latin typeface="Calibri" pitchFamily="34" charset="0"/>
                <a:ea typeface="Calibri" pitchFamily="34" charset="-122"/>
                <a:cs typeface="Calibri" pitchFamily="34" charset="-120"/>
              </a:rPr>
              <a:t>This is a level-one twin. There is no training data anywhere in it. It runs the bearing model from Part 2 forward in time — ball count and pitch diameter give BPFO, impacts ring the housing resonance, the spall grows — and computes what the accelerometer would see.</a:t>
            </a:r>
            <a:endParaRPr lang="en-US" sz="1500" dirty="0"/>
          </a:p>
        </p:txBody>
      </p:sp>
      <p:sp>
        <p:nvSpPr>
          <p:cNvPr id="6" name="Shape 4"/>
          <p:cNvSpPr/>
          <p:nvPr/>
        </p:nvSpPr>
        <p:spPr>
          <a:xfrm>
            <a:off x="7360920" y="1143000"/>
            <a:ext cx="4233672" cy="1417320"/>
          </a:xfrm>
          <a:prstGeom prst="roundRect">
            <a:avLst>
              <a:gd name="adj" fmla="val 2581"/>
            </a:avLst>
          </a:prstGeom>
          <a:solidFill>
            <a:srgbClr val="22262E"/>
          </a:solidFill>
          <a:ln w="19050">
            <a:solidFill>
              <a:srgbClr val="3FB6A8"/>
            </a:solidFill>
            <a:prstDash val="solid"/>
          </a:ln>
        </p:spPr>
      </p:sp>
      <p:sp>
        <p:nvSpPr>
          <p:cNvPr id="7" name="Text 5"/>
          <p:cNvSpPr/>
          <p:nvPr/>
        </p:nvSpPr>
        <p:spPr>
          <a:xfrm>
            <a:off x="7589520" y="1325880"/>
            <a:ext cx="3749040" cy="201168"/>
          </a:xfrm>
          <a:prstGeom prst="rect">
            <a:avLst/>
          </a:prstGeom>
          <a:noFill/>
          <a:ln/>
        </p:spPr>
        <p:txBody>
          <a:bodyPr wrap="square" lIns="0" tIns="0" rIns="0" bIns="0" rtlCol="0" anchor="ctr"/>
          <a:lstStyle/>
          <a:p>
            <a:pPr indent="0" marL="0">
              <a:buNone/>
            </a:pPr>
            <a:r>
              <a:rPr lang="en-US" sz="1000" spc="220" kern="0" dirty="0">
                <a:solidFill>
                  <a:srgbClr val="3FB6A8"/>
                </a:solidFill>
                <a:latin typeface="Courier New" pitchFamily="34" charset="0"/>
                <a:ea typeface="Courier New" pitchFamily="34" charset="-122"/>
                <a:cs typeface="Courier New" pitchFamily="34" charset="-120"/>
              </a:rPr>
              <a:t>WHAT IT PREDICTS A HUMAN COULD NOT</a:t>
            </a:r>
            <a:endParaRPr lang="en-US" sz="1000" dirty="0"/>
          </a:p>
        </p:txBody>
      </p:sp>
      <p:sp>
        <p:nvSpPr>
          <p:cNvPr id="8" name="Text 6"/>
          <p:cNvSpPr/>
          <p:nvPr/>
        </p:nvSpPr>
        <p:spPr>
          <a:xfrm>
            <a:off x="7589520" y="1600200"/>
            <a:ext cx="3794760" cy="8686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Days-to-fault for MTR-402. A falsifiable claim about the future — you wait, and you see.</a:t>
            </a:r>
            <a:endParaRPr lang="en-US" sz="1350" dirty="0"/>
          </a:p>
        </p:txBody>
      </p:sp>
      <p:sp>
        <p:nvSpPr>
          <p:cNvPr id="9" name="Shape 7"/>
          <p:cNvSpPr/>
          <p:nvPr/>
        </p:nvSpPr>
        <p:spPr>
          <a:xfrm>
            <a:off x="7360920" y="2697480"/>
            <a:ext cx="4233672" cy="1417320"/>
          </a:xfrm>
          <a:prstGeom prst="roundRect">
            <a:avLst>
              <a:gd name="adj" fmla="val 2581"/>
            </a:avLst>
          </a:prstGeom>
          <a:solidFill>
            <a:srgbClr val="22262E"/>
          </a:solidFill>
          <a:ln w="19050">
            <a:solidFill>
              <a:srgbClr val="C4483A"/>
            </a:solidFill>
            <a:prstDash val="solid"/>
          </a:ln>
        </p:spPr>
      </p:sp>
      <p:sp>
        <p:nvSpPr>
          <p:cNvPr id="10" name="Text 8"/>
          <p:cNvSpPr/>
          <p:nvPr/>
        </p:nvSpPr>
        <p:spPr>
          <a:xfrm>
            <a:off x="7589520" y="2880360"/>
            <a:ext cx="3749040" cy="201168"/>
          </a:xfrm>
          <a:prstGeom prst="rect">
            <a:avLst/>
          </a:prstGeom>
          <a:noFill/>
          <a:ln/>
        </p:spPr>
        <p:txBody>
          <a:bodyPr wrap="square" lIns="0" tIns="0" rIns="0" bIns="0" rtlCol="0" anchor="ctr"/>
          <a:lstStyle/>
          <a:p>
            <a:pPr indent="0" marL="0">
              <a:buNone/>
            </a:pPr>
            <a:r>
              <a:rPr lang="en-US" sz="1000" spc="220" kern="0" dirty="0">
                <a:solidFill>
                  <a:srgbClr val="C4483A"/>
                </a:solidFill>
                <a:latin typeface="Courier New" pitchFamily="34" charset="0"/>
                <a:ea typeface="Courier New" pitchFamily="34" charset="-122"/>
                <a:cs typeface="Courier New" pitchFamily="34" charset="-120"/>
              </a:rPr>
              <a:t>HOW WELL IT DOES</a:t>
            </a:r>
            <a:endParaRPr lang="en-US" sz="1000" dirty="0"/>
          </a:p>
        </p:txBody>
      </p:sp>
      <p:sp>
        <p:nvSpPr>
          <p:cNvPr id="11" name="Text 9"/>
          <p:cNvSpPr/>
          <p:nvPr/>
        </p:nvSpPr>
        <p:spPr>
          <a:xfrm>
            <a:off x="7589520" y="3154680"/>
            <a:ext cx="3794760" cy="86868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Confidently wrong early, swinging between numbers. It settles only once you could already read it off the chart.</a:t>
            </a:r>
            <a:endParaRPr lang="en-US" sz="1350" dirty="0"/>
          </a:p>
        </p:txBody>
      </p:sp>
      <p:sp>
        <p:nvSpPr>
          <p:cNvPr id="12" name="Shape 10"/>
          <p:cNvSpPr/>
          <p:nvPr/>
        </p:nvSpPr>
        <p:spPr>
          <a:xfrm>
            <a:off x="7360920" y="4251960"/>
            <a:ext cx="4233672" cy="914400"/>
          </a:xfrm>
          <a:prstGeom prst="roundRect">
            <a:avLst>
              <a:gd name="adj" fmla="val 4000"/>
            </a:avLst>
          </a:prstGeom>
          <a:solidFill>
            <a:srgbClr val="16181C"/>
          </a:solidFill>
          <a:ln w="12700">
            <a:solidFill>
              <a:srgbClr val="343A44"/>
            </a:solidFill>
            <a:prstDash val="solid"/>
          </a:ln>
        </p:spPr>
      </p:sp>
      <p:sp>
        <p:nvSpPr>
          <p:cNvPr id="13" name="Text 11"/>
          <p:cNvSpPr/>
          <p:nvPr/>
        </p:nvSpPr>
        <p:spPr>
          <a:xfrm>
            <a:off x="7589520" y="4251960"/>
            <a:ext cx="3794760" cy="914400"/>
          </a:xfrm>
          <a:prstGeom prst="rect">
            <a:avLst/>
          </a:prstGeom>
          <a:noFill/>
          <a:ln/>
        </p:spPr>
        <p:txBody>
          <a:bodyPr wrap="square" lIns="0" tIns="0" rIns="0" bIns="0" rtlCol="0" anchor="ctr"/>
          <a:lstStyle/>
          <a:p>
            <a:pPr indent="0" marL="0">
              <a:buNone/>
            </a:pPr>
            <a:r>
              <a:rPr lang="en-US" sz="1150" dirty="0">
                <a:solidFill>
                  <a:srgbClr val="E8A33D"/>
                </a:solidFill>
                <a:latin typeface="Courier New" pitchFamily="34" charset="0"/>
                <a:ea typeface="Courier New" pitchFamily="34" charset="-122"/>
                <a:cs typeface="Courier New" pitchFamily="34" charset="-120"/>
              </a:rPr>
              <a:t>Threshold 8:  0 false alarms, 22 d warning</a:t>
            </a:r>
            <a:endParaRPr lang="en-US" sz="1150" dirty="0"/>
          </a:p>
          <a:p>
            <a:pPr indent="0" marL="0">
              <a:buNone/>
            </a:pPr>
            <a:r>
              <a:rPr lang="en-US" sz="1150" dirty="0">
                <a:solidFill>
                  <a:srgbClr val="E8A33D"/>
                </a:solidFill>
                <a:latin typeface="Courier New" pitchFamily="34" charset="0"/>
                <a:ea typeface="Courier New" pitchFamily="34" charset="-122"/>
                <a:cs typeface="Courier New" pitchFamily="34" charset="-120"/>
              </a:rPr>
              <a:t>Threshold 2:  4–5 per 30 d, 38–46 d warning</a:t>
            </a:r>
            <a:endParaRPr lang="en-US" sz="1150" dirty="0"/>
          </a:p>
        </p:txBody>
      </p:sp>
      <p:sp>
        <p:nvSpPr>
          <p:cNvPr id="14" name="Shape 12"/>
          <p:cNvSpPr/>
          <p:nvPr/>
        </p:nvSpPr>
        <p:spPr>
          <a:xfrm>
            <a:off x="566928" y="5394960"/>
            <a:ext cx="11027664" cy="777240"/>
          </a:xfrm>
          <a:prstGeom prst="roundRect">
            <a:avLst>
              <a:gd name="adj" fmla="val 4706"/>
            </a:avLst>
          </a:prstGeom>
          <a:solidFill>
            <a:srgbClr val="22262E"/>
          </a:solidFill>
          <a:ln w="12700">
            <a:solidFill>
              <a:srgbClr val="22262E"/>
            </a:solidFill>
            <a:prstDash val="solid"/>
          </a:ln>
        </p:spPr>
      </p:sp>
      <p:sp>
        <p:nvSpPr>
          <p:cNvPr id="15" name="Text 13"/>
          <p:cNvSpPr/>
          <p:nvPr/>
        </p:nvSpPr>
        <p:spPr>
          <a:xfrm>
            <a:off x="886968" y="5394960"/>
            <a:ext cx="10424160" cy="7772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 left the projection crude deliberately. That is the honest state of most remaining-life numbers in the field — better you distrust them for the right reason than trust them for the wrong one.</a:t>
            </a:r>
            <a:endParaRPr lang="en-US" sz="1400" dirty="0"/>
          </a:p>
        </p:txBody>
      </p:sp>
      <p:sp>
        <p:nvSpPr>
          <p:cNvPr id="16" name="Text 14"/>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8A929C"/>
                </a:solidFill>
                <a:latin typeface="Courier New" pitchFamily="34" charset="0"/>
                <a:ea typeface="Courier New" pitchFamily="34" charset="-122"/>
                <a:cs typeface="Courier New" pitchFamily="34" charset="-120"/>
              </a:rPr>
              <a:t>27  ·  DIGITAL TWINS  ·  DEMO TWO</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PART 4  ·  AND WHAT TO DO ABOUT IT</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I hit this wall in my own house</a:t>
            </a:r>
            <a:endParaRPr lang="en-US" sz="3400" dirty="0"/>
          </a:p>
        </p:txBody>
      </p:sp>
      <p:sp>
        <p:nvSpPr>
          <p:cNvPr id="4" name="Shape 2"/>
          <p:cNvSpPr/>
          <p:nvPr/>
        </p:nvSpPr>
        <p:spPr>
          <a:xfrm>
            <a:off x="566928" y="1783080"/>
            <a:ext cx="5394960" cy="2423160"/>
          </a:xfrm>
          <a:prstGeom prst="roundRect">
            <a:avLst>
              <a:gd name="adj" fmla="val 1132"/>
            </a:avLst>
          </a:prstGeom>
          <a:solidFill>
            <a:srgbClr val="F3F4F6"/>
          </a:solidFill>
          <a:ln w="19050">
            <a:solidFill>
              <a:srgbClr val="C4483A"/>
            </a:solidFill>
            <a:prstDash val="solid"/>
          </a:ln>
        </p:spPr>
      </p:sp>
      <p:sp>
        <p:nvSpPr>
          <p:cNvPr id="5" name="Text 3"/>
          <p:cNvSpPr/>
          <p:nvPr/>
        </p:nvSpPr>
        <p:spPr>
          <a:xfrm>
            <a:off x="841248" y="1993392"/>
            <a:ext cx="4572000" cy="201168"/>
          </a:xfrm>
          <a:prstGeom prst="rect">
            <a:avLst/>
          </a:prstGeom>
          <a:noFill/>
          <a:ln/>
        </p:spPr>
        <p:txBody>
          <a:bodyPr wrap="square" lIns="0" tIns="0" rIns="0" bIns="0" rtlCol="0" anchor="ctr"/>
          <a:lstStyle/>
          <a:p>
            <a:pPr indent="0" marL="0">
              <a:buNone/>
            </a:pPr>
            <a:r>
              <a:rPr lang="en-US" sz="1000" spc="220" kern="0" dirty="0">
                <a:solidFill>
                  <a:srgbClr val="C4483A"/>
                </a:solidFill>
                <a:latin typeface="Courier New" pitchFamily="34" charset="0"/>
                <a:ea typeface="Courier New" pitchFamily="34" charset="-122"/>
                <a:cs typeface="Courier New" pitchFamily="34" charset="-120"/>
              </a:rPr>
              <a:t>THE WALL</a:t>
            </a:r>
            <a:endParaRPr lang="en-US" sz="1000" dirty="0"/>
          </a:p>
        </p:txBody>
      </p:sp>
      <p:sp>
        <p:nvSpPr>
          <p:cNvPr id="6" name="Text 4"/>
          <p:cNvSpPr/>
          <p:nvPr/>
        </p:nvSpPr>
        <p:spPr>
          <a:xfrm>
            <a:off x="841248" y="2304288"/>
            <a:ext cx="4846320" cy="1783080"/>
          </a:xfrm>
          <a:prstGeom prst="rect">
            <a:avLst/>
          </a:prstGeom>
          <a:noFill/>
          <a:ln/>
        </p:spPr>
        <p:txBody>
          <a:bodyPr wrap="square" lIns="0" tIns="0" rIns="0" bIns="0" rtlCol="0" anchor="t"/>
          <a:lstStyle/>
          <a:p>
            <a:pPr indent="0" marL="0">
              <a:lnSpc>
                <a:spcPct val="115000"/>
              </a:lnSpc>
              <a:buNone/>
            </a:pPr>
            <a:r>
              <a:rPr lang="en-US" sz="1400" dirty="0">
                <a:solidFill>
                  <a:srgbClr val="1E2127"/>
                </a:solidFill>
                <a:latin typeface="Calibri" pitchFamily="34" charset="0"/>
                <a:ea typeface="Calibri" pitchFamily="34" charset="-122"/>
                <a:cs typeface="Calibri" pitchFamily="34" charset="-120"/>
              </a:rPr>
              <a:t>A Raspberry Pi at home reads light, motion, temperature and proximity sensors and drives the automation. Sensors, controller, actuators — instrumentation at domestic scale.</a:t>
            </a:r>
            <a:endParaRPr lang="en-US" sz="1400" dirty="0"/>
          </a:p>
          <a:p>
            <a:pPr indent="0" marL="0">
              <a:lnSpc>
                <a:spcPct val="115000"/>
              </a:lnSpc>
              <a:buNone/>
            </a:pPr>
            <a:endParaRPr lang="en-US" sz="1400" dirty="0"/>
          </a:p>
          <a:p>
            <a:pPr indent="0" marL="0">
              <a:lnSpc>
                <a:spcPct val="115000"/>
              </a:lnSpc>
              <a:buNone/>
            </a:pPr>
            <a:r>
              <a:rPr lang="en-US" sz="1400" dirty="0">
                <a:solidFill>
                  <a:srgbClr val="1E2127"/>
                </a:solidFill>
                <a:latin typeface="Calibri" pitchFamily="34" charset="0"/>
                <a:ea typeface="Calibri" pitchFamily="34" charset="-122"/>
                <a:cs typeface="Calibri" pitchFamily="34" charset="-120"/>
              </a:rPr>
              <a:t>I am exploring a data-driven surrogate on its history. Which means years of normal and not one failure.</a:t>
            </a:r>
            <a:endParaRPr lang="en-US" sz="1400" dirty="0"/>
          </a:p>
        </p:txBody>
      </p:sp>
      <p:sp>
        <p:nvSpPr>
          <p:cNvPr id="7" name="Shape 5"/>
          <p:cNvSpPr/>
          <p:nvPr/>
        </p:nvSpPr>
        <p:spPr>
          <a:xfrm>
            <a:off x="6236208" y="1783080"/>
            <a:ext cx="5358384" cy="2423160"/>
          </a:xfrm>
          <a:prstGeom prst="roundRect">
            <a:avLst>
              <a:gd name="adj" fmla="val 1132"/>
            </a:avLst>
          </a:prstGeom>
          <a:solidFill>
            <a:srgbClr val="F3F4F6"/>
          </a:solidFill>
          <a:ln w="19050">
            <a:solidFill>
              <a:srgbClr val="3FB6A8"/>
            </a:solidFill>
            <a:prstDash val="solid"/>
          </a:ln>
        </p:spPr>
      </p:sp>
      <p:sp>
        <p:nvSpPr>
          <p:cNvPr id="8" name="Text 6"/>
          <p:cNvSpPr/>
          <p:nvPr/>
        </p:nvSpPr>
        <p:spPr>
          <a:xfrm>
            <a:off x="6510528" y="1993392"/>
            <a:ext cx="4572000" cy="201168"/>
          </a:xfrm>
          <a:prstGeom prst="rect">
            <a:avLst/>
          </a:prstGeom>
          <a:noFill/>
          <a:ln/>
        </p:spPr>
        <p:txBody>
          <a:bodyPr wrap="square" lIns="0" tIns="0" rIns="0" bIns="0" rtlCol="0" anchor="ctr"/>
          <a:lstStyle/>
          <a:p>
            <a:pPr indent="0" marL="0">
              <a:buNone/>
            </a:pPr>
            <a:r>
              <a:rPr lang="en-US" sz="1000" spc="220" kern="0" dirty="0">
                <a:solidFill>
                  <a:srgbClr val="3FB6A8"/>
                </a:solidFill>
                <a:latin typeface="Courier New" pitchFamily="34" charset="0"/>
                <a:ea typeface="Courier New" pitchFamily="34" charset="-122"/>
                <a:cs typeface="Courier New" pitchFamily="34" charset="-120"/>
              </a:rPr>
              <a:t>THE HONEST RESPONSE</a:t>
            </a:r>
            <a:endParaRPr lang="en-US" sz="1000" dirty="0"/>
          </a:p>
        </p:txBody>
      </p:sp>
      <p:sp>
        <p:nvSpPr>
          <p:cNvPr id="9" name="Text 7"/>
          <p:cNvSpPr/>
          <p:nvPr/>
        </p:nvSpPr>
        <p:spPr>
          <a:xfrm>
            <a:off x="6510528" y="2304288"/>
            <a:ext cx="4809744" cy="1783080"/>
          </a:xfrm>
          <a:prstGeom prst="rect">
            <a:avLst/>
          </a:prstGeom>
          <a:noFill/>
          <a:ln/>
        </p:spPr>
        <p:txBody>
          <a:bodyPr wrap="square" lIns="0" tIns="0" rIns="0" bIns="0" rtlCol="0" anchor="t"/>
          <a:lstStyle/>
          <a:p>
            <a:pPr indent="0" marL="0">
              <a:lnSpc>
                <a:spcPct val="115000"/>
              </a:lnSpc>
              <a:buNone/>
            </a:pPr>
            <a:r>
              <a:rPr lang="en-US" sz="1400" dirty="0">
                <a:solidFill>
                  <a:srgbClr val="1E2127"/>
                </a:solidFill>
                <a:latin typeface="Calibri" pitchFamily="34" charset="0"/>
                <a:ea typeface="Calibri" pitchFamily="34" charset="-122"/>
                <a:cs typeface="Calibri" pitchFamily="34" charset="-120"/>
              </a:rPr>
              <a:t>Stop trying to model the fault. Model NORMAL — learn what healthy looks like in detail, from the data you actually have, which is all healthy.</a:t>
            </a:r>
            <a:endParaRPr lang="en-US" sz="1400" dirty="0"/>
          </a:p>
          <a:p>
            <a:pPr indent="0" marL="0">
              <a:lnSpc>
                <a:spcPct val="115000"/>
              </a:lnSpc>
              <a:buNone/>
            </a:pPr>
            <a:endParaRPr lang="en-US" sz="1400" dirty="0"/>
          </a:p>
          <a:p>
            <a:pPr indent="0" marL="0">
              <a:lnSpc>
                <a:spcPct val="115000"/>
              </a:lnSpc>
              <a:buNone/>
            </a:pPr>
            <a:r>
              <a:rPr lang="en-US" sz="1400" dirty="0">
                <a:solidFill>
                  <a:srgbClr val="1E2127"/>
                </a:solidFill>
                <a:latin typeface="Calibri" pitchFamily="34" charset="0"/>
                <a:ea typeface="Calibri" pitchFamily="34" charset="-122"/>
                <a:cs typeface="Calibri" pitchFamily="34" charset="-120"/>
              </a:rPr>
              <a:t>Then measure distance from it, and alarm on the distance.</a:t>
            </a:r>
            <a:endParaRPr lang="en-US" sz="1400" dirty="0"/>
          </a:p>
        </p:txBody>
      </p:sp>
      <p:sp>
        <p:nvSpPr>
          <p:cNvPr id="10" name="Shape 8"/>
          <p:cNvSpPr/>
          <p:nvPr/>
        </p:nvSpPr>
        <p:spPr>
          <a:xfrm>
            <a:off x="566928" y="4434840"/>
            <a:ext cx="11027664" cy="822960"/>
          </a:xfrm>
          <a:prstGeom prst="roundRect">
            <a:avLst>
              <a:gd name="adj" fmla="val 4444"/>
            </a:avLst>
          </a:prstGeom>
          <a:solidFill>
            <a:srgbClr val="16181C"/>
          </a:solidFill>
          <a:ln w="12700">
            <a:solidFill>
              <a:srgbClr val="16181C"/>
            </a:solidFill>
            <a:prstDash val="solid"/>
          </a:ln>
        </p:spPr>
      </p:sp>
      <p:sp>
        <p:nvSpPr>
          <p:cNvPr id="11" name="Text 9"/>
          <p:cNvSpPr/>
          <p:nvPr/>
        </p:nvSpPr>
        <p:spPr>
          <a:xfrm>
            <a:off x="886968" y="4434840"/>
            <a:ext cx="10424160" cy="822960"/>
          </a:xfrm>
          <a:prstGeom prst="rect">
            <a:avLst/>
          </a:prstGeom>
          <a:noFill/>
          <a:ln/>
        </p:spPr>
        <p:txBody>
          <a:bodyPr wrap="square" lIns="0" tIns="0" rIns="0" bIns="0" rtlCol="0" anchor="ctr"/>
          <a:lstStyle/>
          <a:p>
            <a:pPr indent="0" marL="0">
              <a:buNone/>
            </a:pPr>
            <a:r>
              <a:rPr lang="en-US" sz="1900" b="1" dirty="0">
                <a:solidFill>
                  <a:srgbClr val="E8A33D"/>
                </a:solidFill>
                <a:latin typeface="Cambria" pitchFamily="34" charset="0"/>
                <a:ea typeface="Cambria" pitchFamily="34" charset="-122"/>
                <a:cs typeface="Cambria" pitchFamily="34" charset="-120"/>
              </a:rPr>
              <a:t>You do not need to have seen a failure to know that today does not look like any day you have seen before.</a:t>
            </a:r>
            <a:endParaRPr lang="en-US" sz="1900" dirty="0"/>
          </a:p>
        </p:txBody>
      </p:sp>
      <p:sp>
        <p:nvSpPr>
          <p:cNvPr id="12" name="Shape 10"/>
          <p:cNvSpPr/>
          <p:nvPr/>
        </p:nvSpPr>
        <p:spPr>
          <a:xfrm>
            <a:off x="566928" y="5440680"/>
            <a:ext cx="11027664" cy="868680"/>
          </a:xfrm>
          <a:prstGeom prst="roundRect">
            <a:avLst>
              <a:gd name="adj" fmla="val 3158"/>
            </a:avLst>
          </a:prstGeom>
          <a:solidFill>
            <a:srgbClr val="F3F4F6"/>
          </a:solidFill>
          <a:ln w="12700">
            <a:solidFill>
              <a:srgbClr val="E2E5E9"/>
            </a:solidFill>
            <a:prstDash val="solid"/>
          </a:ln>
        </p:spPr>
      </p:sp>
      <p:sp>
        <p:nvSpPr>
          <p:cNvPr id="13" name="Text 11"/>
          <p:cNvSpPr/>
          <p:nvPr/>
        </p:nvSpPr>
        <p:spPr>
          <a:xfrm>
            <a:off x="886968" y="5440680"/>
            <a:ext cx="10424160" cy="868680"/>
          </a:xfrm>
          <a:prstGeom prst="rect">
            <a:avLst/>
          </a:prstGeom>
          <a:noFill/>
          <a:ln/>
        </p:spPr>
        <p:txBody>
          <a:bodyPr wrap="square" lIns="0" tIns="0" rIns="0" bIns="0" rtlCol="0" anchor="ctr"/>
          <a:lstStyle/>
          <a:p>
            <a:pPr indent="0" marL="0">
              <a:buNone/>
            </a:pPr>
            <a:r>
              <a:rPr lang="en-US" sz="1400" dirty="0">
                <a:solidFill>
                  <a:srgbClr val="1E2127"/>
                </a:solidFill>
                <a:latin typeface="Calibri" pitchFamily="34" charset="0"/>
                <a:ea typeface="Calibri" pitchFamily="34" charset="-122"/>
                <a:cs typeface="Calibri" pitchFamily="34" charset="-120"/>
              </a:rPr>
              <a:t>That is Framing B from Part 2, and this is why it wins: it matches the data that exists rather than the data you wish you had. A twin that says "this is not normal, and here is which sensor is furthest out" is worth more than one claiming to predict a failure mode it has never observed.</a:t>
            </a:r>
            <a:endParaRPr lang="en-US" sz="1400" dirty="0"/>
          </a:p>
        </p:txBody>
      </p:sp>
      <p:sp>
        <p:nvSpPr>
          <p:cNvPr id="14" name="Text 12"/>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28  ·  DIGITAL TWINS  ·  THE RESPONSE</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PART 4  ·  PHOTOGRAPH THIS SLIDE</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What to learn, in this order</a:t>
            </a:r>
            <a:endParaRPr lang="en-US" sz="3400" dirty="0"/>
          </a:p>
        </p:txBody>
      </p:sp>
      <p:sp>
        <p:nvSpPr>
          <p:cNvPr id="4" name="Shape 2"/>
          <p:cNvSpPr/>
          <p:nvPr/>
        </p:nvSpPr>
        <p:spPr>
          <a:xfrm>
            <a:off x="566928" y="1819656"/>
            <a:ext cx="384048" cy="384048"/>
          </a:xfrm>
          <a:prstGeom prst="ellipse">
            <a:avLst/>
          </a:prstGeom>
          <a:solidFill>
            <a:srgbClr val="C4483A"/>
          </a:solidFill>
          <a:ln w="12700">
            <a:solidFill>
              <a:srgbClr val="C4483A"/>
            </a:solidFill>
            <a:prstDash val="solid"/>
          </a:ln>
        </p:spPr>
      </p:sp>
      <p:sp>
        <p:nvSpPr>
          <p:cNvPr id="5" name="Text 3"/>
          <p:cNvSpPr/>
          <p:nvPr/>
        </p:nvSpPr>
        <p:spPr>
          <a:xfrm>
            <a:off x="566928" y="1819656"/>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1</a:t>
            </a:r>
            <a:endParaRPr lang="en-US" sz="1300" dirty="0"/>
          </a:p>
        </p:txBody>
      </p:sp>
      <p:sp>
        <p:nvSpPr>
          <p:cNvPr id="6" name="Text 4"/>
          <p:cNvSpPr/>
          <p:nvPr/>
        </p:nvSpPr>
        <p:spPr>
          <a:xfrm>
            <a:off x="1188720" y="1783080"/>
            <a:ext cx="3383280" cy="457200"/>
          </a:xfrm>
          <a:prstGeom prst="rect">
            <a:avLst/>
          </a:prstGeom>
          <a:noFill/>
          <a:ln/>
        </p:spPr>
        <p:txBody>
          <a:bodyPr wrap="square" lIns="0" tIns="0" rIns="0" bIns="0" rtlCol="0" anchor="ctr"/>
          <a:lstStyle/>
          <a:p>
            <a:pPr indent="0" marL="0">
              <a:buNone/>
            </a:pPr>
            <a:r>
              <a:rPr lang="en-US" sz="1600" b="1" dirty="0">
                <a:solidFill>
                  <a:srgbClr val="1E2127"/>
                </a:solidFill>
                <a:latin typeface="Cambria" pitchFamily="34" charset="0"/>
                <a:ea typeface="Cambria" pitchFamily="34" charset="-122"/>
                <a:cs typeface="Cambria" pitchFamily="34" charset="-120"/>
              </a:rPr>
              <a:t>Statistics</a:t>
            </a:r>
            <a:endParaRPr lang="en-US" sz="1600" dirty="0"/>
          </a:p>
        </p:txBody>
      </p:sp>
      <p:sp>
        <p:nvSpPr>
          <p:cNvPr id="7" name="Text 5"/>
          <p:cNvSpPr/>
          <p:nvPr/>
        </p:nvSpPr>
        <p:spPr>
          <a:xfrm>
            <a:off x="4681728" y="1783080"/>
            <a:ext cx="6903720" cy="457200"/>
          </a:xfrm>
          <a:prstGeom prst="rect">
            <a:avLst/>
          </a:prstGeom>
          <a:noFill/>
          <a:ln/>
        </p:spPr>
        <p:txBody>
          <a:bodyPr wrap="square" lIns="0" tIns="0" rIns="0" bIns="0" rtlCol="0" anchor="ctr"/>
          <a:lstStyle/>
          <a:p>
            <a:pPr indent="0" marL="0">
              <a:buNone/>
            </a:pPr>
            <a:r>
              <a:rPr lang="en-US" sz="1250" dirty="0">
                <a:solidFill>
                  <a:srgbClr val="6E757F"/>
                </a:solidFill>
                <a:latin typeface="Calibri" pitchFamily="34" charset="0"/>
                <a:ea typeface="Calibri" pitchFamily="34" charset="-122"/>
                <a:cs typeface="Calibri" pitchFamily="34" charset="-120"/>
              </a:rPr>
              <a:t>The biggest hole in your degree — no probability or statistics course exists in eight semesters. Everything about thresholds and error rates is statistics.</a:t>
            </a:r>
            <a:endParaRPr lang="en-US" sz="1250" dirty="0"/>
          </a:p>
        </p:txBody>
      </p:sp>
      <p:sp>
        <p:nvSpPr>
          <p:cNvPr id="8" name="Shape 6"/>
          <p:cNvSpPr/>
          <p:nvPr/>
        </p:nvSpPr>
        <p:spPr>
          <a:xfrm>
            <a:off x="566928" y="2478024"/>
            <a:ext cx="384048" cy="384048"/>
          </a:xfrm>
          <a:prstGeom prst="ellipse">
            <a:avLst/>
          </a:prstGeom>
          <a:solidFill>
            <a:srgbClr val="E8A33D"/>
          </a:solidFill>
          <a:ln w="12700">
            <a:solidFill>
              <a:srgbClr val="E8A33D"/>
            </a:solidFill>
            <a:prstDash val="solid"/>
          </a:ln>
        </p:spPr>
      </p:sp>
      <p:sp>
        <p:nvSpPr>
          <p:cNvPr id="9" name="Text 7"/>
          <p:cNvSpPr/>
          <p:nvPr/>
        </p:nvSpPr>
        <p:spPr>
          <a:xfrm>
            <a:off x="566928" y="2478024"/>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2</a:t>
            </a:r>
            <a:endParaRPr lang="en-US" sz="1300" dirty="0"/>
          </a:p>
        </p:txBody>
      </p:sp>
      <p:sp>
        <p:nvSpPr>
          <p:cNvPr id="10" name="Text 8"/>
          <p:cNvSpPr/>
          <p:nvPr/>
        </p:nvSpPr>
        <p:spPr>
          <a:xfrm>
            <a:off x="1188720" y="2441448"/>
            <a:ext cx="3383280" cy="457200"/>
          </a:xfrm>
          <a:prstGeom prst="rect">
            <a:avLst/>
          </a:prstGeom>
          <a:noFill/>
          <a:ln/>
        </p:spPr>
        <p:txBody>
          <a:bodyPr wrap="square" lIns="0" tIns="0" rIns="0" bIns="0" rtlCol="0" anchor="ctr"/>
          <a:lstStyle/>
          <a:p>
            <a:pPr indent="0" marL="0">
              <a:buNone/>
            </a:pPr>
            <a:r>
              <a:rPr lang="en-US" sz="1600" b="1" dirty="0">
                <a:solidFill>
                  <a:srgbClr val="1E2127"/>
                </a:solidFill>
                <a:latin typeface="Cambria" pitchFamily="34" charset="0"/>
                <a:ea typeface="Cambria" pitchFamily="34" charset="-122"/>
                <a:cs typeface="Cambria" pitchFamily="34" charset="-120"/>
              </a:rPr>
              <a:t>The scientific Python stack</a:t>
            </a:r>
            <a:endParaRPr lang="en-US" sz="1600" dirty="0"/>
          </a:p>
        </p:txBody>
      </p:sp>
      <p:sp>
        <p:nvSpPr>
          <p:cNvPr id="11" name="Text 9"/>
          <p:cNvSpPr/>
          <p:nvPr/>
        </p:nvSpPr>
        <p:spPr>
          <a:xfrm>
            <a:off x="4681728" y="2441448"/>
            <a:ext cx="6903720" cy="457200"/>
          </a:xfrm>
          <a:prstGeom prst="rect">
            <a:avLst/>
          </a:prstGeom>
          <a:noFill/>
          <a:ln/>
        </p:spPr>
        <p:txBody>
          <a:bodyPr wrap="square" lIns="0" tIns="0" rIns="0" bIns="0" rtlCol="0" anchor="ctr"/>
          <a:lstStyle/>
          <a:p>
            <a:pPr indent="0" marL="0">
              <a:buNone/>
            </a:pPr>
            <a:r>
              <a:rPr lang="en-US" sz="1250" dirty="0">
                <a:solidFill>
                  <a:srgbClr val="6E757F"/>
                </a:solidFill>
                <a:latin typeface="Calibri" pitchFamily="34" charset="0"/>
                <a:ea typeface="Calibri" pitchFamily="34" charset="-122"/>
                <a:cs typeface="Calibri" pitchFamily="34" charset="-120"/>
              </a:rPr>
              <a:t>You have Python from Semester II. You do not have numpy, scipy.signal, pandas or scikit-learn. A different skill.</a:t>
            </a:r>
            <a:endParaRPr lang="en-US" sz="1250" dirty="0"/>
          </a:p>
        </p:txBody>
      </p:sp>
      <p:sp>
        <p:nvSpPr>
          <p:cNvPr id="12" name="Shape 10"/>
          <p:cNvSpPr/>
          <p:nvPr/>
        </p:nvSpPr>
        <p:spPr>
          <a:xfrm>
            <a:off x="566928" y="3136392"/>
            <a:ext cx="384048" cy="384048"/>
          </a:xfrm>
          <a:prstGeom prst="ellipse">
            <a:avLst/>
          </a:prstGeom>
          <a:solidFill>
            <a:srgbClr val="E8A33D"/>
          </a:solidFill>
          <a:ln w="12700">
            <a:solidFill>
              <a:srgbClr val="E8A33D"/>
            </a:solidFill>
            <a:prstDash val="solid"/>
          </a:ln>
        </p:spPr>
      </p:sp>
      <p:sp>
        <p:nvSpPr>
          <p:cNvPr id="13" name="Text 11"/>
          <p:cNvSpPr/>
          <p:nvPr/>
        </p:nvSpPr>
        <p:spPr>
          <a:xfrm>
            <a:off x="566928" y="3136392"/>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3</a:t>
            </a:r>
            <a:endParaRPr lang="en-US" sz="1300" dirty="0"/>
          </a:p>
        </p:txBody>
      </p:sp>
      <p:sp>
        <p:nvSpPr>
          <p:cNvPr id="14" name="Text 12"/>
          <p:cNvSpPr/>
          <p:nvPr/>
        </p:nvSpPr>
        <p:spPr>
          <a:xfrm>
            <a:off x="1188720" y="3099816"/>
            <a:ext cx="3383280" cy="457200"/>
          </a:xfrm>
          <a:prstGeom prst="rect">
            <a:avLst/>
          </a:prstGeom>
          <a:noFill/>
          <a:ln/>
        </p:spPr>
        <p:txBody>
          <a:bodyPr wrap="square" lIns="0" tIns="0" rIns="0" bIns="0" rtlCol="0" anchor="ctr"/>
          <a:lstStyle/>
          <a:p>
            <a:pPr indent="0" marL="0">
              <a:buNone/>
            </a:pPr>
            <a:r>
              <a:rPr lang="en-US" sz="1600" b="1" dirty="0">
                <a:solidFill>
                  <a:srgbClr val="1E2127"/>
                </a:solidFill>
                <a:latin typeface="Cambria" pitchFamily="34" charset="0"/>
                <a:ea typeface="Cambria" pitchFamily="34" charset="-122"/>
                <a:cs typeface="Cambria" pitchFamily="34" charset="-120"/>
              </a:rPr>
              <a:t>Signal processing past DSP</a:t>
            </a:r>
            <a:endParaRPr lang="en-US" sz="1600" dirty="0"/>
          </a:p>
        </p:txBody>
      </p:sp>
      <p:sp>
        <p:nvSpPr>
          <p:cNvPr id="15" name="Text 13"/>
          <p:cNvSpPr/>
          <p:nvPr/>
        </p:nvSpPr>
        <p:spPr>
          <a:xfrm>
            <a:off x="4681728" y="3099816"/>
            <a:ext cx="6903720" cy="457200"/>
          </a:xfrm>
          <a:prstGeom prst="rect">
            <a:avLst/>
          </a:prstGeom>
          <a:noFill/>
          <a:ln/>
        </p:spPr>
        <p:txBody>
          <a:bodyPr wrap="square" lIns="0" tIns="0" rIns="0" bIns="0" rtlCol="0" anchor="ctr"/>
          <a:lstStyle/>
          <a:p>
            <a:pPr indent="0" marL="0">
              <a:buNone/>
            </a:pPr>
            <a:r>
              <a:rPr lang="en-US" sz="1250" dirty="0">
                <a:solidFill>
                  <a:srgbClr val="6E757F"/>
                </a:solidFill>
                <a:latin typeface="Calibri" pitchFamily="34" charset="0"/>
                <a:ea typeface="Calibri" pitchFamily="34" charset="-122"/>
                <a:cs typeface="Calibri" pitchFamily="34" charset="-120"/>
              </a:rPr>
              <a:t>Two credits is not enough, and Signals and Systems was removed. Hilbert and envelope detection are not in it.</a:t>
            </a:r>
            <a:endParaRPr lang="en-US" sz="1250" dirty="0"/>
          </a:p>
        </p:txBody>
      </p:sp>
      <p:sp>
        <p:nvSpPr>
          <p:cNvPr id="16" name="Shape 14"/>
          <p:cNvSpPr/>
          <p:nvPr/>
        </p:nvSpPr>
        <p:spPr>
          <a:xfrm>
            <a:off x="566928" y="3794760"/>
            <a:ext cx="384048" cy="384048"/>
          </a:xfrm>
          <a:prstGeom prst="ellipse">
            <a:avLst/>
          </a:prstGeom>
          <a:solidFill>
            <a:srgbClr val="16181C"/>
          </a:solidFill>
          <a:ln w="12700">
            <a:solidFill>
              <a:srgbClr val="16181C"/>
            </a:solidFill>
            <a:prstDash val="solid"/>
          </a:ln>
        </p:spPr>
      </p:sp>
      <p:sp>
        <p:nvSpPr>
          <p:cNvPr id="17" name="Text 15"/>
          <p:cNvSpPr/>
          <p:nvPr/>
        </p:nvSpPr>
        <p:spPr>
          <a:xfrm>
            <a:off x="566928" y="3794760"/>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4</a:t>
            </a:r>
            <a:endParaRPr lang="en-US" sz="1300" dirty="0"/>
          </a:p>
        </p:txBody>
      </p:sp>
      <p:sp>
        <p:nvSpPr>
          <p:cNvPr id="18" name="Text 16"/>
          <p:cNvSpPr/>
          <p:nvPr/>
        </p:nvSpPr>
        <p:spPr>
          <a:xfrm>
            <a:off x="1188720" y="3758184"/>
            <a:ext cx="3383280" cy="457200"/>
          </a:xfrm>
          <a:prstGeom prst="rect">
            <a:avLst/>
          </a:prstGeom>
          <a:noFill/>
          <a:ln/>
        </p:spPr>
        <p:txBody>
          <a:bodyPr wrap="square" lIns="0" tIns="0" rIns="0" bIns="0" rtlCol="0" anchor="ctr"/>
          <a:lstStyle/>
          <a:p>
            <a:pPr indent="0" marL="0">
              <a:buNone/>
            </a:pPr>
            <a:r>
              <a:rPr lang="en-US" sz="1600" b="1" dirty="0">
                <a:solidFill>
                  <a:srgbClr val="1E2127"/>
                </a:solidFill>
                <a:latin typeface="Cambria" pitchFamily="34" charset="0"/>
                <a:ea typeface="Cambria" pitchFamily="34" charset="-122"/>
                <a:cs typeface="Cambria" pitchFamily="34" charset="-120"/>
              </a:rPr>
              <a:t>One time-series database</a:t>
            </a:r>
            <a:endParaRPr lang="en-US" sz="1600" dirty="0"/>
          </a:p>
        </p:txBody>
      </p:sp>
      <p:sp>
        <p:nvSpPr>
          <p:cNvPr id="19" name="Text 17"/>
          <p:cNvSpPr/>
          <p:nvPr/>
        </p:nvSpPr>
        <p:spPr>
          <a:xfrm>
            <a:off x="4681728" y="3758184"/>
            <a:ext cx="6903720" cy="457200"/>
          </a:xfrm>
          <a:prstGeom prst="rect">
            <a:avLst/>
          </a:prstGeom>
          <a:noFill/>
          <a:ln/>
        </p:spPr>
        <p:txBody>
          <a:bodyPr wrap="square" lIns="0" tIns="0" rIns="0" bIns="0" rtlCol="0" anchor="ctr"/>
          <a:lstStyle/>
          <a:p>
            <a:pPr indent="0" marL="0">
              <a:buNone/>
            </a:pPr>
            <a:r>
              <a:rPr lang="en-US" sz="1250" dirty="0">
                <a:solidFill>
                  <a:srgbClr val="6E757F"/>
                </a:solidFill>
                <a:latin typeface="Calibri" pitchFamily="34" charset="0"/>
                <a:ea typeface="Calibri" pitchFamily="34" charset="-122"/>
                <a:cs typeface="Calibri" pitchFamily="34" charset="-120"/>
              </a:rPr>
              <a:t>InfluxDB or TimescaleDB. Downsampling policies and retention.</a:t>
            </a:r>
            <a:endParaRPr lang="en-US" sz="1250" dirty="0"/>
          </a:p>
        </p:txBody>
      </p:sp>
      <p:sp>
        <p:nvSpPr>
          <p:cNvPr id="20" name="Shape 18"/>
          <p:cNvSpPr/>
          <p:nvPr/>
        </p:nvSpPr>
        <p:spPr>
          <a:xfrm>
            <a:off x="566928" y="4453128"/>
            <a:ext cx="384048" cy="384048"/>
          </a:xfrm>
          <a:prstGeom prst="ellipse">
            <a:avLst/>
          </a:prstGeom>
          <a:solidFill>
            <a:srgbClr val="16181C"/>
          </a:solidFill>
          <a:ln w="12700">
            <a:solidFill>
              <a:srgbClr val="16181C"/>
            </a:solidFill>
            <a:prstDash val="solid"/>
          </a:ln>
        </p:spPr>
      </p:sp>
      <p:sp>
        <p:nvSpPr>
          <p:cNvPr id="21" name="Text 19"/>
          <p:cNvSpPr/>
          <p:nvPr/>
        </p:nvSpPr>
        <p:spPr>
          <a:xfrm>
            <a:off x="566928" y="4453128"/>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5</a:t>
            </a:r>
            <a:endParaRPr lang="en-US" sz="1300" dirty="0"/>
          </a:p>
        </p:txBody>
      </p:sp>
      <p:sp>
        <p:nvSpPr>
          <p:cNvPr id="22" name="Text 20"/>
          <p:cNvSpPr/>
          <p:nvPr/>
        </p:nvSpPr>
        <p:spPr>
          <a:xfrm>
            <a:off x="1188720" y="4416552"/>
            <a:ext cx="3383280" cy="457200"/>
          </a:xfrm>
          <a:prstGeom prst="rect">
            <a:avLst/>
          </a:prstGeom>
          <a:noFill/>
          <a:ln/>
        </p:spPr>
        <p:txBody>
          <a:bodyPr wrap="square" lIns="0" tIns="0" rIns="0" bIns="0" rtlCol="0" anchor="ctr"/>
          <a:lstStyle/>
          <a:p>
            <a:pPr indent="0" marL="0">
              <a:buNone/>
            </a:pPr>
            <a:r>
              <a:rPr lang="en-US" sz="1600" b="1" dirty="0">
                <a:solidFill>
                  <a:srgbClr val="1E2127"/>
                </a:solidFill>
                <a:latin typeface="Cambria" pitchFamily="34" charset="0"/>
                <a:ea typeface="Cambria" pitchFamily="34" charset="-122"/>
                <a:cs typeface="Cambria" pitchFamily="34" charset="-120"/>
              </a:rPr>
              <a:t>OPC UA</a:t>
            </a:r>
            <a:endParaRPr lang="en-US" sz="1600" dirty="0"/>
          </a:p>
        </p:txBody>
      </p:sp>
      <p:sp>
        <p:nvSpPr>
          <p:cNvPr id="23" name="Text 21"/>
          <p:cNvSpPr/>
          <p:nvPr/>
        </p:nvSpPr>
        <p:spPr>
          <a:xfrm>
            <a:off x="4681728" y="4416552"/>
            <a:ext cx="6903720" cy="457200"/>
          </a:xfrm>
          <a:prstGeom prst="rect">
            <a:avLst/>
          </a:prstGeom>
          <a:noFill/>
          <a:ln/>
        </p:spPr>
        <p:txBody>
          <a:bodyPr wrap="square" lIns="0" tIns="0" rIns="0" bIns="0" rtlCol="0" anchor="ctr"/>
          <a:lstStyle/>
          <a:p>
            <a:pPr indent="0" marL="0">
              <a:buNone/>
            </a:pPr>
            <a:r>
              <a:rPr lang="en-US" sz="1250" dirty="0">
                <a:solidFill>
                  <a:srgbClr val="6E757F"/>
                </a:solidFill>
                <a:latin typeface="Calibri" pitchFamily="34" charset="0"/>
                <a:ea typeface="Calibri" pitchFamily="34" charset="-122"/>
                <a:cs typeface="Calibri" pitchFamily="34" charset="-120"/>
              </a:rPr>
              <a:t>Zero mentions in your syllabus — I checked. Python asyncua library. A real differentiator.</a:t>
            </a:r>
            <a:endParaRPr lang="en-US" sz="1250" dirty="0"/>
          </a:p>
        </p:txBody>
      </p:sp>
      <p:sp>
        <p:nvSpPr>
          <p:cNvPr id="24" name="Shape 22"/>
          <p:cNvSpPr/>
          <p:nvPr/>
        </p:nvSpPr>
        <p:spPr>
          <a:xfrm>
            <a:off x="566928" y="5111496"/>
            <a:ext cx="384048" cy="384048"/>
          </a:xfrm>
          <a:prstGeom prst="ellipse">
            <a:avLst/>
          </a:prstGeom>
          <a:solidFill>
            <a:srgbClr val="16181C"/>
          </a:solidFill>
          <a:ln w="12700">
            <a:solidFill>
              <a:srgbClr val="16181C"/>
            </a:solidFill>
            <a:prstDash val="solid"/>
          </a:ln>
        </p:spPr>
      </p:sp>
      <p:sp>
        <p:nvSpPr>
          <p:cNvPr id="25" name="Text 23"/>
          <p:cNvSpPr/>
          <p:nvPr/>
        </p:nvSpPr>
        <p:spPr>
          <a:xfrm>
            <a:off x="566928" y="5111496"/>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6</a:t>
            </a:r>
            <a:endParaRPr lang="en-US" sz="1300" dirty="0"/>
          </a:p>
        </p:txBody>
      </p:sp>
      <p:sp>
        <p:nvSpPr>
          <p:cNvPr id="26" name="Text 24"/>
          <p:cNvSpPr/>
          <p:nvPr/>
        </p:nvSpPr>
        <p:spPr>
          <a:xfrm>
            <a:off x="1188720" y="5074920"/>
            <a:ext cx="3383280" cy="457200"/>
          </a:xfrm>
          <a:prstGeom prst="rect">
            <a:avLst/>
          </a:prstGeom>
          <a:noFill/>
          <a:ln/>
        </p:spPr>
        <p:txBody>
          <a:bodyPr wrap="square" lIns="0" tIns="0" rIns="0" bIns="0" rtlCol="0" anchor="ctr"/>
          <a:lstStyle/>
          <a:p>
            <a:pPr indent="0" marL="0">
              <a:buNone/>
            </a:pPr>
            <a:r>
              <a:rPr lang="en-US" sz="1600" b="1" dirty="0">
                <a:solidFill>
                  <a:srgbClr val="1E2127"/>
                </a:solidFill>
                <a:latin typeface="Cambria" pitchFamily="34" charset="0"/>
                <a:ea typeface="Cambria" pitchFamily="34" charset="-122"/>
                <a:cs typeface="Cambria" pitchFamily="34" charset="-120"/>
              </a:rPr>
              <a:t>Classical ML before deep learning</a:t>
            </a:r>
            <a:endParaRPr lang="en-US" sz="1600" dirty="0"/>
          </a:p>
        </p:txBody>
      </p:sp>
      <p:sp>
        <p:nvSpPr>
          <p:cNvPr id="27" name="Text 25"/>
          <p:cNvSpPr/>
          <p:nvPr/>
        </p:nvSpPr>
        <p:spPr>
          <a:xfrm>
            <a:off x="4681728" y="5074920"/>
            <a:ext cx="6903720" cy="457200"/>
          </a:xfrm>
          <a:prstGeom prst="rect">
            <a:avLst/>
          </a:prstGeom>
          <a:noFill/>
          <a:ln/>
        </p:spPr>
        <p:txBody>
          <a:bodyPr wrap="square" lIns="0" tIns="0" rIns="0" bIns="0" rtlCol="0" anchor="ctr"/>
          <a:lstStyle/>
          <a:p>
            <a:pPr indent="0" marL="0">
              <a:buNone/>
            </a:pPr>
            <a:r>
              <a:rPr lang="en-US" sz="1250" dirty="0">
                <a:solidFill>
                  <a:srgbClr val="6E757F"/>
                </a:solidFill>
                <a:latin typeface="Calibri" pitchFamily="34" charset="0"/>
                <a:ea typeface="Calibri" pitchFamily="34" charset="-122"/>
                <a:cs typeface="Calibri" pitchFamily="34" charset="-120"/>
              </a:rPr>
              <a:t>Isolation forest, one-class SVM, PCA, gradient boosting. Precision and recall well enough to defend a threshold.</a:t>
            </a:r>
            <a:endParaRPr lang="en-US" sz="1250" dirty="0"/>
          </a:p>
        </p:txBody>
      </p:sp>
      <p:sp>
        <p:nvSpPr>
          <p:cNvPr id="28" name="Text 26"/>
          <p:cNvSpPr/>
          <p:nvPr/>
        </p:nvSpPr>
        <p:spPr>
          <a:xfrm>
            <a:off x="566928" y="5852160"/>
            <a:ext cx="11027664" cy="365760"/>
          </a:xfrm>
          <a:prstGeom prst="rect">
            <a:avLst/>
          </a:prstGeom>
          <a:noFill/>
          <a:ln/>
        </p:spPr>
        <p:txBody>
          <a:bodyPr wrap="square" lIns="0" tIns="0" rIns="0" bIns="0" rtlCol="0" anchor="ctr"/>
          <a:lstStyle/>
          <a:p>
            <a:pPr indent="0" marL="0">
              <a:buNone/>
            </a:pPr>
            <a:r>
              <a:rPr lang="en-US" sz="1350" i="1" dirty="0">
                <a:solidFill>
                  <a:srgbClr val="E8A33D"/>
                </a:solidFill>
                <a:latin typeface="Calibri" pitchFamily="34" charset="0"/>
                <a:ea typeface="Calibri" pitchFamily="34" charset="-122"/>
                <a:cs typeface="Calibri" pitchFamily="34" charset="-120"/>
              </a:rPr>
              <a:t>This list is built against VR20. I left out everything you already get.</a:t>
            </a:r>
            <a:endParaRPr lang="en-US" sz="1350" dirty="0"/>
          </a:p>
        </p:txBody>
      </p:sp>
      <p:sp>
        <p:nvSpPr>
          <p:cNvPr id="29" name="Text 27"/>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29  ·  WHAT TO DO</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PART 4  ·  WORTH MONEY TO YOU</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Choose your electives deliberately</a:t>
            </a:r>
            <a:endParaRPr lang="en-US" sz="3400" dirty="0"/>
          </a:p>
        </p:txBody>
      </p:sp>
      <p:sp>
        <p:nvSpPr>
          <p:cNvPr id="4" name="Shape 2"/>
          <p:cNvSpPr/>
          <p:nvPr/>
        </p:nvSpPr>
        <p:spPr>
          <a:xfrm>
            <a:off x="566928" y="1783080"/>
            <a:ext cx="11027664" cy="932688"/>
          </a:xfrm>
          <a:prstGeom prst="roundRect">
            <a:avLst>
              <a:gd name="adj" fmla="val 2941"/>
            </a:avLst>
          </a:prstGeom>
          <a:solidFill>
            <a:srgbClr val="F3F4F6"/>
          </a:solidFill>
          <a:ln w="12700">
            <a:solidFill>
              <a:srgbClr val="E2E5E9"/>
            </a:solidFill>
            <a:prstDash val="solid"/>
          </a:ln>
        </p:spPr>
      </p:sp>
      <p:sp>
        <p:nvSpPr>
          <p:cNvPr id="5" name="Shape 3"/>
          <p:cNvSpPr/>
          <p:nvPr/>
        </p:nvSpPr>
        <p:spPr>
          <a:xfrm>
            <a:off x="841248" y="2167128"/>
            <a:ext cx="182880" cy="182880"/>
          </a:xfrm>
          <a:prstGeom prst="ellipse">
            <a:avLst/>
          </a:prstGeom>
          <a:solidFill>
            <a:srgbClr val="C4483A"/>
          </a:solidFill>
          <a:ln w="12700">
            <a:solidFill>
              <a:srgbClr val="C4483A"/>
            </a:solidFill>
            <a:prstDash val="solid"/>
          </a:ln>
        </p:spPr>
      </p:sp>
      <p:sp>
        <p:nvSpPr>
          <p:cNvPr id="6" name="Text 4"/>
          <p:cNvSpPr/>
          <p:nvPr/>
        </p:nvSpPr>
        <p:spPr>
          <a:xfrm>
            <a:off x="1188720" y="1874520"/>
            <a:ext cx="3931920" cy="384048"/>
          </a:xfrm>
          <a:prstGeom prst="rect">
            <a:avLst/>
          </a:prstGeom>
          <a:noFill/>
          <a:ln/>
        </p:spPr>
        <p:txBody>
          <a:bodyPr wrap="square" lIns="0" tIns="0" rIns="0" bIns="0" rtlCol="0" anchor="ctr"/>
          <a:lstStyle/>
          <a:p>
            <a:pPr indent="0" marL="0">
              <a:buNone/>
            </a:pPr>
            <a:r>
              <a:rPr lang="en-US" sz="1500" b="1" dirty="0">
                <a:solidFill>
                  <a:srgbClr val="1E2127"/>
                </a:solidFill>
                <a:latin typeface="Cambria" pitchFamily="34" charset="0"/>
                <a:ea typeface="Cambria" pitchFamily="34" charset="-122"/>
                <a:cs typeface="Cambria" pitchFamily="34" charset="-120"/>
              </a:rPr>
              <a:t>Safety Instrumentation Systems</a:t>
            </a:r>
            <a:endParaRPr lang="en-US" sz="1500" dirty="0"/>
          </a:p>
        </p:txBody>
      </p:sp>
      <p:sp>
        <p:nvSpPr>
          <p:cNvPr id="7" name="Text 5"/>
          <p:cNvSpPr/>
          <p:nvPr/>
        </p:nvSpPr>
        <p:spPr>
          <a:xfrm>
            <a:off x="1188720" y="2276856"/>
            <a:ext cx="3931920" cy="292608"/>
          </a:xfrm>
          <a:prstGeom prst="rect">
            <a:avLst/>
          </a:prstGeom>
          <a:noFill/>
          <a:ln/>
        </p:spPr>
        <p:txBody>
          <a:bodyPr wrap="square" lIns="0" tIns="0" rIns="0" bIns="0" rtlCol="0" anchor="ctr"/>
          <a:lstStyle/>
          <a:p>
            <a:pPr indent="0" marL="0">
              <a:buNone/>
            </a:pPr>
            <a:r>
              <a:rPr lang="en-US" sz="1000" dirty="0">
                <a:solidFill>
                  <a:srgbClr val="C4483A"/>
                </a:solidFill>
                <a:latin typeface="Courier New" pitchFamily="34" charset="0"/>
                <a:ea typeface="Courier New" pitchFamily="34" charset="-122"/>
                <a:cs typeface="Courier New" pitchFamily="34" charset="-120"/>
              </a:rPr>
              <a:t>Open Elective 2, Sem VI</a:t>
            </a:r>
            <a:endParaRPr lang="en-US" sz="1000" dirty="0"/>
          </a:p>
        </p:txBody>
      </p:sp>
      <p:sp>
        <p:nvSpPr>
          <p:cNvPr id="8" name="Text 6"/>
          <p:cNvSpPr/>
          <p:nvPr/>
        </p:nvSpPr>
        <p:spPr>
          <a:xfrm>
            <a:off x="5230368" y="1783080"/>
            <a:ext cx="6355080" cy="932688"/>
          </a:xfrm>
          <a:prstGeom prst="rect">
            <a:avLst/>
          </a:prstGeom>
          <a:noFill/>
          <a:ln/>
        </p:spPr>
        <p:txBody>
          <a:bodyPr wrap="square" lIns="0" tIns="0" rIns="0" bIns="0" rtlCol="0" anchor="ctr"/>
          <a:lstStyle/>
          <a:p>
            <a:pPr indent="0" marL="0">
              <a:buNone/>
            </a:pPr>
            <a:r>
              <a:rPr lang="en-US" sz="1250" dirty="0">
                <a:solidFill>
                  <a:srgbClr val="6E757F"/>
                </a:solidFill>
                <a:latin typeface="Calibri" pitchFamily="34" charset="0"/>
                <a:ea typeface="Calibri" pitchFamily="34" charset="-122"/>
                <a:cs typeface="Calibri" pitchFamily="34" charset="-120"/>
              </a:rPr>
              <a:t>IEC 61508 and the protection-layer model. The most employable elective in your list, and almost nobody picks it. Everything on my SIL slide is in this course.</a:t>
            </a:r>
            <a:endParaRPr lang="en-US" sz="1250" dirty="0"/>
          </a:p>
        </p:txBody>
      </p:sp>
      <p:sp>
        <p:nvSpPr>
          <p:cNvPr id="9" name="Shape 7"/>
          <p:cNvSpPr/>
          <p:nvPr/>
        </p:nvSpPr>
        <p:spPr>
          <a:xfrm>
            <a:off x="566928" y="2807208"/>
            <a:ext cx="11027664" cy="932688"/>
          </a:xfrm>
          <a:prstGeom prst="roundRect">
            <a:avLst>
              <a:gd name="adj" fmla="val 2941"/>
            </a:avLst>
          </a:prstGeom>
          <a:solidFill>
            <a:srgbClr val="F3F4F6"/>
          </a:solidFill>
          <a:ln w="12700">
            <a:solidFill>
              <a:srgbClr val="E2E5E9"/>
            </a:solidFill>
            <a:prstDash val="solid"/>
          </a:ln>
        </p:spPr>
      </p:sp>
      <p:sp>
        <p:nvSpPr>
          <p:cNvPr id="10" name="Shape 8"/>
          <p:cNvSpPr/>
          <p:nvPr/>
        </p:nvSpPr>
        <p:spPr>
          <a:xfrm>
            <a:off x="841248" y="3191256"/>
            <a:ext cx="182880" cy="182880"/>
          </a:xfrm>
          <a:prstGeom prst="ellipse">
            <a:avLst/>
          </a:prstGeom>
          <a:solidFill>
            <a:srgbClr val="E8A33D"/>
          </a:solidFill>
          <a:ln w="12700">
            <a:solidFill>
              <a:srgbClr val="E8A33D"/>
            </a:solidFill>
            <a:prstDash val="solid"/>
          </a:ln>
        </p:spPr>
      </p:sp>
      <p:sp>
        <p:nvSpPr>
          <p:cNvPr id="11" name="Text 9"/>
          <p:cNvSpPr/>
          <p:nvPr/>
        </p:nvSpPr>
        <p:spPr>
          <a:xfrm>
            <a:off x="1188720" y="2898648"/>
            <a:ext cx="3931920" cy="384048"/>
          </a:xfrm>
          <a:prstGeom prst="rect">
            <a:avLst/>
          </a:prstGeom>
          <a:noFill/>
          <a:ln/>
        </p:spPr>
        <p:txBody>
          <a:bodyPr wrap="square" lIns="0" tIns="0" rIns="0" bIns="0" rtlCol="0" anchor="ctr"/>
          <a:lstStyle/>
          <a:p>
            <a:pPr indent="0" marL="0">
              <a:buNone/>
            </a:pPr>
            <a:r>
              <a:rPr lang="en-US" sz="1500" b="1" dirty="0">
                <a:solidFill>
                  <a:srgbClr val="1E2127"/>
                </a:solidFill>
                <a:latin typeface="Cambria" pitchFamily="34" charset="0"/>
                <a:ea typeface="Cambria" pitchFamily="34" charset="-122"/>
                <a:cs typeface="Cambria" pitchFamily="34" charset="-120"/>
              </a:rPr>
              <a:t>Industrial Internet of Things</a:t>
            </a:r>
            <a:endParaRPr lang="en-US" sz="1500" dirty="0"/>
          </a:p>
        </p:txBody>
      </p:sp>
      <p:sp>
        <p:nvSpPr>
          <p:cNvPr id="12" name="Text 10"/>
          <p:cNvSpPr/>
          <p:nvPr/>
        </p:nvSpPr>
        <p:spPr>
          <a:xfrm>
            <a:off x="1188720" y="3300984"/>
            <a:ext cx="3931920" cy="292608"/>
          </a:xfrm>
          <a:prstGeom prst="rect">
            <a:avLst/>
          </a:prstGeom>
          <a:noFill/>
          <a:ln/>
        </p:spPr>
        <p:txBody>
          <a:bodyPr wrap="square" lIns="0" tIns="0" rIns="0" bIns="0" rtlCol="0" anchor="ctr"/>
          <a:lstStyle/>
          <a:p>
            <a:pPr indent="0" marL="0">
              <a:buNone/>
            </a:pPr>
            <a:r>
              <a:rPr lang="en-US" sz="1000" dirty="0">
                <a:solidFill>
                  <a:srgbClr val="E8A33D"/>
                </a:solidFill>
                <a:latin typeface="Courier New" pitchFamily="34" charset="0"/>
                <a:ea typeface="Courier New" pitchFamily="34" charset="-122"/>
                <a:cs typeface="Courier New" pitchFamily="34" charset="-120"/>
              </a:rPr>
              <a:t>Program Elective 3, Sem VII</a:t>
            </a:r>
            <a:endParaRPr lang="en-US" sz="1000" dirty="0"/>
          </a:p>
        </p:txBody>
      </p:sp>
      <p:sp>
        <p:nvSpPr>
          <p:cNvPr id="13" name="Text 11"/>
          <p:cNvSpPr/>
          <p:nvPr/>
        </p:nvSpPr>
        <p:spPr>
          <a:xfrm>
            <a:off x="5230368" y="2807208"/>
            <a:ext cx="6355080" cy="932688"/>
          </a:xfrm>
          <a:prstGeom prst="rect">
            <a:avLst/>
          </a:prstGeom>
          <a:noFill/>
          <a:ln/>
        </p:spPr>
        <p:txBody>
          <a:bodyPr wrap="square" lIns="0" tIns="0" rIns="0" bIns="0" rtlCol="0" anchor="ctr"/>
          <a:lstStyle/>
          <a:p>
            <a:pPr indent="0" marL="0">
              <a:buNone/>
            </a:pPr>
            <a:r>
              <a:rPr lang="en-US" sz="1250" dirty="0">
                <a:solidFill>
                  <a:srgbClr val="6E757F"/>
                </a:solidFill>
                <a:latin typeface="Calibri" pitchFamily="34" charset="0"/>
                <a:ea typeface="Calibri" pitchFamily="34" charset="-122"/>
                <a:cs typeface="Calibri" pitchFamily="34" charset="-120"/>
              </a:rPr>
              <a:t>Historians, industrial protocols, the SCADA to ERP data flow. The layer above where your core courses stop.</a:t>
            </a:r>
            <a:endParaRPr lang="en-US" sz="1250" dirty="0"/>
          </a:p>
        </p:txBody>
      </p:sp>
      <p:sp>
        <p:nvSpPr>
          <p:cNvPr id="14" name="Shape 12"/>
          <p:cNvSpPr/>
          <p:nvPr/>
        </p:nvSpPr>
        <p:spPr>
          <a:xfrm>
            <a:off x="566928" y="3831336"/>
            <a:ext cx="11027664" cy="932688"/>
          </a:xfrm>
          <a:prstGeom prst="roundRect">
            <a:avLst>
              <a:gd name="adj" fmla="val 2941"/>
            </a:avLst>
          </a:prstGeom>
          <a:solidFill>
            <a:srgbClr val="F3F4F6"/>
          </a:solidFill>
          <a:ln w="12700">
            <a:solidFill>
              <a:srgbClr val="E2E5E9"/>
            </a:solidFill>
            <a:prstDash val="solid"/>
          </a:ln>
        </p:spPr>
      </p:sp>
      <p:sp>
        <p:nvSpPr>
          <p:cNvPr id="15" name="Shape 13"/>
          <p:cNvSpPr/>
          <p:nvPr/>
        </p:nvSpPr>
        <p:spPr>
          <a:xfrm>
            <a:off x="841248" y="4215384"/>
            <a:ext cx="182880" cy="182880"/>
          </a:xfrm>
          <a:prstGeom prst="ellipse">
            <a:avLst/>
          </a:prstGeom>
          <a:solidFill>
            <a:srgbClr val="3FB6A8"/>
          </a:solidFill>
          <a:ln w="12700">
            <a:solidFill>
              <a:srgbClr val="3FB6A8"/>
            </a:solidFill>
            <a:prstDash val="solid"/>
          </a:ln>
        </p:spPr>
      </p:sp>
      <p:sp>
        <p:nvSpPr>
          <p:cNvPr id="16" name="Text 14"/>
          <p:cNvSpPr/>
          <p:nvPr/>
        </p:nvSpPr>
        <p:spPr>
          <a:xfrm>
            <a:off x="1188720" y="3922776"/>
            <a:ext cx="3931920" cy="384048"/>
          </a:xfrm>
          <a:prstGeom prst="rect">
            <a:avLst/>
          </a:prstGeom>
          <a:noFill/>
          <a:ln/>
        </p:spPr>
        <p:txBody>
          <a:bodyPr wrap="square" lIns="0" tIns="0" rIns="0" bIns="0" rtlCol="0" anchor="ctr"/>
          <a:lstStyle/>
          <a:p>
            <a:pPr indent="0" marL="0">
              <a:buNone/>
            </a:pPr>
            <a:r>
              <a:rPr lang="en-US" sz="1500" b="1" dirty="0">
                <a:solidFill>
                  <a:srgbClr val="1E2127"/>
                </a:solidFill>
                <a:latin typeface="Cambria" pitchFamily="34" charset="0"/>
                <a:ea typeface="Cambria" pitchFamily="34" charset="-122"/>
                <a:cs typeface="Cambria" pitchFamily="34" charset="-120"/>
              </a:rPr>
              <a:t>Real World Instrumentation with Python</a:t>
            </a:r>
            <a:endParaRPr lang="en-US" sz="1500" dirty="0"/>
          </a:p>
        </p:txBody>
      </p:sp>
      <p:sp>
        <p:nvSpPr>
          <p:cNvPr id="17" name="Text 15"/>
          <p:cNvSpPr/>
          <p:nvPr/>
        </p:nvSpPr>
        <p:spPr>
          <a:xfrm>
            <a:off x="1188720" y="4325112"/>
            <a:ext cx="3931920" cy="292608"/>
          </a:xfrm>
          <a:prstGeom prst="rect">
            <a:avLst/>
          </a:prstGeom>
          <a:noFill/>
          <a:ln/>
        </p:spPr>
        <p:txBody>
          <a:bodyPr wrap="square" lIns="0" tIns="0" rIns="0" bIns="0" rtlCol="0" anchor="ctr"/>
          <a:lstStyle/>
          <a:p>
            <a:pPr indent="0" marL="0">
              <a:buNone/>
            </a:pPr>
            <a:r>
              <a:rPr lang="en-US" sz="1000" dirty="0">
                <a:solidFill>
                  <a:srgbClr val="3FB6A8"/>
                </a:solidFill>
                <a:latin typeface="Courier New" pitchFamily="34" charset="0"/>
                <a:ea typeface="Courier New" pitchFamily="34" charset="-122"/>
                <a:cs typeface="Courier New" pitchFamily="34" charset="-120"/>
              </a:rPr>
              <a:t>Program Elective 5, Sem VII</a:t>
            </a:r>
            <a:endParaRPr lang="en-US" sz="1000" dirty="0"/>
          </a:p>
        </p:txBody>
      </p:sp>
      <p:sp>
        <p:nvSpPr>
          <p:cNvPr id="18" name="Text 16"/>
          <p:cNvSpPr/>
          <p:nvPr/>
        </p:nvSpPr>
        <p:spPr>
          <a:xfrm>
            <a:off x="5230368" y="3831336"/>
            <a:ext cx="6355080" cy="932688"/>
          </a:xfrm>
          <a:prstGeom prst="rect">
            <a:avLst/>
          </a:prstGeom>
          <a:noFill/>
          <a:ln/>
        </p:spPr>
        <p:txBody>
          <a:bodyPr wrap="square" lIns="0" tIns="0" rIns="0" bIns="0" rtlCol="0" anchor="ctr"/>
          <a:lstStyle/>
          <a:p>
            <a:pPr indent="0" marL="0">
              <a:buNone/>
            </a:pPr>
            <a:r>
              <a:rPr lang="en-US" sz="1250" dirty="0">
                <a:solidFill>
                  <a:srgbClr val="6E757F"/>
                </a:solidFill>
                <a:latin typeface="Calibri" pitchFamily="34" charset="0"/>
                <a:ea typeface="Calibri" pitchFamily="34" charset="-122"/>
                <a:cs typeface="Calibri" pitchFamily="34" charset="-120"/>
              </a:rPr>
              <a:t>Instrument systems, simulators, data I/O. The bridge from Semester II Python to actual instrumentation work.</a:t>
            </a:r>
            <a:endParaRPr lang="en-US" sz="1250" dirty="0"/>
          </a:p>
        </p:txBody>
      </p:sp>
      <p:sp>
        <p:nvSpPr>
          <p:cNvPr id="19" name="Shape 17"/>
          <p:cNvSpPr/>
          <p:nvPr/>
        </p:nvSpPr>
        <p:spPr>
          <a:xfrm>
            <a:off x="566928" y="4855464"/>
            <a:ext cx="11027664" cy="932688"/>
          </a:xfrm>
          <a:prstGeom prst="roundRect">
            <a:avLst>
              <a:gd name="adj" fmla="val 2941"/>
            </a:avLst>
          </a:prstGeom>
          <a:solidFill>
            <a:srgbClr val="F3F4F6"/>
          </a:solidFill>
          <a:ln w="12700">
            <a:solidFill>
              <a:srgbClr val="E2E5E9"/>
            </a:solidFill>
            <a:prstDash val="solid"/>
          </a:ln>
        </p:spPr>
      </p:sp>
      <p:sp>
        <p:nvSpPr>
          <p:cNvPr id="20" name="Shape 18"/>
          <p:cNvSpPr/>
          <p:nvPr/>
        </p:nvSpPr>
        <p:spPr>
          <a:xfrm>
            <a:off x="841248" y="5239512"/>
            <a:ext cx="182880" cy="182880"/>
          </a:xfrm>
          <a:prstGeom prst="ellipse">
            <a:avLst/>
          </a:prstGeom>
          <a:solidFill>
            <a:srgbClr val="8A7CC2"/>
          </a:solidFill>
          <a:ln w="12700">
            <a:solidFill>
              <a:srgbClr val="8A7CC2"/>
            </a:solidFill>
            <a:prstDash val="solid"/>
          </a:ln>
        </p:spPr>
      </p:sp>
      <p:sp>
        <p:nvSpPr>
          <p:cNvPr id="21" name="Text 19"/>
          <p:cNvSpPr/>
          <p:nvPr/>
        </p:nvSpPr>
        <p:spPr>
          <a:xfrm>
            <a:off x="1188720" y="4946904"/>
            <a:ext cx="3931920" cy="384048"/>
          </a:xfrm>
          <a:prstGeom prst="rect">
            <a:avLst/>
          </a:prstGeom>
          <a:noFill/>
          <a:ln/>
        </p:spPr>
        <p:txBody>
          <a:bodyPr wrap="square" lIns="0" tIns="0" rIns="0" bIns="0" rtlCol="0" anchor="ctr"/>
          <a:lstStyle/>
          <a:p>
            <a:pPr indent="0" marL="0">
              <a:buNone/>
            </a:pPr>
            <a:r>
              <a:rPr lang="en-US" sz="1500" b="1" dirty="0">
                <a:solidFill>
                  <a:srgbClr val="1E2127"/>
                </a:solidFill>
                <a:latin typeface="Cambria" pitchFamily="34" charset="0"/>
                <a:ea typeface="Cambria" pitchFamily="34" charset="-122"/>
                <a:cs typeface="Cambria" pitchFamily="34" charset="-120"/>
              </a:rPr>
              <a:t>AI and Machine Learning in Healthcare</a:t>
            </a:r>
            <a:endParaRPr lang="en-US" sz="1500" dirty="0"/>
          </a:p>
        </p:txBody>
      </p:sp>
      <p:sp>
        <p:nvSpPr>
          <p:cNvPr id="22" name="Text 20"/>
          <p:cNvSpPr/>
          <p:nvPr/>
        </p:nvSpPr>
        <p:spPr>
          <a:xfrm>
            <a:off x="1188720" y="5349240"/>
            <a:ext cx="3931920" cy="292608"/>
          </a:xfrm>
          <a:prstGeom prst="rect">
            <a:avLst/>
          </a:prstGeom>
          <a:noFill/>
          <a:ln/>
        </p:spPr>
        <p:txBody>
          <a:bodyPr wrap="square" lIns="0" tIns="0" rIns="0" bIns="0" rtlCol="0" anchor="ctr"/>
          <a:lstStyle/>
          <a:p>
            <a:pPr indent="0" marL="0">
              <a:buNone/>
            </a:pPr>
            <a:r>
              <a:rPr lang="en-US" sz="1000" dirty="0">
                <a:solidFill>
                  <a:srgbClr val="8A7CC2"/>
                </a:solidFill>
                <a:latin typeface="Courier New" pitchFamily="34" charset="0"/>
                <a:ea typeface="Courier New" pitchFamily="34" charset="-122"/>
                <a:cs typeface="Courier New" pitchFamily="34" charset="-120"/>
              </a:rPr>
              <a:t>Open Elective 2, Sem VI</a:t>
            </a:r>
            <a:endParaRPr lang="en-US" sz="1000" dirty="0"/>
          </a:p>
        </p:txBody>
      </p:sp>
      <p:sp>
        <p:nvSpPr>
          <p:cNvPr id="23" name="Text 21"/>
          <p:cNvSpPr/>
          <p:nvPr/>
        </p:nvSpPr>
        <p:spPr>
          <a:xfrm>
            <a:off x="5230368" y="4855464"/>
            <a:ext cx="6355080" cy="932688"/>
          </a:xfrm>
          <a:prstGeom prst="rect">
            <a:avLst/>
          </a:prstGeom>
          <a:noFill/>
          <a:ln/>
        </p:spPr>
        <p:txBody>
          <a:bodyPr wrap="square" lIns="0" tIns="0" rIns="0" bIns="0" rtlCol="0" anchor="ctr"/>
          <a:lstStyle/>
          <a:p>
            <a:pPr indent="0" marL="0">
              <a:buNone/>
            </a:pPr>
            <a:r>
              <a:rPr lang="en-US" sz="1250" dirty="0">
                <a:solidFill>
                  <a:srgbClr val="6E757F"/>
                </a:solidFill>
                <a:latin typeface="Calibri" pitchFamily="34" charset="0"/>
                <a:ea typeface="Calibri" pitchFamily="34" charset="-122"/>
                <a:cs typeface="Calibri" pitchFamily="34" charset="-120"/>
              </a:rPr>
              <a:t>The only real ML in your syllabus. The healthcare framing is incidental; the methods transfer.</a:t>
            </a:r>
            <a:endParaRPr lang="en-US" sz="1250" dirty="0"/>
          </a:p>
        </p:txBody>
      </p:sp>
      <p:sp>
        <p:nvSpPr>
          <p:cNvPr id="24" name="Shape 22"/>
          <p:cNvSpPr/>
          <p:nvPr/>
        </p:nvSpPr>
        <p:spPr>
          <a:xfrm>
            <a:off x="566928" y="5897880"/>
            <a:ext cx="11027664" cy="566928"/>
          </a:xfrm>
          <a:prstGeom prst="roundRect">
            <a:avLst>
              <a:gd name="adj" fmla="val 6452"/>
            </a:avLst>
          </a:prstGeom>
          <a:solidFill>
            <a:srgbClr val="16181C"/>
          </a:solidFill>
          <a:ln w="12700">
            <a:solidFill>
              <a:srgbClr val="16181C"/>
            </a:solidFill>
            <a:prstDash val="solid"/>
          </a:ln>
        </p:spPr>
      </p:sp>
      <p:sp>
        <p:nvSpPr>
          <p:cNvPr id="25" name="Text 23"/>
          <p:cNvSpPr/>
          <p:nvPr/>
        </p:nvSpPr>
        <p:spPr>
          <a:xfrm>
            <a:off x="886968" y="5897880"/>
            <a:ext cx="10424160" cy="56692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The first and last are both Open Elective 2, so you must choose. Take the safety one — safety is much harder to self-teach and much harder to fake in an interview.</a:t>
            </a:r>
            <a:endParaRPr lang="en-US" sz="1350" dirty="0"/>
          </a:p>
        </p:txBody>
      </p:sp>
      <p:sp>
        <p:nvSpPr>
          <p:cNvPr id="26" name="Text 24"/>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30  ·  WHAT TO DO</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PART 4  ·  FREE, AND BETTER THAN A CERTIFICATE</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A project you can start this week</a:t>
            </a:r>
            <a:endParaRPr lang="en-US" sz="3400" dirty="0"/>
          </a:p>
        </p:txBody>
      </p:sp>
      <p:sp>
        <p:nvSpPr>
          <p:cNvPr id="4" name="Shape 2"/>
          <p:cNvSpPr/>
          <p:nvPr/>
        </p:nvSpPr>
        <p:spPr>
          <a:xfrm>
            <a:off x="566928" y="1783080"/>
            <a:ext cx="11027664" cy="914400"/>
          </a:xfrm>
          <a:prstGeom prst="roundRect">
            <a:avLst>
              <a:gd name="adj" fmla="val 3000"/>
            </a:avLst>
          </a:prstGeom>
          <a:solidFill>
            <a:srgbClr val="F3F4F6"/>
          </a:solidFill>
          <a:ln w="12700">
            <a:solidFill>
              <a:srgbClr val="E2E5E9"/>
            </a:solidFill>
            <a:prstDash val="solid"/>
          </a:ln>
        </p:spPr>
      </p:sp>
      <p:sp>
        <p:nvSpPr>
          <p:cNvPr id="5" name="Text 3"/>
          <p:cNvSpPr/>
          <p:nvPr/>
        </p:nvSpPr>
        <p:spPr>
          <a:xfrm>
            <a:off x="886968" y="1783080"/>
            <a:ext cx="10424160" cy="914400"/>
          </a:xfrm>
          <a:prstGeom prst="rect">
            <a:avLst/>
          </a:prstGeom>
          <a:noFill/>
          <a:ln/>
        </p:spPr>
        <p:txBody>
          <a:bodyPr wrap="square" lIns="0" tIns="0" rIns="0" bIns="0" rtlCol="0" anchor="ctr"/>
          <a:lstStyle/>
          <a:p>
            <a:pPr indent="0" marL="0">
              <a:buNone/>
            </a:pPr>
            <a:r>
              <a:rPr lang="en-US" sz="1600" dirty="0">
                <a:solidFill>
                  <a:srgbClr val="1E2127"/>
                </a:solidFill>
                <a:latin typeface="Calibri" pitchFamily="34" charset="0"/>
                <a:ea typeface="Calibri" pitchFamily="34" charset="-122"/>
                <a:cs typeface="Calibri" pitchFamily="34" charset="-120"/>
              </a:rPr>
              <a:t>Download the Case Western Reserve bearing dataset — public, the standard benchmark, and the exact 6205 bearing from today.</a:t>
            </a:r>
            <a:endParaRPr lang="en-US" sz="1600" dirty="0"/>
          </a:p>
        </p:txBody>
      </p:sp>
      <p:sp>
        <p:nvSpPr>
          <p:cNvPr id="6" name="Shape 4"/>
          <p:cNvSpPr/>
          <p:nvPr/>
        </p:nvSpPr>
        <p:spPr>
          <a:xfrm>
            <a:off x="566928" y="3072384"/>
            <a:ext cx="384048" cy="384048"/>
          </a:xfrm>
          <a:prstGeom prst="ellipse">
            <a:avLst/>
          </a:prstGeom>
          <a:solidFill>
            <a:srgbClr val="3FB6A8"/>
          </a:solidFill>
          <a:ln w="12700">
            <a:solidFill>
              <a:srgbClr val="3FB6A8"/>
            </a:solidFill>
            <a:prstDash val="solid"/>
          </a:ln>
        </p:spPr>
      </p:sp>
      <p:sp>
        <p:nvSpPr>
          <p:cNvPr id="7" name="Text 5"/>
          <p:cNvSpPr/>
          <p:nvPr/>
        </p:nvSpPr>
        <p:spPr>
          <a:xfrm>
            <a:off x="566928" y="3072384"/>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1</a:t>
            </a:r>
            <a:endParaRPr lang="en-US" sz="1300" dirty="0"/>
          </a:p>
        </p:txBody>
      </p:sp>
      <p:sp>
        <p:nvSpPr>
          <p:cNvPr id="8" name="Text 6"/>
          <p:cNvSpPr/>
          <p:nvPr/>
        </p:nvSpPr>
        <p:spPr>
          <a:xfrm>
            <a:off x="1188720" y="2926080"/>
            <a:ext cx="3749040" cy="685800"/>
          </a:xfrm>
          <a:prstGeom prst="rect">
            <a:avLst/>
          </a:prstGeom>
          <a:noFill/>
          <a:ln/>
        </p:spPr>
        <p:txBody>
          <a:bodyPr wrap="square" lIns="0" tIns="0" rIns="0" bIns="0" rtlCol="0" anchor="ctr"/>
          <a:lstStyle/>
          <a:p>
            <a:pPr indent="0" marL="0">
              <a:buNone/>
            </a:pPr>
            <a:r>
              <a:rPr lang="en-US" sz="1600" b="1" dirty="0">
                <a:solidFill>
                  <a:srgbClr val="1E2127"/>
                </a:solidFill>
                <a:latin typeface="Cambria" pitchFamily="34" charset="0"/>
                <a:ea typeface="Cambria" pitchFamily="34" charset="-122"/>
                <a:cs typeface="Cambria" pitchFamily="34" charset="-120"/>
              </a:rPr>
              <a:t>Reproduce today's demo on real data</a:t>
            </a:r>
            <a:endParaRPr lang="en-US" sz="1600" dirty="0"/>
          </a:p>
        </p:txBody>
      </p:sp>
      <p:sp>
        <p:nvSpPr>
          <p:cNvPr id="9" name="Text 7"/>
          <p:cNvSpPr/>
          <p:nvPr/>
        </p:nvSpPr>
        <p:spPr>
          <a:xfrm>
            <a:off x="5047488" y="2926080"/>
            <a:ext cx="6537960" cy="685800"/>
          </a:xfrm>
          <a:prstGeom prst="rect">
            <a:avLst/>
          </a:prstGeom>
          <a:noFill/>
          <a:ln/>
        </p:spPr>
        <p:txBody>
          <a:bodyPr wrap="square" lIns="0" tIns="0" rIns="0" bIns="0" rtlCol="0" anchor="ctr"/>
          <a:lstStyle/>
          <a:p>
            <a:pPr indent="0" marL="0">
              <a:buNone/>
            </a:pPr>
            <a:r>
              <a:rPr lang="en-US" sz="1300" dirty="0">
                <a:solidFill>
                  <a:srgbClr val="6E757F"/>
                </a:solidFill>
                <a:latin typeface="Calibri" pitchFamily="34" charset="0"/>
                <a:ea typeface="Calibri" pitchFamily="34" charset="-122"/>
                <a:cs typeface="Calibri" pitchFamily="34" charset="-120"/>
              </a:rPr>
              <a:t>Compute the envelope spectrum. Confirm the peak lands at the BPFO you calculated from geometry. When it does, you have verified theory against measurement — which is the actual job.</a:t>
            </a:r>
            <a:endParaRPr lang="en-US" sz="1300" dirty="0"/>
          </a:p>
        </p:txBody>
      </p:sp>
      <p:sp>
        <p:nvSpPr>
          <p:cNvPr id="10" name="Shape 8"/>
          <p:cNvSpPr/>
          <p:nvPr/>
        </p:nvSpPr>
        <p:spPr>
          <a:xfrm>
            <a:off x="566928" y="3877056"/>
            <a:ext cx="384048" cy="384048"/>
          </a:xfrm>
          <a:prstGeom prst="ellipse">
            <a:avLst/>
          </a:prstGeom>
          <a:solidFill>
            <a:srgbClr val="8A7CC2"/>
          </a:solidFill>
          <a:ln w="12700">
            <a:solidFill>
              <a:srgbClr val="8A7CC2"/>
            </a:solidFill>
            <a:prstDash val="solid"/>
          </a:ln>
        </p:spPr>
      </p:sp>
      <p:sp>
        <p:nvSpPr>
          <p:cNvPr id="11" name="Text 9"/>
          <p:cNvSpPr/>
          <p:nvPr/>
        </p:nvSpPr>
        <p:spPr>
          <a:xfrm>
            <a:off x="566928" y="3877056"/>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2</a:t>
            </a:r>
            <a:endParaRPr lang="en-US" sz="1300" dirty="0"/>
          </a:p>
        </p:txBody>
      </p:sp>
      <p:sp>
        <p:nvSpPr>
          <p:cNvPr id="12" name="Text 10"/>
          <p:cNvSpPr/>
          <p:nvPr/>
        </p:nvSpPr>
        <p:spPr>
          <a:xfrm>
            <a:off x="1188720" y="3730752"/>
            <a:ext cx="3749040" cy="685800"/>
          </a:xfrm>
          <a:prstGeom prst="rect">
            <a:avLst/>
          </a:prstGeom>
          <a:noFill/>
          <a:ln/>
        </p:spPr>
        <p:txBody>
          <a:bodyPr wrap="square" lIns="0" tIns="0" rIns="0" bIns="0" rtlCol="0" anchor="ctr"/>
          <a:lstStyle/>
          <a:p>
            <a:pPr indent="0" marL="0">
              <a:buNone/>
            </a:pPr>
            <a:r>
              <a:rPr lang="en-US" sz="1600" b="1" dirty="0">
                <a:solidFill>
                  <a:srgbClr val="1E2127"/>
                </a:solidFill>
                <a:latin typeface="Cambria" pitchFamily="34" charset="0"/>
                <a:ea typeface="Cambria" pitchFamily="34" charset="-122"/>
                <a:cs typeface="Cambria" pitchFamily="34" charset="-120"/>
              </a:rPr>
              <a:t>Build a detector trained only on healthy files</a:t>
            </a:r>
            <a:endParaRPr lang="en-US" sz="1600" dirty="0"/>
          </a:p>
        </p:txBody>
      </p:sp>
      <p:sp>
        <p:nvSpPr>
          <p:cNvPr id="13" name="Text 11"/>
          <p:cNvSpPr/>
          <p:nvPr/>
        </p:nvSpPr>
        <p:spPr>
          <a:xfrm>
            <a:off x="5047488" y="3730752"/>
            <a:ext cx="6537960" cy="685800"/>
          </a:xfrm>
          <a:prstGeom prst="rect">
            <a:avLst/>
          </a:prstGeom>
          <a:noFill/>
          <a:ln/>
        </p:spPr>
        <p:txBody>
          <a:bodyPr wrap="square" lIns="0" tIns="0" rIns="0" bIns="0" rtlCol="0" anchor="ctr"/>
          <a:lstStyle/>
          <a:p>
            <a:pPr indent="0" marL="0">
              <a:buNone/>
            </a:pPr>
            <a:r>
              <a:rPr lang="en-US" sz="1300" dirty="0">
                <a:solidFill>
                  <a:srgbClr val="6E757F"/>
                </a:solidFill>
                <a:latin typeface="Calibri" pitchFamily="34" charset="0"/>
                <a:ea typeface="Calibri" pitchFamily="34" charset="-122"/>
                <a:cs typeface="Calibri" pitchFamily="34" charset="-120"/>
              </a:rPr>
              <a:t>Anomaly detection, not classification. You do not have the labels for classification and neither does industry.</a:t>
            </a:r>
            <a:endParaRPr lang="en-US" sz="1300" dirty="0"/>
          </a:p>
        </p:txBody>
      </p:sp>
      <p:sp>
        <p:nvSpPr>
          <p:cNvPr id="14" name="Shape 12"/>
          <p:cNvSpPr/>
          <p:nvPr/>
        </p:nvSpPr>
        <p:spPr>
          <a:xfrm>
            <a:off x="566928" y="4681728"/>
            <a:ext cx="384048" cy="384048"/>
          </a:xfrm>
          <a:prstGeom prst="ellipse">
            <a:avLst/>
          </a:prstGeom>
          <a:solidFill>
            <a:srgbClr val="E8A33D"/>
          </a:solidFill>
          <a:ln w="12700">
            <a:solidFill>
              <a:srgbClr val="E8A33D"/>
            </a:solidFill>
            <a:prstDash val="solid"/>
          </a:ln>
        </p:spPr>
      </p:sp>
      <p:sp>
        <p:nvSpPr>
          <p:cNvPr id="15" name="Text 13"/>
          <p:cNvSpPr/>
          <p:nvPr/>
        </p:nvSpPr>
        <p:spPr>
          <a:xfrm>
            <a:off x="566928" y="4681728"/>
            <a:ext cx="384048" cy="384048"/>
          </a:xfrm>
          <a:prstGeom prst="rect">
            <a:avLst/>
          </a:prstGeom>
          <a:noFill/>
          <a:ln/>
        </p:spPr>
        <p:txBody>
          <a:bodyPr wrap="square" lIns="0" tIns="0" rIns="0" bIns="0" rtlCol="0" anchor="ctr"/>
          <a:lstStyle/>
          <a:p>
            <a:pPr algn="ctr" indent="0" marL="0">
              <a:buNone/>
            </a:pPr>
            <a:r>
              <a:rPr lang="en-US" sz="1300" b="1" dirty="0">
                <a:solidFill>
                  <a:srgbClr val="16181C"/>
                </a:solidFill>
                <a:latin typeface="Courier New" pitchFamily="34" charset="0"/>
                <a:ea typeface="Courier New" pitchFamily="34" charset="-122"/>
                <a:cs typeface="Courier New" pitchFamily="34" charset="-120"/>
              </a:rPr>
              <a:t>3</a:t>
            </a:r>
            <a:endParaRPr lang="en-US" sz="1300" dirty="0"/>
          </a:p>
        </p:txBody>
      </p:sp>
      <p:sp>
        <p:nvSpPr>
          <p:cNvPr id="16" name="Text 14"/>
          <p:cNvSpPr/>
          <p:nvPr/>
        </p:nvSpPr>
        <p:spPr>
          <a:xfrm>
            <a:off x="1188720" y="4535424"/>
            <a:ext cx="3749040" cy="685800"/>
          </a:xfrm>
          <a:prstGeom prst="rect">
            <a:avLst/>
          </a:prstGeom>
          <a:noFill/>
          <a:ln/>
        </p:spPr>
        <p:txBody>
          <a:bodyPr wrap="square" lIns="0" tIns="0" rIns="0" bIns="0" rtlCol="0" anchor="ctr"/>
          <a:lstStyle/>
          <a:p>
            <a:pPr indent="0" marL="0">
              <a:buNone/>
            </a:pPr>
            <a:r>
              <a:rPr lang="en-US" sz="1600" b="1" dirty="0">
                <a:solidFill>
                  <a:srgbClr val="1E2127"/>
                </a:solidFill>
                <a:latin typeface="Cambria" pitchFamily="34" charset="0"/>
                <a:ea typeface="Cambria" pitchFamily="34" charset="-122"/>
                <a:cs typeface="Cambria" pitchFamily="34" charset="-120"/>
              </a:rPr>
              <a:t>Report your false positive rate honestly</a:t>
            </a:r>
            <a:endParaRPr lang="en-US" sz="1600" dirty="0"/>
          </a:p>
        </p:txBody>
      </p:sp>
      <p:sp>
        <p:nvSpPr>
          <p:cNvPr id="17" name="Text 15"/>
          <p:cNvSpPr/>
          <p:nvPr/>
        </p:nvSpPr>
        <p:spPr>
          <a:xfrm>
            <a:off x="5047488" y="4535424"/>
            <a:ext cx="6537960" cy="685800"/>
          </a:xfrm>
          <a:prstGeom prst="rect">
            <a:avLst/>
          </a:prstGeom>
          <a:noFill/>
          <a:ln/>
        </p:spPr>
        <p:txBody>
          <a:bodyPr wrap="square" lIns="0" tIns="0" rIns="0" bIns="0" rtlCol="0" anchor="ctr"/>
          <a:lstStyle/>
          <a:p>
            <a:pPr indent="0" marL="0">
              <a:buNone/>
            </a:pPr>
            <a:r>
              <a:rPr lang="en-US" sz="1300" dirty="0">
                <a:solidFill>
                  <a:srgbClr val="6E757F"/>
                </a:solidFill>
                <a:latin typeface="Calibri" pitchFamily="34" charset="0"/>
                <a:ea typeface="Calibri" pitchFamily="34" charset="-122"/>
                <a:cs typeface="Calibri" pitchFamily="34" charset="-120"/>
              </a:rPr>
              <a:t>And argue for a threshold using a cost model you state explicitly. Almost nobody does this part.</a:t>
            </a:r>
            <a:endParaRPr lang="en-US" sz="1300" dirty="0"/>
          </a:p>
        </p:txBody>
      </p:sp>
      <p:sp>
        <p:nvSpPr>
          <p:cNvPr id="18" name="Shape 16"/>
          <p:cNvSpPr/>
          <p:nvPr/>
        </p:nvSpPr>
        <p:spPr>
          <a:xfrm>
            <a:off x="566928" y="5440680"/>
            <a:ext cx="11027664" cy="777240"/>
          </a:xfrm>
          <a:prstGeom prst="roundRect">
            <a:avLst>
              <a:gd name="adj" fmla="val 4706"/>
            </a:avLst>
          </a:prstGeom>
          <a:solidFill>
            <a:srgbClr val="16181C"/>
          </a:solidFill>
          <a:ln w="12700">
            <a:solidFill>
              <a:srgbClr val="16181C"/>
            </a:solidFill>
            <a:prstDash val="solid"/>
          </a:ln>
        </p:spPr>
      </p:sp>
      <p:sp>
        <p:nvSpPr>
          <p:cNvPr id="19" name="Text 17"/>
          <p:cNvSpPr/>
          <p:nvPr/>
        </p:nvSpPr>
        <p:spPr>
          <a:xfrm>
            <a:off x="886968" y="5440680"/>
            <a:ext cx="10424160" cy="777240"/>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Do step three and you can have a conversation in an interview that most candidates with a master's degree cannot have.</a:t>
            </a:r>
            <a:endParaRPr lang="en-US" sz="1550" dirty="0"/>
          </a:p>
        </p:txBody>
      </p:sp>
      <p:sp>
        <p:nvSpPr>
          <p:cNvPr id="20" name="Text 18"/>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31  ·  WHAT TO DO  ·  ALSO: NASA IMS, FEMTO/PRONOSTIA, C-MAPSS</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6181C"/>
        </a:solidFill>
      </p:bgPr>
    </p:bg>
    <p:spTree>
      <p:nvGrpSpPr>
        <p:cNvPr id="1" name=""/>
        <p:cNvGrpSpPr/>
        <p:nvPr/>
      </p:nvGrpSpPr>
      <p:grpSpPr>
        <a:xfrm>
          <a:off x="0" y="0"/>
          <a:ext cx="0" cy="0"/>
          <a:chOff x="0" y="0"/>
          <a:chExt cx="0" cy="0"/>
        </a:xfrm>
      </p:grpSpPr>
      <p:sp>
        <p:nvSpPr>
          <p:cNvPr id="2" name="Text 0"/>
          <p:cNvSpPr/>
          <p:nvPr/>
        </p:nvSpPr>
        <p:spPr>
          <a:xfrm>
            <a:off x="566928" y="685800"/>
            <a:ext cx="7315200" cy="201168"/>
          </a:xfrm>
          <a:prstGeom prst="rect">
            <a:avLst/>
          </a:prstGeom>
          <a:noFill/>
          <a:ln/>
        </p:spPr>
        <p:txBody>
          <a:bodyPr wrap="square" lIns="0" tIns="0" rIns="0" bIns="0" rtlCol="0" anchor="ctr"/>
          <a:lstStyle/>
          <a:p>
            <a:pPr indent="0" marL="0">
              <a:buNone/>
            </a:pPr>
            <a:r>
              <a:rPr lang="en-US" sz="1000" spc="220" kern="0" dirty="0">
                <a:solidFill>
                  <a:srgbClr val="E8A33D"/>
                </a:solidFill>
                <a:latin typeface="Courier New" pitchFamily="34" charset="0"/>
                <a:ea typeface="Courier New" pitchFamily="34" charset="-122"/>
                <a:cs typeface="Courier New" pitchFamily="34" charset="-120"/>
              </a:rPr>
              <a:t>PART 4  ·  THE HONEST PART</a:t>
            </a:r>
            <a:endParaRPr lang="en-US" sz="1000" dirty="0"/>
          </a:p>
        </p:txBody>
      </p:sp>
      <p:sp>
        <p:nvSpPr>
          <p:cNvPr id="3" name="Text 1"/>
          <p:cNvSpPr/>
          <p:nvPr/>
        </p:nvSpPr>
        <p:spPr>
          <a:xfrm>
            <a:off x="566928" y="100584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scarce skill is not the model.</a:t>
            </a:r>
            <a:endParaRPr lang="en-US" sz="3400" dirty="0"/>
          </a:p>
        </p:txBody>
      </p:sp>
      <p:sp>
        <p:nvSpPr>
          <p:cNvPr id="4" name="Text 2"/>
          <p:cNvSpPr/>
          <p:nvPr/>
        </p:nvSpPr>
        <p:spPr>
          <a:xfrm>
            <a:off x="566928" y="1965960"/>
            <a:ext cx="10607040" cy="1005840"/>
          </a:xfrm>
          <a:prstGeom prst="rect">
            <a:avLst/>
          </a:prstGeom>
          <a:noFill/>
          <a:ln/>
        </p:spPr>
        <p:txBody>
          <a:bodyPr wrap="square" lIns="0" tIns="0" rIns="0" bIns="0" rtlCol="0" anchor="t"/>
          <a:lstStyle/>
          <a:p>
            <a:pPr indent="0" marL="0">
              <a:lnSpc>
                <a:spcPct val="115000"/>
              </a:lnSpc>
              <a:buNone/>
            </a:pPr>
            <a:r>
              <a:rPr lang="en-US" sz="1600" dirty="0">
                <a:solidFill>
                  <a:srgbClr val="8A929C"/>
                </a:solidFill>
                <a:latin typeface="Calibri" pitchFamily="34" charset="0"/>
                <a:ea typeface="Calibri" pitchFamily="34" charset="-122"/>
                <a:cs typeface="Calibri" pitchFamily="34" charset="-120"/>
              </a:rPr>
              <a:t>"AI engineer" is mostly not where these jobs are. They are: controls engineer who can code. Reliability engineer who understands statistics. Data engineer who understands process. Architect who can talk to both the plant and IT.</a:t>
            </a:r>
            <a:endParaRPr lang="en-US" sz="1600" dirty="0"/>
          </a:p>
        </p:txBody>
      </p:sp>
      <p:sp>
        <p:nvSpPr>
          <p:cNvPr id="5" name="Shape 3"/>
          <p:cNvSpPr/>
          <p:nvPr/>
        </p:nvSpPr>
        <p:spPr>
          <a:xfrm>
            <a:off x="566928" y="3154680"/>
            <a:ext cx="11027664" cy="914400"/>
          </a:xfrm>
          <a:prstGeom prst="roundRect">
            <a:avLst>
              <a:gd name="adj" fmla="val 4000"/>
            </a:avLst>
          </a:prstGeom>
          <a:solidFill>
            <a:srgbClr val="22262E"/>
          </a:solidFill>
          <a:ln w="19050">
            <a:solidFill>
              <a:srgbClr val="E8A33D"/>
            </a:solidFill>
            <a:prstDash val="solid"/>
          </a:ln>
        </p:spPr>
      </p:sp>
      <p:sp>
        <p:nvSpPr>
          <p:cNvPr id="6" name="Text 4"/>
          <p:cNvSpPr/>
          <p:nvPr/>
        </p:nvSpPr>
        <p:spPr>
          <a:xfrm>
            <a:off x="886968" y="3154680"/>
            <a:ext cx="10424160" cy="91440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The scarce skill is the person who understands the physical process AND the software. You are two years from being that person, and most of you do not realize it is valuable.</a:t>
            </a:r>
            <a:endParaRPr lang="en-US" sz="1600" dirty="0"/>
          </a:p>
        </p:txBody>
      </p:sp>
      <p:sp>
        <p:nvSpPr>
          <p:cNvPr id="7" name="Text 5"/>
          <p:cNvSpPr/>
          <p:nvPr/>
        </p:nvSpPr>
        <p:spPr>
          <a:xfrm>
            <a:off x="566928" y="4343400"/>
            <a:ext cx="5486400" cy="201168"/>
          </a:xfrm>
          <a:prstGeom prst="rect">
            <a:avLst/>
          </a:prstGeom>
          <a:noFill/>
          <a:ln/>
        </p:spPr>
        <p:txBody>
          <a:bodyPr wrap="square" lIns="0" tIns="0" rIns="0" bIns="0" rtlCol="0" anchor="ctr"/>
          <a:lstStyle/>
          <a:p>
            <a:pPr indent="0" marL="0">
              <a:buNone/>
            </a:pPr>
            <a:r>
              <a:rPr lang="en-US" sz="1000" spc="220" kern="0" dirty="0">
                <a:solidFill>
                  <a:srgbClr val="C4483A"/>
                </a:solidFill>
                <a:latin typeface="Courier New" pitchFamily="34" charset="0"/>
                <a:ea typeface="Courier New" pitchFamily="34" charset="-122"/>
                <a:cs typeface="Courier New" pitchFamily="34" charset="-120"/>
              </a:rPr>
              <a:t>THE MISTAKE I MADE</a:t>
            </a:r>
            <a:endParaRPr lang="en-US" sz="1000" dirty="0"/>
          </a:p>
        </p:txBody>
      </p:sp>
      <p:sp>
        <p:nvSpPr>
          <p:cNvPr id="8" name="Text 6"/>
          <p:cNvSpPr/>
          <p:nvPr/>
        </p:nvSpPr>
        <p:spPr>
          <a:xfrm>
            <a:off x="566928" y="4663440"/>
            <a:ext cx="10607040" cy="1280160"/>
          </a:xfrm>
          <a:prstGeom prst="rect">
            <a:avLst/>
          </a:prstGeom>
          <a:noFill/>
          <a:ln/>
        </p:spPr>
        <p:txBody>
          <a:bodyPr wrap="square" lIns="0" tIns="0" rIns="0" bIns="0" rtlCol="0" anchor="t"/>
          <a:lstStyle/>
          <a:p>
            <a:pPr indent="0" marL="0">
              <a:lnSpc>
                <a:spcPct val="115000"/>
              </a:lnSpc>
              <a:buNone/>
            </a:pPr>
            <a:r>
              <a:rPr lang="en-US" sz="1500" dirty="0">
                <a:solidFill>
                  <a:srgbClr val="8A929C"/>
                </a:solidFill>
                <a:latin typeface="Calibri" pitchFamily="34" charset="0"/>
                <a:ea typeface="Calibri" pitchFamily="34" charset="-122"/>
                <a:cs typeface="Calibri" pitchFamily="34" charset="-120"/>
              </a:rPr>
              <a:t>I waited too long to learn the new tooling. I assumed depth in the old thing was enough. It was not, and the people who moved earlier had a far easier transition than I did.</a:t>
            </a:r>
            <a:endParaRPr lang="en-US" sz="1500" dirty="0"/>
          </a:p>
          <a:p>
            <a:pPr indent="0" marL="0">
              <a:lnSpc>
                <a:spcPct val="115000"/>
              </a:lnSpc>
              <a:buNone/>
            </a:pPr>
            <a:endParaRPr lang="en-US" sz="1500" dirty="0"/>
          </a:p>
          <a:p>
            <a:pPr indent="0" marL="0">
              <a:lnSpc>
                <a:spcPct val="115000"/>
              </a:lnSpc>
              <a:buNone/>
            </a:pPr>
            <a:r>
              <a:rPr lang="en-US" sz="1500" dirty="0">
                <a:solidFill>
                  <a:srgbClr val="8A929C"/>
                </a:solidFill>
                <a:latin typeface="Calibri" pitchFamily="34" charset="0"/>
                <a:ea typeface="Calibri" pitchFamily="34" charset="-122"/>
                <a:cs typeface="Calibri" pitchFamily="34" charset="-120"/>
              </a:rPr>
              <a:t>Get deep in something real — EIE is something real. Then learn the tools relentlessly, starting now, not in year five. Depth plus current tooling is a very strong position. Either one alone is not.</a:t>
            </a:r>
            <a:endParaRPr lang="en-US" sz="1500" dirty="0"/>
          </a:p>
        </p:txBody>
      </p:sp>
      <p:sp>
        <p:nvSpPr>
          <p:cNvPr id="9" name="Text 7"/>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8A929C"/>
                </a:solidFill>
                <a:latin typeface="Courier New" pitchFamily="34" charset="0"/>
                <a:ea typeface="Courier New" pitchFamily="34" charset="-122"/>
                <a:cs typeface="Courier New" pitchFamily="34" charset="-120"/>
              </a:rPr>
              <a:t>32  ·  CLOSE</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91440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APPENDIX  ·  PHOTOGRAPH THIS ONE TOO</a:t>
            </a:r>
            <a:endParaRPr lang="en-US" sz="1000" dirty="0"/>
          </a:p>
        </p:txBody>
      </p:sp>
      <p:sp>
        <p:nvSpPr>
          <p:cNvPr id="3" name="Text 1"/>
          <p:cNvSpPr/>
          <p:nvPr/>
        </p:nvSpPr>
        <p:spPr>
          <a:xfrm>
            <a:off x="566928" y="621792"/>
            <a:ext cx="11027664" cy="868680"/>
          </a:xfrm>
          <a:prstGeom prst="rect">
            <a:avLst/>
          </a:prstGeom>
          <a:noFill/>
          <a:ln/>
        </p:spPr>
        <p:txBody>
          <a:bodyPr wrap="square" lIns="0" tIns="0" rIns="0" bIns="0" rtlCol="0" anchor="ctr"/>
          <a:lstStyle/>
          <a:p>
            <a:pPr indent="0" marL="0">
              <a:buNone/>
            </a:pPr>
            <a:r>
              <a:rPr lang="en-US" sz="3400" b="1" dirty="0">
                <a:solidFill>
                  <a:srgbClr val="1E2127"/>
                </a:solidFill>
                <a:latin typeface="Cambria" pitchFamily="34" charset="0"/>
                <a:ea typeface="Cambria" pitchFamily="34" charset="-122"/>
                <a:cs typeface="Cambria" pitchFamily="34" charset="-120"/>
              </a:rPr>
              <a:t>Cheat sheet</a:t>
            </a:r>
            <a:endParaRPr lang="en-US" sz="34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6858000" cy="914400"/>
        </p:xfrm>
        <a:graphic>
          <a:graphicData uri="http://schemas.openxmlformats.org/drawingml/2006/table">
            <a:tbl>
              <a:tblPr/>
              <a:tblGrid>
                <a:gridCol w="1554480"/>
                <a:gridCol w="3749040"/>
                <a:gridCol w="1554480"/>
              </a:tblGrid>
              <a:tr h="347472">
                <a:tc>
                  <a:txBody>
                    <a:bodyPr/>
                    <a:lstStyle/>
                    <a:p>
                      <a:pPr indent="0" marL="0">
                        <a:buNone/>
                      </a:pPr>
                      <a:r>
                        <a:rPr lang="en-US" sz="1000" b="1" dirty="0">
                          <a:solidFill>
                            <a:srgbClr val="FFFFFF"/>
                          </a:solidFill>
                          <a:latin typeface="Courier New" pitchFamily="34" charset="0"/>
                          <a:ea typeface="Courier New" pitchFamily="34" charset="-122"/>
                          <a:cs typeface="Courier New" pitchFamily="34" charset="-120"/>
                        </a:rPr>
                        <a:t>QUANTITY</a:t>
                      </a:r>
                      <a:endParaRPr lang="en-US" sz="1000" dirty="0">
                        <a:latin typeface="Courier New" charset="0"/>
                        <a:ea typeface="Courier New" charset="0"/>
                        <a:cs typeface="Courier New" charset="0"/>
                      </a:endParaRPr>
                    </a:p>
                  </a:txBody>
                  <a:tcPr marL="64008" marR="64008" marT="64008" marB="64008"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6181C"/>
                    </a:solidFill>
                  </a:tcPr>
                </a:tc>
                <a:tc>
                  <a:txBody>
                    <a:bodyPr/>
                    <a:lstStyle/>
                    <a:p>
                      <a:pPr indent="0" marL="0">
                        <a:buNone/>
                      </a:pPr>
                      <a:r>
                        <a:rPr lang="en-US" sz="1000" b="1" dirty="0">
                          <a:solidFill>
                            <a:srgbClr val="FFFFFF"/>
                          </a:solidFill>
                          <a:latin typeface="Courier New" pitchFamily="34" charset="0"/>
                          <a:ea typeface="Courier New" pitchFamily="34" charset="-122"/>
                          <a:cs typeface="Courier New" pitchFamily="34" charset="-120"/>
                        </a:rPr>
                        <a:t>FORMULA</a:t>
                      </a:r>
                      <a:endParaRPr lang="en-US" sz="1000" dirty="0">
                        <a:latin typeface="Courier New" charset="0"/>
                        <a:ea typeface="Courier New" charset="0"/>
                        <a:cs typeface="Courier New" charset="0"/>
                      </a:endParaRPr>
                    </a:p>
                  </a:txBody>
                  <a:tcPr marL="64008" marR="64008" marT="64008" marB="64008"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6181C"/>
                    </a:solidFill>
                  </a:tcPr>
                </a:tc>
                <a:tc>
                  <a:txBody>
                    <a:bodyPr/>
                    <a:lstStyle/>
                    <a:p>
                      <a:pPr indent="0" marL="0">
                        <a:buNone/>
                      </a:pPr>
                      <a:r>
                        <a:rPr lang="en-US" sz="1000" b="1" dirty="0">
                          <a:solidFill>
                            <a:srgbClr val="FFFFFF"/>
                          </a:solidFill>
                          <a:latin typeface="Courier New" pitchFamily="34" charset="0"/>
                          <a:ea typeface="Courier New" pitchFamily="34" charset="-122"/>
                          <a:cs typeface="Courier New" pitchFamily="34" charset="-120"/>
                        </a:rPr>
                        <a:t>6205 @ 1797 rpm</a:t>
                      </a:r>
                      <a:endParaRPr lang="en-US" sz="1000" dirty="0">
                        <a:latin typeface="Courier New" charset="0"/>
                        <a:ea typeface="Courier New" charset="0"/>
                        <a:cs typeface="Courier New" charset="0"/>
                      </a:endParaRPr>
                    </a:p>
                  </a:txBody>
                  <a:tcPr marL="64008" marR="64008" marT="64008" marB="64008"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solidFill>
                      <a:srgbClr val="16181C"/>
                    </a:solidFill>
                  </a:tcPr>
                </a:tc>
              </a:tr>
              <a:tr h="347472">
                <a:tc>
                  <a:txBody>
                    <a:bodyPr/>
                    <a:lstStyle/>
                    <a:p>
                      <a:pPr indent="0" marL="0">
                        <a:buNone/>
                      </a:pPr>
                      <a:r>
                        <a:rPr lang="en-US" sz="1300" b="1" dirty="0">
                          <a:solidFill>
                            <a:srgbClr val="1E2127"/>
                          </a:solidFill>
                          <a:latin typeface="Calibri" pitchFamily="34" charset="0"/>
                          <a:ea typeface="Calibri" pitchFamily="34" charset="-122"/>
                          <a:cs typeface="Calibri" pitchFamily="34" charset="-120"/>
                        </a:rPr>
                        <a:t>Shaft</a:t>
                      </a:r>
                      <a:endParaRPr lang="en-US" sz="1300" dirty="0">
                        <a:latin typeface="Calibri" charset="0"/>
                        <a:ea typeface="Calibri" charset="0"/>
                        <a:cs typeface="Calibri" charset="0"/>
                      </a:endParaRPr>
                    </a:p>
                  </a:txBody>
                  <a:tcPr marL="64008" marR="64008" marT="64008" marB="64008"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tcPr>
                </a:tc>
                <a:tc>
                  <a:txBody>
                    <a:bodyPr/>
                    <a:lstStyle/>
                    <a:p>
                      <a:pPr indent="0" marL="0">
                        <a:buNone/>
                      </a:pPr>
                      <a:r>
                        <a:rPr lang="en-US" sz="1200" dirty="0">
                          <a:solidFill>
                            <a:srgbClr val="1E2127"/>
                          </a:solidFill>
                          <a:latin typeface="Courier New" pitchFamily="34" charset="0"/>
                          <a:ea typeface="Courier New" pitchFamily="34" charset="-122"/>
                          <a:cs typeface="Courier New" pitchFamily="34" charset="-120"/>
                        </a:rPr>
                        <a:t>f_r = rpm / 60</a:t>
                      </a:r>
                      <a:endParaRPr lang="en-US" sz="1200" dirty="0">
                        <a:latin typeface="Courier New" charset="0"/>
                        <a:ea typeface="Courier New" charset="0"/>
                        <a:cs typeface="Courier New" charset="0"/>
                      </a:endParaRPr>
                    </a:p>
                  </a:txBody>
                  <a:tcPr marL="64008" marR="64008" marT="64008" marB="64008"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tcPr>
                </a:tc>
                <a:tc>
                  <a:txBody>
                    <a:bodyPr/>
                    <a:lstStyle/>
                    <a:p>
                      <a:pPr indent="0" marL="0">
                        <a:buNone/>
                      </a:pPr>
                      <a:r>
                        <a:rPr lang="en-US" sz="1300" b="1" dirty="0">
                          <a:solidFill>
                            <a:srgbClr val="E8A33D"/>
                          </a:solidFill>
                          <a:latin typeface="Courier New" pitchFamily="34" charset="0"/>
                          <a:ea typeface="Courier New" pitchFamily="34" charset="-122"/>
                          <a:cs typeface="Courier New" pitchFamily="34" charset="-120"/>
                        </a:rPr>
                        <a:t>29.95 Hz</a:t>
                      </a:r>
                      <a:endParaRPr lang="en-US" sz="1300" dirty="0">
                        <a:latin typeface="Courier New" charset="0"/>
                        <a:ea typeface="Courier New" charset="0"/>
                        <a:cs typeface="Courier New" charset="0"/>
                      </a:endParaRPr>
                    </a:p>
                  </a:txBody>
                  <a:tcPr marL="64008" marR="64008" marT="64008" marB="64008"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tcPr>
                </a:tc>
              </a:tr>
              <a:tr h="347472">
                <a:tc>
                  <a:txBody>
                    <a:bodyPr/>
                    <a:lstStyle/>
                    <a:p>
                      <a:pPr indent="0" marL="0">
                        <a:buNone/>
                      </a:pPr>
                      <a:r>
                        <a:rPr lang="en-US" sz="1300" b="1" dirty="0">
                          <a:solidFill>
                            <a:srgbClr val="1E2127"/>
                          </a:solidFill>
                          <a:latin typeface="Calibri" pitchFamily="34" charset="0"/>
                          <a:ea typeface="Calibri" pitchFamily="34" charset="-122"/>
                          <a:cs typeface="Calibri" pitchFamily="34" charset="-120"/>
                        </a:rPr>
                        <a:t>Cage</a:t>
                      </a:r>
                      <a:endParaRPr lang="en-US" sz="1300" dirty="0">
                        <a:latin typeface="Calibri" charset="0"/>
                        <a:ea typeface="Calibri" charset="0"/>
                        <a:cs typeface="Calibri" charset="0"/>
                      </a:endParaRPr>
                    </a:p>
                  </a:txBody>
                  <a:tcPr marL="64008" marR="64008" marT="64008" marB="64008"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tcPr>
                </a:tc>
                <a:tc>
                  <a:txBody>
                    <a:bodyPr/>
                    <a:lstStyle/>
                    <a:p>
                      <a:pPr indent="0" marL="0">
                        <a:buNone/>
                      </a:pPr>
                      <a:r>
                        <a:rPr lang="en-US" sz="1200" dirty="0">
                          <a:solidFill>
                            <a:srgbClr val="1E2127"/>
                          </a:solidFill>
                          <a:latin typeface="Courier New" pitchFamily="34" charset="0"/>
                          <a:ea typeface="Courier New" pitchFamily="34" charset="-122"/>
                          <a:cs typeface="Courier New" pitchFamily="34" charset="-120"/>
                        </a:rPr>
                        <a:t>FTF = (f_r/2)(1 − (d/D)cos θ)</a:t>
                      </a:r>
                      <a:endParaRPr lang="en-US" sz="1200" dirty="0">
                        <a:latin typeface="Courier New" charset="0"/>
                        <a:ea typeface="Courier New" charset="0"/>
                        <a:cs typeface="Courier New" charset="0"/>
                      </a:endParaRPr>
                    </a:p>
                  </a:txBody>
                  <a:tcPr marL="64008" marR="64008" marT="64008" marB="64008"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tcPr>
                </a:tc>
                <a:tc>
                  <a:txBody>
                    <a:bodyPr/>
                    <a:lstStyle/>
                    <a:p>
                      <a:pPr indent="0" marL="0">
                        <a:buNone/>
                      </a:pPr>
                      <a:r>
                        <a:rPr lang="en-US" sz="1300" b="1" dirty="0">
                          <a:solidFill>
                            <a:srgbClr val="E8A33D"/>
                          </a:solidFill>
                          <a:latin typeface="Courier New" pitchFamily="34" charset="0"/>
                          <a:ea typeface="Courier New" pitchFamily="34" charset="-122"/>
                          <a:cs typeface="Courier New" pitchFamily="34" charset="-120"/>
                        </a:rPr>
                        <a:t>11.93 Hz</a:t>
                      </a:r>
                      <a:endParaRPr lang="en-US" sz="1300" dirty="0">
                        <a:latin typeface="Courier New" charset="0"/>
                        <a:ea typeface="Courier New" charset="0"/>
                        <a:cs typeface="Courier New" charset="0"/>
                      </a:endParaRPr>
                    </a:p>
                  </a:txBody>
                  <a:tcPr marL="64008" marR="64008" marT="64008" marB="64008"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tcPr>
                </a:tc>
              </a:tr>
              <a:tr h="347472">
                <a:tc>
                  <a:txBody>
                    <a:bodyPr/>
                    <a:lstStyle/>
                    <a:p>
                      <a:pPr indent="0" marL="0">
                        <a:buNone/>
                      </a:pPr>
                      <a:r>
                        <a:rPr lang="en-US" sz="1300" b="1" dirty="0">
                          <a:solidFill>
                            <a:srgbClr val="1E2127"/>
                          </a:solidFill>
                          <a:latin typeface="Calibri" pitchFamily="34" charset="0"/>
                          <a:ea typeface="Calibri" pitchFamily="34" charset="-122"/>
                          <a:cs typeface="Calibri" pitchFamily="34" charset="-120"/>
                        </a:rPr>
                        <a:t>Outer race</a:t>
                      </a:r>
                      <a:endParaRPr lang="en-US" sz="1300" dirty="0">
                        <a:latin typeface="Calibri" charset="0"/>
                        <a:ea typeface="Calibri" charset="0"/>
                        <a:cs typeface="Calibri" charset="0"/>
                      </a:endParaRPr>
                    </a:p>
                  </a:txBody>
                  <a:tcPr marL="64008" marR="64008" marT="64008" marB="64008"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tcPr>
                </a:tc>
                <a:tc>
                  <a:txBody>
                    <a:bodyPr/>
                    <a:lstStyle/>
                    <a:p>
                      <a:pPr indent="0" marL="0">
                        <a:buNone/>
                      </a:pPr>
                      <a:r>
                        <a:rPr lang="en-US" sz="1200" dirty="0">
                          <a:solidFill>
                            <a:srgbClr val="1E2127"/>
                          </a:solidFill>
                          <a:latin typeface="Courier New" pitchFamily="34" charset="0"/>
                          <a:ea typeface="Courier New" pitchFamily="34" charset="-122"/>
                          <a:cs typeface="Courier New" pitchFamily="34" charset="-120"/>
                        </a:rPr>
                        <a:t>BPFO = (n/2)·f_r·(1 − (d/D)cos θ)</a:t>
                      </a:r>
                      <a:endParaRPr lang="en-US" sz="1200" dirty="0">
                        <a:latin typeface="Courier New" charset="0"/>
                        <a:ea typeface="Courier New" charset="0"/>
                        <a:cs typeface="Courier New" charset="0"/>
                      </a:endParaRPr>
                    </a:p>
                  </a:txBody>
                  <a:tcPr marL="64008" marR="64008" marT="64008" marB="64008"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tcPr>
                </a:tc>
                <a:tc>
                  <a:txBody>
                    <a:bodyPr/>
                    <a:lstStyle/>
                    <a:p>
                      <a:pPr indent="0" marL="0">
                        <a:buNone/>
                      </a:pPr>
                      <a:r>
                        <a:rPr lang="en-US" sz="1300" b="1" dirty="0">
                          <a:solidFill>
                            <a:srgbClr val="E8A33D"/>
                          </a:solidFill>
                          <a:latin typeface="Courier New" pitchFamily="34" charset="0"/>
                          <a:ea typeface="Courier New" pitchFamily="34" charset="-122"/>
                          <a:cs typeface="Courier New" pitchFamily="34" charset="-120"/>
                        </a:rPr>
                        <a:t>107.4 Hz</a:t>
                      </a:r>
                      <a:endParaRPr lang="en-US" sz="1300" dirty="0">
                        <a:latin typeface="Courier New" charset="0"/>
                        <a:ea typeface="Courier New" charset="0"/>
                        <a:cs typeface="Courier New" charset="0"/>
                      </a:endParaRPr>
                    </a:p>
                  </a:txBody>
                  <a:tcPr marL="64008" marR="64008" marT="64008" marB="64008"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tcPr>
                </a:tc>
              </a:tr>
              <a:tr h="347472">
                <a:tc>
                  <a:txBody>
                    <a:bodyPr/>
                    <a:lstStyle/>
                    <a:p>
                      <a:pPr indent="0" marL="0">
                        <a:buNone/>
                      </a:pPr>
                      <a:r>
                        <a:rPr lang="en-US" sz="1300" b="1" dirty="0">
                          <a:solidFill>
                            <a:srgbClr val="1E2127"/>
                          </a:solidFill>
                          <a:latin typeface="Calibri" pitchFamily="34" charset="0"/>
                          <a:ea typeface="Calibri" pitchFamily="34" charset="-122"/>
                          <a:cs typeface="Calibri" pitchFamily="34" charset="-120"/>
                        </a:rPr>
                        <a:t>Inner race</a:t>
                      </a:r>
                      <a:endParaRPr lang="en-US" sz="1300" dirty="0">
                        <a:latin typeface="Calibri" charset="0"/>
                        <a:ea typeface="Calibri" charset="0"/>
                        <a:cs typeface="Calibri" charset="0"/>
                      </a:endParaRPr>
                    </a:p>
                  </a:txBody>
                  <a:tcPr marL="64008" marR="64008" marT="64008" marB="64008"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tcPr>
                </a:tc>
                <a:tc>
                  <a:txBody>
                    <a:bodyPr/>
                    <a:lstStyle/>
                    <a:p>
                      <a:pPr indent="0" marL="0">
                        <a:buNone/>
                      </a:pPr>
                      <a:r>
                        <a:rPr lang="en-US" sz="1200" dirty="0">
                          <a:solidFill>
                            <a:srgbClr val="1E2127"/>
                          </a:solidFill>
                          <a:latin typeface="Courier New" pitchFamily="34" charset="0"/>
                          <a:ea typeface="Courier New" pitchFamily="34" charset="-122"/>
                          <a:cs typeface="Courier New" pitchFamily="34" charset="-120"/>
                        </a:rPr>
                        <a:t>BPFI = (n/2)·f_r·(1 + (d/D)cos θ)</a:t>
                      </a:r>
                      <a:endParaRPr lang="en-US" sz="1200" dirty="0">
                        <a:latin typeface="Courier New" charset="0"/>
                        <a:ea typeface="Courier New" charset="0"/>
                        <a:cs typeface="Courier New" charset="0"/>
                      </a:endParaRPr>
                    </a:p>
                  </a:txBody>
                  <a:tcPr marL="64008" marR="64008" marT="64008" marB="64008"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tcPr>
                </a:tc>
                <a:tc>
                  <a:txBody>
                    <a:bodyPr/>
                    <a:lstStyle/>
                    <a:p>
                      <a:pPr indent="0" marL="0">
                        <a:buNone/>
                      </a:pPr>
                      <a:r>
                        <a:rPr lang="en-US" sz="1300" b="1" dirty="0">
                          <a:solidFill>
                            <a:srgbClr val="E8A33D"/>
                          </a:solidFill>
                          <a:latin typeface="Courier New" pitchFamily="34" charset="0"/>
                          <a:ea typeface="Courier New" pitchFamily="34" charset="-122"/>
                          <a:cs typeface="Courier New" pitchFamily="34" charset="-120"/>
                        </a:rPr>
                        <a:t>162.2 Hz</a:t>
                      </a:r>
                      <a:endParaRPr lang="en-US" sz="1300" dirty="0">
                        <a:latin typeface="Courier New" charset="0"/>
                        <a:ea typeface="Courier New" charset="0"/>
                        <a:cs typeface="Courier New" charset="0"/>
                      </a:endParaRPr>
                    </a:p>
                  </a:txBody>
                  <a:tcPr marL="64008" marR="64008" marT="64008" marB="64008"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tcPr>
                </a:tc>
              </a:tr>
              <a:tr h="347472">
                <a:tc>
                  <a:txBody>
                    <a:bodyPr/>
                    <a:lstStyle/>
                    <a:p>
                      <a:pPr indent="0" marL="0">
                        <a:buNone/>
                      </a:pPr>
                      <a:r>
                        <a:rPr lang="en-US" sz="1300" b="1" dirty="0">
                          <a:solidFill>
                            <a:srgbClr val="1E2127"/>
                          </a:solidFill>
                          <a:latin typeface="Calibri" pitchFamily="34" charset="0"/>
                          <a:ea typeface="Calibri" pitchFamily="34" charset="-122"/>
                          <a:cs typeface="Calibri" pitchFamily="34" charset="-120"/>
                        </a:rPr>
                        <a:t>Ball spin</a:t>
                      </a:r>
                      <a:endParaRPr lang="en-US" sz="1300" dirty="0">
                        <a:latin typeface="Calibri" charset="0"/>
                        <a:ea typeface="Calibri" charset="0"/>
                        <a:cs typeface="Calibri" charset="0"/>
                      </a:endParaRPr>
                    </a:p>
                  </a:txBody>
                  <a:tcPr marL="64008" marR="64008" marT="64008" marB="64008"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tcPr>
                </a:tc>
                <a:tc>
                  <a:txBody>
                    <a:bodyPr/>
                    <a:lstStyle/>
                    <a:p>
                      <a:pPr indent="0" marL="0">
                        <a:buNone/>
                      </a:pPr>
                      <a:r>
                        <a:rPr lang="en-US" sz="1200" dirty="0">
                          <a:solidFill>
                            <a:srgbClr val="1E2127"/>
                          </a:solidFill>
                          <a:latin typeface="Courier New" pitchFamily="34" charset="0"/>
                          <a:ea typeface="Courier New" pitchFamily="34" charset="-122"/>
                          <a:cs typeface="Courier New" pitchFamily="34" charset="-120"/>
                        </a:rPr>
                        <a:t>BSF = (D/2d)·f_r·(1 − ((d/D)cos θ)²)</a:t>
                      </a:r>
                      <a:endParaRPr lang="en-US" sz="1200" dirty="0">
                        <a:latin typeface="Courier New" charset="0"/>
                        <a:ea typeface="Courier New" charset="0"/>
                        <a:cs typeface="Courier New" charset="0"/>
                      </a:endParaRPr>
                    </a:p>
                  </a:txBody>
                  <a:tcPr marL="64008" marR="64008" marT="64008" marB="64008"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tcPr>
                </a:tc>
                <a:tc>
                  <a:txBody>
                    <a:bodyPr/>
                    <a:lstStyle/>
                    <a:p>
                      <a:pPr indent="0" marL="0">
                        <a:buNone/>
                      </a:pPr>
                      <a:r>
                        <a:rPr lang="en-US" sz="1300" b="1" dirty="0">
                          <a:solidFill>
                            <a:srgbClr val="E8A33D"/>
                          </a:solidFill>
                          <a:latin typeface="Courier New" pitchFamily="34" charset="0"/>
                          <a:ea typeface="Courier New" pitchFamily="34" charset="-122"/>
                          <a:cs typeface="Courier New" pitchFamily="34" charset="-120"/>
                        </a:rPr>
                        <a:t>70.6 Hz</a:t>
                      </a:r>
                      <a:endParaRPr lang="en-US" sz="1300" dirty="0">
                        <a:latin typeface="Courier New" charset="0"/>
                        <a:ea typeface="Courier New" charset="0"/>
                        <a:cs typeface="Courier New" charset="0"/>
                      </a:endParaRPr>
                    </a:p>
                  </a:txBody>
                  <a:tcPr marL="64008" marR="64008" marT="64008" marB="64008" anchor="ctr">
                    <a:lnL w="12700" cap="flat" cmpd="sng" algn="ctr">
                      <a:solidFill>
                        <a:srgbClr val="E2E5E9"/>
                      </a:solidFill>
                      <a:prstDash val="solid"/>
                      <a:round/>
                      <a:headEnd type="none" w="med" len="med"/>
                      <a:tailEnd type="none" w="med" len="med"/>
                    </a:lnL>
                    <a:lnR w="12700" cap="flat" cmpd="sng" algn="ctr">
                      <a:solidFill>
                        <a:srgbClr val="E2E5E9"/>
                      </a:solidFill>
                      <a:prstDash val="solid"/>
                      <a:round/>
                      <a:headEnd type="none" w="med" len="med"/>
                      <a:tailEnd type="none" w="med" len="med"/>
                    </a:lnR>
                    <a:lnT w="12700" cap="flat" cmpd="sng" algn="ctr">
                      <a:solidFill>
                        <a:srgbClr val="E2E5E9"/>
                      </a:solidFill>
                      <a:prstDash val="solid"/>
                      <a:round/>
                      <a:headEnd type="none" w="med" len="med"/>
                      <a:tailEnd type="none" w="med" len="med"/>
                    </a:lnT>
                    <a:lnB w="12700" cap="flat" cmpd="sng" algn="ctr">
                      <a:solidFill>
                        <a:srgbClr val="E2E5E9"/>
                      </a:solidFill>
                      <a:prstDash val="solid"/>
                      <a:round/>
                      <a:headEnd type="none" w="med" len="med"/>
                      <a:tailEnd type="none" w="med" len="med"/>
                    </a:lnB>
                  </a:tcPr>
                </a:tc>
              </a:tr>
            </a:tbl>
          </a:graphicData>
        </a:graphic>
      </p:graphicFrame>
      <p:sp>
        <p:nvSpPr>
          <p:cNvPr id="5" name="Text 2"/>
          <p:cNvSpPr/>
          <p:nvPr/>
        </p:nvSpPr>
        <p:spPr>
          <a:xfrm>
            <a:off x="566928" y="3977640"/>
            <a:ext cx="6858000" cy="822960"/>
          </a:xfrm>
          <a:prstGeom prst="rect">
            <a:avLst/>
          </a:prstGeom>
          <a:noFill/>
          <a:ln/>
        </p:spPr>
        <p:txBody>
          <a:bodyPr wrap="square" lIns="0" tIns="0" rIns="0" bIns="0" rtlCol="0" anchor="ctr"/>
          <a:lstStyle/>
          <a:p>
            <a:pPr indent="0" marL="0">
              <a:buNone/>
            </a:pPr>
            <a:r>
              <a:rPr lang="en-US" sz="1200" i="1" dirty="0">
                <a:solidFill>
                  <a:srgbClr val="6E757F"/>
                </a:solidFill>
                <a:latin typeface="Calibri" pitchFamily="34" charset="0"/>
                <a:ea typeface="Calibri" pitchFamily="34" charset="-122"/>
                <a:cs typeface="Calibri" pitchFamily="34" charset="-120"/>
              </a:rPr>
              <a:t>BSF note: a ball spall strikes both races once per ball revolution, so the observed line is usually 2 × BSF = 141.2 Hz. Published tables (including Case Western) tabulate that doubled value. Check the convention before hunting for a peak.</a:t>
            </a:r>
            <a:endParaRPr lang="en-US" sz="1200" dirty="0"/>
          </a:p>
        </p:txBody>
      </p:sp>
      <p:sp>
        <p:nvSpPr>
          <p:cNvPr id="6" name="Shape 3"/>
          <p:cNvSpPr/>
          <p:nvPr/>
        </p:nvSpPr>
        <p:spPr>
          <a:xfrm>
            <a:off x="7790688" y="1783080"/>
            <a:ext cx="3803904" cy="2331720"/>
          </a:xfrm>
          <a:prstGeom prst="roundRect">
            <a:avLst>
              <a:gd name="adj" fmla="val 1176"/>
            </a:avLst>
          </a:prstGeom>
          <a:solidFill>
            <a:srgbClr val="F3F4F6"/>
          </a:solidFill>
          <a:ln w="12700">
            <a:solidFill>
              <a:srgbClr val="E2E5E9"/>
            </a:solidFill>
            <a:prstDash val="solid"/>
          </a:ln>
        </p:spPr>
      </p:sp>
      <p:sp>
        <p:nvSpPr>
          <p:cNvPr id="7" name="Text 4"/>
          <p:cNvSpPr/>
          <p:nvPr/>
        </p:nvSpPr>
        <p:spPr>
          <a:xfrm>
            <a:off x="8019288" y="1993392"/>
            <a:ext cx="36576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ENVELOPE SIGNATURES</a:t>
            </a:r>
            <a:endParaRPr lang="en-US" sz="1000" dirty="0"/>
          </a:p>
        </p:txBody>
      </p:sp>
      <p:sp>
        <p:nvSpPr>
          <p:cNvPr id="8" name="Text 5"/>
          <p:cNvSpPr/>
          <p:nvPr/>
        </p:nvSpPr>
        <p:spPr>
          <a:xfrm>
            <a:off x="8019288" y="2286000"/>
            <a:ext cx="3346704" cy="173736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1E2127"/>
                </a:solidFill>
                <a:latin typeface="Calibri" pitchFamily="34" charset="0"/>
                <a:ea typeface="Calibri" pitchFamily="34" charset="-122"/>
                <a:cs typeface="Calibri" pitchFamily="34" charset="-120"/>
              </a:rPr>
              <a:t>Outer race — clean BPFO + harmonics, no sidebands. Easiest.</a:t>
            </a:r>
            <a:endParaRPr lang="en-US" sz="1100" dirty="0"/>
          </a:p>
          <a:p>
            <a:pPr marL="342900" indent="-342900">
              <a:spcAft>
                <a:spcPts val="700"/>
              </a:spcAft>
              <a:buSzPct val="100000"/>
              <a:buChar char="•"/>
            </a:pPr>
            <a:r>
              <a:rPr lang="en-US" sz="1100" dirty="0">
                <a:solidFill>
                  <a:srgbClr val="1E2127"/>
                </a:solidFill>
                <a:latin typeface="Calibri" pitchFamily="34" charset="0"/>
                <a:ea typeface="Calibri" pitchFamily="34" charset="-122"/>
                <a:cs typeface="Calibri" pitchFamily="34" charset="-120"/>
              </a:rPr>
              <a:t>Inner race — BPFI with ±f_r sidebands.</a:t>
            </a:r>
            <a:endParaRPr lang="en-US" sz="1100" dirty="0"/>
          </a:p>
          <a:p>
            <a:pPr marL="342900" indent="-342900">
              <a:spcAft>
                <a:spcPts val="700"/>
              </a:spcAft>
              <a:buSzPct val="100000"/>
              <a:buChar char="•"/>
            </a:pPr>
            <a:r>
              <a:rPr lang="en-US" sz="1100" dirty="0">
                <a:solidFill>
                  <a:srgbClr val="1E2127"/>
                </a:solidFill>
                <a:latin typeface="Calibri" pitchFamily="34" charset="0"/>
                <a:ea typeface="Calibri" pitchFamily="34" charset="-122"/>
                <a:cs typeface="Calibri" pitchFamily="34" charset="-120"/>
              </a:rPr>
              <a:t>Rolling element — BSF with cage-rate sidebands.</a:t>
            </a:r>
            <a:endParaRPr lang="en-US" sz="1100" dirty="0"/>
          </a:p>
        </p:txBody>
      </p:sp>
      <p:sp>
        <p:nvSpPr>
          <p:cNvPr id="9" name="Shape 6"/>
          <p:cNvSpPr/>
          <p:nvPr/>
        </p:nvSpPr>
        <p:spPr>
          <a:xfrm>
            <a:off x="7790688" y="4297680"/>
            <a:ext cx="3803904" cy="1828800"/>
          </a:xfrm>
          <a:prstGeom prst="roundRect">
            <a:avLst>
              <a:gd name="adj" fmla="val 1500"/>
            </a:avLst>
          </a:prstGeom>
          <a:solidFill>
            <a:srgbClr val="F3F4F6"/>
          </a:solidFill>
          <a:ln w="12700">
            <a:solidFill>
              <a:srgbClr val="E2E5E9"/>
            </a:solidFill>
            <a:prstDash val="solid"/>
          </a:ln>
        </p:spPr>
      </p:sp>
      <p:sp>
        <p:nvSpPr>
          <p:cNvPr id="10" name="Text 7"/>
          <p:cNvSpPr/>
          <p:nvPr/>
        </p:nvSpPr>
        <p:spPr>
          <a:xfrm>
            <a:off x="8019288" y="4480560"/>
            <a:ext cx="3657600"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NUMBERS WORTH KEEPING</a:t>
            </a:r>
            <a:endParaRPr lang="en-US" sz="1000" dirty="0"/>
          </a:p>
        </p:txBody>
      </p:sp>
      <p:sp>
        <p:nvSpPr>
          <p:cNvPr id="11" name="Text 8"/>
          <p:cNvSpPr/>
          <p:nvPr/>
        </p:nvSpPr>
        <p:spPr>
          <a:xfrm>
            <a:off x="8019288" y="4754880"/>
            <a:ext cx="3346704" cy="128016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1E2127"/>
                </a:solidFill>
                <a:latin typeface="Calibri" pitchFamily="34" charset="0"/>
                <a:ea typeface="Calibri" pitchFamily="34" charset="-122"/>
                <a:cs typeface="Calibri" pitchFamily="34" charset="-120"/>
              </a:rPr>
              <a:t>AI in loop: tens of ms, not µs</a:t>
            </a:r>
            <a:endParaRPr lang="en-US" sz="1100" dirty="0"/>
          </a:p>
          <a:p>
            <a:pPr marL="342900" indent="-342900">
              <a:spcAft>
                <a:spcPts val="700"/>
              </a:spcAft>
              <a:buSzPct val="100000"/>
              <a:buChar char="•"/>
            </a:pPr>
            <a:r>
              <a:rPr lang="en-US" sz="1100" dirty="0">
                <a:solidFill>
                  <a:srgbClr val="1E2127"/>
                </a:solidFill>
                <a:latin typeface="Calibri" pitchFamily="34" charset="0"/>
                <a:ea typeface="Calibri" pitchFamily="34" charset="-122"/>
                <a:cs typeface="Calibri" pitchFamily="34" charset="-120"/>
              </a:rPr>
              <a:t>Bearing resonance: 2–15 kHz</a:t>
            </a:r>
            <a:endParaRPr lang="en-US" sz="1100" dirty="0"/>
          </a:p>
          <a:p>
            <a:pPr marL="342900" indent="-342900">
              <a:spcAft>
                <a:spcPts val="700"/>
              </a:spcAft>
              <a:buSzPct val="100000"/>
              <a:buChar char="•"/>
            </a:pPr>
            <a:r>
              <a:rPr lang="en-US" sz="1100" dirty="0">
                <a:solidFill>
                  <a:srgbClr val="1E2127"/>
                </a:solidFill>
                <a:latin typeface="Calibri" pitchFamily="34" charset="0"/>
                <a:ea typeface="Calibri" pitchFamily="34" charset="-122"/>
                <a:cs typeface="Calibri" pitchFamily="34" charset="-120"/>
              </a:rPr>
              <a:t>Resolution = 1 / record length</a:t>
            </a:r>
            <a:endParaRPr lang="en-US" sz="1100" dirty="0"/>
          </a:p>
          <a:p>
            <a:pPr marL="342900" indent="-342900">
              <a:spcAft>
                <a:spcPts val="700"/>
              </a:spcAft>
              <a:buSzPct val="100000"/>
              <a:buChar char="•"/>
            </a:pPr>
            <a:r>
              <a:rPr lang="en-US" sz="1100" dirty="0">
                <a:solidFill>
                  <a:srgbClr val="1E2127"/>
                </a:solidFill>
                <a:latin typeface="Calibri" pitchFamily="34" charset="0"/>
                <a:ea typeface="Calibri" pitchFamily="34" charset="-122"/>
                <a:cs typeface="Calibri" pitchFamily="34" charset="-120"/>
              </a:rPr>
              <a:t>P* ≈ C_FP / (C_FP + C_FN)</a:t>
            </a:r>
            <a:endParaRPr lang="en-US" sz="1100" dirty="0"/>
          </a:p>
        </p:txBody>
      </p:sp>
      <p:sp>
        <p:nvSpPr>
          <p:cNvPr id="12" name="Shape 9"/>
          <p:cNvSpPr/>
          <p:nvPr/>
        </p:nvSpPr>
        <p:spPr>
          <a:xfrm>
            <a:off x="566928" y="4983480"/>
            <a:ext cx="6858000" cy="1143000"/>
          </a:xfrm>
          <a:prstGeom prst="roundRect">
            <a:avLst>
              <a:gd name="adj" fmla="val 2400"/>
            </a:avLst>
          </a:prstGeom>
          <a:solidFill>
            <a:srgbClr val="F3F4F6"/>
          </a:solidFill>
          <a:ln w="12700">
            <a:solidFill>
              <a:srgbClr val="E2E5E9"/>
            </a:solidFill>
            <a:prstDash val="solid"/>
          </a:ln>
        </p:spPr>
      </p:sp>
      <p:sp>
        <p:nvSpPr>
          <p:cNvPr id="13" name="Text 10"/>
          <p:cNvSpPr/>
          <p:nvPr/>
        </p:nvSpPr>
        <p:spPr>
          <a:xfrm>
            <a:off x="841248" y="4983480"/>
            <a:ext cx="6309360" cy="1143000"/>
          </a:xfrm>
          <a:prstGeom prst="rect">
            <a:avLst/>
          </a:prstGeom>
          <a:noFill/>
          <a:ln/>
        </p:spPr>
        <p:txBody>
          <a:bodyPr wrap="square" lIns="0" tIns="0" rIns="0" bIns="0" rtlCol="0" anchor="ctr"/>
          <a:lstStyle/>
          <a:p>
            <a:pPr indent="0" marL="0">
              <a:buNone/>
            </a:pPr>
            <a:r>
              <a:rPr lang="en-US" sz="1250" dirty="0">
                <a:solidFill>
                  <a:srgbClr val="1E2127"/>
                </a:solidFill>
                <a:latin typeface="Calibri" pitchFamily="34" charset="0"/>
                <a:ea typeface="Calibri" pitchFamily="34" charset="-122"/>
                <a:cs typeface="Calibri" pitchFamily="34" charset="-120"/>
              </a:rPr>
              <a:t>Standards: IEC 61508 / 61511 (SIL)  ·  IEC 62443 (OT security)  ·  ISO 20816 (vibration severity)  ·  EEMUA 191 (alarms)  ·  OPC UA = IEC 62541  ·  Purdue / ISA-95</a:t>
            </a:r>
            <a:endParaRPr lang="en-US" sz="1250" dirty="0"/>
          </a:p>
        </p:txBody>
      </p:sp>
      <p:sp>
        <p:nvSpPr>
          <p:cNvPr id="14" name="Text 11"/>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6E757F"/>
                </a:solidFill>
                <a:latin typeface="Courier New" pitchFamily="34" charset="0"/>
                <a:ea typeface="Courier New" pitchFamily="34" charset="-122"/>
                <a:cs typeface="Courier New" pitchFamily="34" charset="-120"/>
              </a:rPr>
              <a:t>33  ·  APPENDIX</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6181C"/>
        </a:solidFill>
      </p:bgPr>
    </p:bg>
    <p:spTree>
      <p:nvGrpSpPr>
        <p:cNvPr id="1" name=""/>
        <p:cNvGrpSpPr/>
        <p:nvPr/>
      </p:nvGrpSpPr>
      <p:grpSpPr>
        <a:xfrm>
          <a:off x="0" y="0"/>
          <a:ext cx="0" cy="0"/>
          <a:chOff x="0" y="0"/>
          <a:chExt cx="0" cy="0"/>
        </a:xfrm>
      </p:grpSpPr>
      <p:sp>
        <p:nvSpPr>
          <p:cNvPr id="2" name="Text 0"/>
          <p:cNvSpPr/>
          <p:nvPr/>
        </p:nvSpPr>
        <p:spPr>
          <a:xfrm>
            <a:off x="566928" y="1371600"/>
            <a:ext cx="6949440" cy="10972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Questions.</a:t>
            </a:r>
            <a:endParaRPr lang="en-US" sz="4800" dirty="0"/>
          </a:p>
        </p:txBody>
      </p:sp>
      <p:sp>
        <p:nvSpPr>
          <p:cNvPr id="3" name="Text 1"/>
          <p:cNvSpPr/>
          <p:nvPr/>
        </p:nvSpPr>
        <p:spPr>
          <a:xfrm>
            <a:off x="566928" y="2468880"/>
            <a:ext cx="6949440" cy="457200"/>
          </a:xfrm>
          <a:prstGeom prst="rect">
            <a:avLst/>
          </a:prstGeom>
          <a:noFill/>
          <a:ln/>
        </p:spPr>
        <p:txBody>
          <a:bodyPr wrap="square" lIns="0" tIns="0" rIns="0" bIns="0" rtlCol="0" anchor="ctr"/>
          <a:lstStyle/>
          <a:p>
            <a:pPr indent="0" marL="0">
              <a:buNone/>
            </a:pPr>
            <a:r>
              <a:rPr lang="en-US" sz="1900" dirty="0">
                <a:solidFill>
                  <a:srgbClr val="E8A33D"/>
                </a:solidFill>
                <a:latin typeface="Calibri" pitchFamily="34" charset="0"/>
                <a:ea typeface="Calibri" pitchFamily="34" charset="-122"/>
                <a:cs typeface="Calibri" pitchFamily="34" charset="-120"/>
              </a:rPr>
              <a:t>Including the hostile ones.</a:t>
            </a:r>
            <a:endParaRPr lang="en-US" sz="1900" dirty="0"/>
          </a:p>
        </p:txBody>
      </p:sp>
      <p:sp>
        <p:nvSpPr>
          <p:cNvPr id="4" name="Text 2"/>
          <p:cNvSpPr/>
          <p:nvPr/>
        </p:nvSpPr>
        <p:spPr>
          <a:xfrm>
            <a:off x="566928" y="3200400"/>
            <a:ext cx="6400800" cy="914400"/>
          </a:xfrm>
          <a:prstGeom prst="rect">
            <a:avLst/>
          </a:prstGeom>
          <a:noFill/>
          <a:ln/>
        </p:spPr>
        <p:txBody>
          <a:bodyPr wrap="square" lIns="0" tIns="0" rIns="0" bIns="0" rtlCol="0" anchor="ctr"/>
          <a:lstStyle/>
          <a:p>
            <a:pPr indent="0" marL="0">
              <a:buNone/>
            </a:pPr>
            <a:r>
              <a:rPr lang="en-US" sz="1500" dirty="0">
                <a:solidFill>
                  <a:srgbClr val="8A929C"/>
                </a:solidFill>
                <a:latin typeface="Calibri" pitchFamily="34" charset="0"/>
                <a:ea typeface="Calibri" pitchFamily="34" charset="-122"/>
                <a:cs typeface="Calibri" pitchFamily="34" charset="-120"/>
              </a:rPr>
              <a:t>Both simulators are yours. Open them, break them, read the source — every number in this talk was computed by that code, and it is about four hundred lines.</a:t>
            </a:r>
            <a:endParaRPr lang="en-US" sz="1500" dirty="0"/>
          </a:p>
        </p:txBody>
      </p:sp>
      <p:sp>
        <p:nvSpPr>
          <p:cNvPr id="5" name="Shape 3"/>
          <p:cNvSpPr/>
          <p:nvPr/>
        </p:nvSpPr>
        <p:spPr>
          <a:xfrm>
            <a:off x="566928" y="4343400"/>
            <a:ext cx="6400800" cy="1280160"/>
          </a:xfrm>
          <a:prstGeom prst="roundRect">
            <a:avLst>
              <a:gd name="adj" fmla="val 2857"/>
            </a:avLst>
          </a:prstGeom>
          <a:solidFill>
            <a:srgbClr val="22262E"/>
          </a:solidFill>
          <a:ln w="19050">
            <a:solidFill>
              <a:srgbClr val="E8A33D"/>
            </a:solidFill>
            <a:prstDash val="solid"/>
          </a:ln>
        </p:spPr>
      </p:sp>
      <p:sp>
        <p:nvSpPr>
          <p:cNvPr id="6" name="Text 4"/>
          <p:cNvSpPr/>
          <p:nvPr/>
        </p:nvSpPr>
        <p:spPr>
          <a:xfrm>
            <a:off x="886968" y="4343400"/>
            <a:ext cx="5760720" cy="1280160"/>
          </a:xfrm>
          <a:prstGeom prst="rect">
            <a:avLst/>
          </a:prstGeom>
          <a:noFill/>
          <a:ln/>
        </p:spPr>
        <p:txBody>
          <a:bodyPr wrap="square" lIns="0" tIns="0" rIns="0" bIns="0" rtlCol="0" anchor="ctr"/>
          <a:lstStyle/>
          <a:p>
            <a:pPr indent="0" marL="0">
              <a:buNone/>
            </a:pPr>
            <a:r>
              <a:rPr lang="en-US" sz="2600" dirty="0">
                <a:solidFill>
                  <a:srgbClr val="E8A33D"/>
                </a:solidFill>
                <a:latin typeface="Courier New" pitchFamily="34" charset="0"/>
                <a:ea typeface="Courier New" pitchFamily="34" charset="-122"/>
                <a:cs typeface="Courier New" pitchFamily="34" charset="-120"/>
              </a:rPr>
              <a:t>kiranic.com/lecture</a:t>
            </a:r>
            <a:endParaRPr lang="en-US" sz="2600" dirty="0"/>
          </a:p>
        </p:txBody>
      </p:sp>
      <p:pic>
        <p:nvPicPr>
          <p:cNvPr id="7" name="Image 0" descr="/home/claude/fix/qr.png">    </p:cNvPr>
          <p:cNvPicPr>
            <a:picLocks noChangeAspect="1"/>
          </p:cNvPicPr>
          <p:nvPr/>
        </p:nvPicPr>
        <p:blipFill>
          <a:blip r:embed="rId1"/>
          <a:stretch>
            <a:fillRect/>
          </a:stretch>
        </p:blipFill>
        <p:spPr>
          <a:xfrm>
            <a:off x="8366760" y="1737360"/>
            <a:ext cx="2651760" cy="2651760"/>
          </a:xfrm>
          <a:prstGeom prst="rect">
            <a:avLst/>
          </a:prstGeom>
        </p:spPr>
      </p:pic>
      <p:sp>
        <p:nvSpPr>
          <p:cNvPr id="8" name="Text 5"/>
          <p:cNvSpPr/>
          <p:nvPr/>
        </p:nvSpPr>
        <p:spPr>
          <a:xfrm>
            <a:off x="8366760" y="4480560"/>
            <a:ext cx="2651760" cy="320040"/>
          </a:xfrm>
          <a:prstGeom prst="rect">
            <a:avLst/>
          </a:prstGeom>
          <a:noFill/>
          <a:ln/>
        </p:spPr>
        <p:txBody>
          <a:bodyPr wrap="square" lIns="0" tIns="0" rIns="0" bIns="0" rtlCol="0" anchor="ctr"/>
          <a:lstStyle/>
          <a:p>
            <a:pPr algn="ctr" indent="0" marL="0">
              <a:buNone/>
            </a:pPr>
            <a:r>
              <a:rPr lang="en-US" sz="1100" spc="150" kern="0" dirty="0">
                <a:solidFill>
                  <a:srgbClr val="8A929C"/>
                </a:solidFill>
                <a:latin typeface="Courier New" pitchFamily="34" charset="0"/>
                <a:ea typeface="Courier New" pitchFamily="34" charset="-122"/>
                <a:cs typeface="Courier New" pitchFamily="34" charset="-120"/>
              </a:rPr>
              <a:t>Scan for both demos</a:t>
            </a:r>
            <a:endParaRPr lang="en-US" sz="1100" dirty="0"/>
          </a:p>
        </p:txBody>
      </p:sp>
      <p:sp>
        <p:nvSpPr>
          <p:cNvPr id="9" name="Text 6"/>
          <p:cNvSpPr/>
          <p:nvPr/>
        </p:nvSpPr>
        <p:spPr>
          <a:xfrm>
            <a:off x="566928" y="6437376"/>
            <a:ext cx="11027664" cy="201168"/>
          </a:xfrm>
          <a:prstGeom prst="rect">
            <a:avLst/>
          </a:prstGeom>
          <a:noFill/>
          <a:ln/>
        </p:spPr>
        <p:txBody>
          <a:bodyPr wrap="square" lIns="0" tIns="0" rIns="0" bIns="0" rtlCol="0" anchor="ctr"/>
          <a:lstStyle/>
          <a:p>
            <a:pPr indent="0" marL="0">
              <a:buNone/>
            </a:pPr>
            <a:r>
              <a:rPr lang="en-US" sz="1000" spc="220" kern="0" dirty="0">
                <a:solidFill>
                  <a:srgbClr val="8A929C"/>
                </a:solidFill>
                <a:latin typeface="Courier New" pitchFamily="34" charset="0"/>
                <a:ea typeface="Courier New" pitchFamily="34" charset="-122"/>
                <a:cs typeface="Courier New" pitchFamily="34" charset="-120"/>
              </a:rPr>
              <a:t>34  ·  THANK YOU  ·  KIRANIC.COM/LECTURE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and Digital Twins in Instrumentation</dc:title>
  <dc:subject>PptxGenJS Presentation</dc:subject>
  <dc:creator>Kiran Prasad Gorli</dc:creator>
  <cp:lastModifiedBy>Kiran Prasad Gorli</cp:lastModifiedBy>
  <cp:revision>1</cp:revision>
  <dcterms:created xsi:type="dcterms:W3CDTF">2026-08-19T02:20:23Z</dcterms:created>
  <dcterms:modified xsi:type="dcterms:W3CDTF">2026-08-19T02:20:23Z</dcterms:modified>
</cp:coreProperties>
</file>